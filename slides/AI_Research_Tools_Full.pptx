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3203F"/>
          </a:solidFill>
        </p:spPr>
      </p:sp>
      <p:sp>
        <p:nvSpPr>
          <p:cNvPr id="4" name="Text 2"/>
          <p:cNvSpPr/>
          <p:nvPr/>
        </p:nvSpPr>
        <p:spPr>
          <a:xfrm>
            <a:off x="457200" y="141732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Across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Process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99232"/>
            <a:ext cx="5943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 ·  Technology  ·  Social Science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1371600"/>
            <a:ext cx="2286000" cy="2377440"/>
          </a:xfrm>
          <a:prstGeom prst="rect">
            <a:avLst/>
          </a:prstGeom>
          <a:solidFill>
            <a:srgbClr val="1320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4630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TAGS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20840" y="1874520"/>
            <a:ext cx="164592" cy="164592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0" name="Text 8"/>
          <p:cNvSpPr/>
          <p:nvPr/>
        </p:nvSpPr>
        <p:spPr>
          <a:xfrm>
            <a:off x="6949440" y="184708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2286000"/>
            <a:ext cx="164592" cy="164592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6949440" y="225856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697480"/>
            <a:ext cx="164592" cy="164592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4" name="Text 12"/>
          <p:cNvSpPr/>
          <p:nvPr/>
        </p:nvSpPr>
        <p:spPr>
          <a:xfrm>
            <a:off x="6949440" y="267004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08960"/>
            <a:ext cx="164592" cy="16459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6" name="Text 14"/>
          <p:cNvSpPr/>
          <p:nvPr/>
        </p:nvSpPr>
        <p:spPr>
          <a:xfrm>
            <a:off x="6949440" y="3081528"/>
            <a:ext cx="1737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" y="3822192"/>
            <a:ext cx="6309360" cy="1170432"/>
          </a:xfrm>
          <a:prstGeom prst="rect">
            <a:avLst/>
          </a:prstGeom>
          <a:solidFill>
            <a:srgbClr val="0A1B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895344"/>
            <a:ext cx="6035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Shailesh 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56032" y="4389120"/>
            <a:ext cx="6035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(On Leave)  |  CUSAT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411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 / 29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Info,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Information → Knowledge → Intelligence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0" name="Shape 8"/>
          <p:cNvSpPr/>
          <p:nvPr/>
        </p:nvSpPr>
        <p:spPr>
          <a:xfrm>
            <a:off x="4380865" y="841248"/>
            <a:ext cx="3108960" cy="896112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4518025" y="896112"/>
            <a:ext cx="118140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8025" y="1188720"/>
            <a:ext cx="2238451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reasoning &amp; decision-making from learned patterns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0756" y="932688"/>
            <a:ext cx="71689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4800" y="951230"/>
            <a:ext cx="906145" cy="6769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diagnoses cancer from 10,000 X-rays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15105" y="1847088"/>
            <a:ext cx="3840480" cy="89611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4152265" y="1901952"/>
            <a:ext cx="145938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52265" y="2194560"/>
            <a:ext cx="276514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information structured into frameworks &amp; principles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71691" y="1938528"/>
            <a:ext cx="90708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9979" y="1956816"/>
            <a:ext cx="921715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textbook: symptoms → diagnosis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49345" y="2852928"/>
            <a:ext cx="4572000" cy="896112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1" name="Text 19"/>
          <p:cNvSpPr/>
          <p:nvPr/>
        </p:nvSpPr>
        <p:spPr>
          <a:xfrm>
            <a:off x="3786505" y="290779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86505" y="3200400"/>
            <a:ext cx="3291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given context, meaning and relevance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32625" y="2944368"/>
            <a:ext cx="1097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913" y="2962656"/>
            <a:ext cx="10972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"Patient aged 45, temp 39°C, 2 days"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75330" y="3858768"/>
            <a:ext cx="5303520" cy="89611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4"/>
          <p:cNvSpPr/>
          <p:nvPr/>
        </p:nvSpPr>
        <p:spPr>
          <a:xfrm>
            <a:off x="3462020" y="3913632"/>
            <a:ext cx="201533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62020" y="4206240"/>
            <a:ext cx="381853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and figures without context or interpretation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85304" y="3950208"/>
            <a:ext cx="128747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5672" y="3968496"/>
            <a:ext cx="1272845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 39.1, 2, male, headache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48840" y="932688"/>
            <a:ext cx="45720" cy="3566160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31" name="Text 29"/>
          <p:cNvSpPr/>
          <p:nvPr/>
        </p:nvSpPr>
        <p:spPr>
          <a:xfrm>
            <a:off x="1993265" y="1463040"/>
            <a:ext cx="109791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value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03120" y="4800600"/>
            <a:ext cx="676656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4818888"/>
            <a:ext cx="649224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convert raw data into intelligent action — traversing all four levels in milliseconds.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1097280"/>
          </a:xfrm>
          <a:prstGeom prst="rect">
            <a:avLst/>
          </a:prstGeom>
          <a:solidFill>
            <a:srgbClr val="E0F2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859536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scientific domain that deals with making intelligence for systems with the help of data and algorithms to enable them to </a:t>
            </a: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think, plan, act and reason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decision making, optimization, and content generation.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2029968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938528"/>
            <a:ext cx="2148840" cy="5486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14" name="Text 12"/>
          <p:cNvSpPr/>
          <p:nvPr/>
        </p:nvSpPr>
        <p:spPr>
          <a:xfrm>
            <a:off x="2194560" y="1993392"/>
            <a:ext cx="365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15361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Humanly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12848" y="2450592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modelling approach — AI as a mind. Tries to replicate human thought processes (Turing Test).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2029968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938528"/>
            <a:ext cx="21488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4498848" y="1993392"/>
            <a:ext cx="365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0328" y="2103120"/>
            <a:ext cx="15361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Rationally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17136" y="2450592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agent approach — AI that perceives its environment and takes actions to maximise a goal.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11696" y="2029968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1938528"/>
            <a:ext cx="2148840" cy="54864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4" name="Text 22"/>
          <p:cNvSpPr/>
          <p:nvPr/>
        </p:nvSpPr>
        <p:spPr>
          <a:xfrm>
            <a:off x="6803136" y="1993392"/>
            <a:ext cx="365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14616" y="2103120"/>
            <a:ext cx="153619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Rationally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21424" y="2450592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thought approach — AI that reasons logically using formal rules, axioms and inference.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356616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capabilities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03120" y="3867912"/>
            <a:ext cx="12618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3867912"/>
            <a:ext cx="1261872" cy="45720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30" name="Text 28"/>
          <p:cNvSpPr/>
          <p:nvPr/>
        </p:nvSpPr>
        <p:spPr>
          <a:xfrm>
            <a:off x="2167128" y="394106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67128" y="4224528"/>
            <a:ext cx="113385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from experience without reprogramming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3867912"/>
            <a:ext cx="12618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3867912"/>
            <a:ext cx="1261872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4" name="Text 32"/>
          <p:cNvSpPr/>
          <p:nvPr/>
        </p:nvSpPr>
        <p:spPr>
          <a:xfrm>
            <a:off x="3538728" y="394106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38728" y="4224528"/>
            <a:ext cx="113385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inferences and solve problems logically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867912"/>
            <a:ext cx="12618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86791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8" name="Text 36"/>
          <p:cNvSpPr/>
          <p:nvPr/>
        </p:nvSpPr>
        <p:spPr>
          <a:xfrm>
            <a:off x="4910328" y="394106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4224528"/>
            <a:ext cx="113385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sensory inputs — vision, speech, 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867912"/>
            <a:ext cx="12618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867912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Text 40"/>
          <p:cNvSpPr/>
          <p:nvPr/>
        </p:nvSpPr>
        <p:spPr>
          <a:xfrm>
            <a:off x="6281928" y="394106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81928" y="4224528"/>
            <a:ext cx="113385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generate human language (NLP)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3867912"/>
            <a:ext cx="12618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0" y="3867912"/>
            <a:ext cx="1261872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6" name="Text 44"/>
          <p:cNvSpPr/>
          <p:nvPr/>
        </p:nvSpPr>
        <p:spPr>
          <a:xfrm>
            <a:off x="7653528" y="394106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53528" y="4224528"/>
            <a:ext cx="113385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 and execute multi-step action sequences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4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Artificial Intelligence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822960"/>
            <a:ext cx="64008" cy="109728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2" name="Text 10"/>
          <p:cNvSpPr/>
          <p:nvPr/>
        </p:nvSpPr>
        <p:spPr>
          <a:xfrm>
            <a:off x="2286000" y="9144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Narrow Intelligence (ANI)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225296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expert at ONE specific task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76288" y="896112"/>
            <a:ext cx="1828800" cy="950976"/>
          </a:xfrm>
          <a:prstGeom prst="rect">
            <a:avLst/>
          </a:prstGeom>
          <a:solidFill>
            <a:srgbClr val="EFF6FF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914400"/>
            <a:ext cx="168249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949440" y="1097280"/>
            <a:ext cx="1682496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AlphaGo, facial recognition, spam 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151790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51790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NOW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2066544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03120" y="2066544"/>
            <a:ext cx="64008" cy="109728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1" name="Text 19"/>
          <p:cNvSpPr/>
          <p:nvPr/>
        </p:nvSpPr>
        <p:spPr>
          <a:xfrm>
            <a:off x="2286000" y="2157984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General Intelligence (AGI)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2468880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— human-level reasoning across any domain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2139696"/>
            <a:ext cx="1828800" cy="950976"/>
          </a:xfrm>
          <a:prstGeom prst="rect">
            <a:avLst/>
          </a:prstGeom>
          <a:solidFill>
            <a:srgbClr val="FAF5FF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157984"/>
            <a:ext cx="168249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49440" y="2340864"/>
            <a:ext cx="1682496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yet exist — active research frontier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76148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276148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03120" y="3310128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03120" y="3310128"/>
            <a:ext cx="64008" cy="10972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8"/>
          <p:cNvSpPr/>
          <p:nvPr/>
        </p:nvSpPr>
        <p:spPr>
          <a:xfrm>
            <a:off x="2286000" y="3401568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Super Intelligence (ASI)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86000" y="3712464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— surpasses human intelligence in all areas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76288" y="3383280"/>
            <a:ext cx="1828800" cy="950976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401568"/>
            <a:ext cx="168249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49440" y="3584448"/>
            <a:ext cx="1682496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Speculative; subject of ethics and safety debate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0" y="400507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00507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03120" y="4462272"/>
            <a:ext cx="6766560" cy="5669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4480560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sub-fields: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844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4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988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988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132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132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276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420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56448" y="4507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45079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240280" y="4754880"/>
            <a:ext cx="6492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→ Deep Learning → Large Language Models (LLMs) → Generative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5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AI: </a:t>
            </a:r>
            <a:endParaRPr lang="en-US" sz="20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→ Predictive → Generative → Agentic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60984"/>
            <a:ext cx="676656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2148840" y="1984248"/>
            <a:ext cx="6675120" cy="5486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11" name="Shape 9"/>
          <p:cNvSpPr/>
          <p:nvPr/>
        </p:nvSpPr>
        <p:spPr>
          <a:xfrm>
            <a:off x="2697480" y="1883664"/>
            <a:ext cx="256032" cy="256032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12" name="Shape 10"/>
          <p:cNvSpPr/>
          <p:nvPr/>
        </p:nvSpPr>
        <p:spPr>
          <a:xfrm>
            <a:off x="2148840" y="2231136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2231136"/>
            <a:ext cx="1600200" cy="38404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4" name="Text 12"/>
          <p:cNvSpPr/>
          <p:nvPr/>
        </p:nvSpPr>
        <p:spPr>
          <a:xfrm>
            <a:off x="2221992" y="223113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Symbolic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21992" y="267004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267004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63240" y="2679192"/>
            <a:ext cx="62179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2000s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21992" y="2926080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 hand-coded by humans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21992" y="3493008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Chess, expert systems, calculators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21992" y="4059936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— breaks on unseen inputs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07408" y="1883664"/>
            <a:ext cx="256032" cy="25603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22" name="Shape 20"/>
          <p:cNvSpPr/>
          <p:nvPr/>
        </p:nvSpPr>
        <p:spPr>
          <a:xfrm>
            <a:off x="3858768" y="2231136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58768" y="2231136"/>
            <a:ext cx="1600200" cy="38404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4" name="Text 22"/>
          <p:cNvSpPr/>
          <p:nvPr/>
        </p:nvSpPr>
        <p:spPr>
          <a:xfrm>
            <a:off x="3931920" y="223113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Predictive 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267004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267004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3168" y="2679192"/>
            <a:ext cx="62179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2020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31920" y="2926080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labelled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31920" y="3493008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filters, credit scoring, recommendations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4059936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Predicts; does not create or explain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17336" y="1883664"/>
            <a:ext cx="256032" cy="25603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2" name="Shape 30"/>
          <p:cNvSpPr/>
          <p:nvPr/>
        </p:nvSpPr>
        <p:spPr>
          <a:xfrm>
            <a:off x="5568696" y="2231136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68696" y="2231136"/>
            <a:ext cx="1600200" cy="38404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4" name="Text 32"/>
          <p:cNvSpPr/>
          <p:nvPr/>
        </p:nvSpPr>
        <p:spPr>
          <a:xfrm>
            <a:off x="5641848" y="223113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Generative AI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41848" y="267004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267004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83096" y="2679192"/>
            <a:ext cx="62179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41848" y="2926080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distributions; generates new 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41848" y="3493008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DALL-E, Stable Diffusion, Claude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41848" y="4059936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Hallucinations; limited autonomy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27264" y="1883664"/>
            <a:ext cx="256032" cy="256032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42" name="Shape 40"/>
          <p:cNvSpPr/>
          <p:nvPr/>
        </p:nvSpPr>
        <p:spPr>
          <a:xfrm>
            <a:off x="7278624" y="2231136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78624" y="2231136"/>
            <a:ext cx="1600200" cy="38404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44" name="Text 42"/>
          <p:cNvSpPr/>
          <p:nvPr/>
        </p:nvSpPr>
        <p:spPr>
          <a:xfrm>
            <a:off x="7351776" y="223113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Agentic AI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51776" y="267004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51776" y="267004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93024" y="2679192"/>
            <a:ext cx="62179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Present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51776" y="2926080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uses tools, loops until goal met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51776" y="3493008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Claude Agents, AI research assistants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51776" y="4059936"/>
            <a:ext cx="1453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alignment, oversight challenges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148840" y="1664208"/>
            <a:ext cx="1600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2000s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58768" y="1664208"/>
            <a:ext cx="1600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2020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568696" y="1664208"/>
            <a:ext cx="1600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2023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78624" y="1664208"/>
            <a:ext cx="1600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Present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103120" y="4919472"/>
            <a:ext cx="6766560" cy="1828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40280" y="4928616"/>
            <a:ext cx="6492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doesn't replace the previous — all four types coexist and complement each other today.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vs. Search Engine — Expert vs. Librarian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3246120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859536"/>
            <a:ext cx="3063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Gen AI = Intelligent Expert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31136" y="1188720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your language, synthesises across sources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822960"/>
            <a:ext cx="324612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51576" y="859536"/>
            <a:ext cx="3063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Search Engine = Smart Librarian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51576" y="1188720"/>
            <a:ext cx="3063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you to sources; you do the reading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886968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7" name="Text 15"/>
          <p:cNvSpPr/>
          <p:nvPr/>
        </p:nvSpPr>
        <p:spPr>
          <a:xfrm>
            <a:off x="5074920" y="886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1719072"/>
            <a:ext cx="1005840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7373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1719072"/>
            <a:ext cx="2743200" cy="310896"/>
          </a:xfrm>
          <a:prstGeom prst="rect">
            <a:avLst/>
          </a:prstGeom>
          <a:solidFill>
            <a:srgbClr val="E0F2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737360"/>
            <a:ext cx="26334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Generative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88736" y="1719072"/>
            <a:ext cx="2980944" cy="3108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737360"/>
            <a:ext cx="287121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Search 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2048256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084832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27248" y="204825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084832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or prompt in natural language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88736" y="2048256"/>
            <a:ext cx="29809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2084832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or short query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03120" y="2578608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2615184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27248" y="2578608"/>
            <a:ext cx="2743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615184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synthesised original response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88736" y="2578608"/>
            <a:ext cx="2980944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2615184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links to web pages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03120" y="3108960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3145536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27248" y="31089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145536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across learned knowledge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88736" y="3108960"/>
            <a:ext cx="29809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3145536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retrieves existing pages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3639312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3675888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27248" y="3639312"/>
            <a:ext cx="2743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36758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 during training (may be outdated)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88736" y="3639312"/>
            <a:ext cx="2980944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3675888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— current but unfiltered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03120" y="4169664"/>
            <a:ext cx="1005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48840" y="4206240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27248" y="4169664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0" y="4206240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how mRNA vaccines work in simple terms"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88736" y="4169664"/>
            <a:ext cx="298094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61888" y="4206240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"mRNA vaccine how does it work"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103120" y="4727448"/>
            <a:ext cx="67665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4745736"/>
            <a:ext cx="6492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tip: </a:t>
            </a: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 AI to synthesise, explain, and brainstorm. Use Search for current sources, live data, and citations. Combine both for best research outcomes.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7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859536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class of AI models that learn the statistical patterns of training data and generate </a:t>
            </a: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original content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text, images, audio, code, video — that did not previously exist, in response to a prompt. The most prominent class are </a:t>
            </a: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as GPT-4, Claude, Gemini and LLaMA.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184708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2139696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03120" y="2139696"/>
            <a:ext cx="214884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Shape 13"/>
          <p:cNvSpPr/>
          <p:nvPr/>
        </p:nvSpPr>
        <p:spPr>
          <a:xfrm>
            <a:off x="2194560" y="2221992"/>
            <a:ext cx="292608" cy="29260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6" name="Text 14"/>
          <p:cNvSpPr/>
          <p:nvPr/>
        </p:nvSpPr>
        <p:spPr>
          <a:xfrm>
            <a:off x="2194560" y="22219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240280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Massive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2578608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from billions of text/image/audio examples using deep learning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7408" y="2139696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7408" y="2139696"/>
            <a:ext cx="214884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Shape 19"/>
          <p:cNvSpPr/>
          <p:nvPr/>
        </p:nvSpPr>
        <p:spPr>
          <a:xfrm>
            <a:off x="4498848" y="2221992"/>
            <a:ext cx="292608" cy="29260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2" name="Text 20"/>
          <p:cNvSpPr/>
          <p:nvPr/>
        </p:nvSpPr>
        <p:spPr>
          <a:xfrm>
            <a:off x="4498848" y="22219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240280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Distributions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98848" y="2578608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builds probabilistic understanding of how words, pixels and tokens relate to each other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11696" y="2139696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11696" y="2139696"/>
            <a:ext cx="2148840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7" name="Shape 25"/>
          <p:cNvSpPr/>
          <p:nvPr/>
        </p:nvSpPr>
        <p:spPr>
          <a:xfrm>
            <a:off x="6803136" y="2221992"/>
            <a:ext cx="292608" cy="292608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28" name="Text 26"/>
          <p:cNvSpPr/>
          <p:nvPr/>
        </p:nvSpPr>
        <p:spPr>
          <a:xfrm>
            <a:off x="6803136" y="22219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68896" y="2240280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 Demand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03136" y="2578608"/>
            <a:ext cx="1965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prompt, model samples from learned distributions to produce coherent, novel output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639312"/>
            <a:ext cx="6766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can generate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3913632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3120" y="3913632"/>
            <a:ext cx="1261872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4" name="Shape 32"/>
          <p:cNvSpPr/>
          <p:nvPr/>
        </p:nvSpPr>
        <p:spPr>
          <a:xfrm>
            <a:off x="2176272" y="3977640"/>
            <a:ext cx="347472" cy="34747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5" name="Text 33"/>
          <p:cNvSpPr/>
          <p:nvPr/>
        </p:nvSpPr>
        <p:spPr>
          <a:xfrm>
            <a:off x="2176272" y="3977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78608" y="4005072"/>
            <a:ext cx="713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76272" y="4352544"/>
            <a:ext cx="1115568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summaries, essays, code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3913632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3913632"/>
            <a:ext cx="1261872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0" name="Shape 38"/>
          <p:cNvSpPr/>
          <p:nvPr/>
        </p:nvSpPr>
        <p:spPr>
          <a:xfrm>
            <a:off x="3547872" y="3977640"/>
            <a:ext cx="347472" cy="34747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1" name="Text 39"/>
          <p:cNvSpPr/>
          <p:nvPr/>
        </p:nvSpPr>
        <p:spPr>
          <a:xfrm>
            <a:off x="3547872" y="3977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50208" y="4005072"/>
            <a:ext cx="713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47872" y="4352544"/>
            <a:ext cx="1115568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illustrations, diagrams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913632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913632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6" name="Shape 44"/>
          <p:cNvSpPr/>
          <p:nvPr/>
        </p:nvSpPr>
        <p:spPr>
          <a:xfrm>
            <a:off x="4919472" y="3977640"/>
            <a:ext cx="347472" cy="34747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7" name="Text 45"/>
          <p:cNvSpPr/>
          <p:nvPr/>
        </p:nvSpPr>
        <p:spPr>
          <a:xfrm>
            <a:off x="4919472" y="3977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21808" y="4005072"/>
            <a:ext cx="713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19472" y="4352544"/>
            <a:ext cx="1115568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music, sound effects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913632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913632"/>
            <a:ext cx="1261872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2" name="Shape 50"/>
          <p:cNvSpPr/>
          <p:nvPr/>
        </p:nvSpPr>
        <p:spPr>
          <a:xfrm>
            <a:off x="6291072" y="3977640"/>
            <a:ext cx="347472" cy="3474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3" name="Text 51"/>
          <p:cNvSpPr/>
          <p:nvPr/>
        </p:nvSpPr>
        <p:spPr>
          <a:xfrm>
            <a:off x="6291072" y="3977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93408" y="4005072"/>
            <a:ext cx="713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91072" y="4352544"/>
            <a:ext cx="1115568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Clips, animations, avatars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89520" y="3913632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89520" y="391363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58" name="Shape 56"/>
          <p:cNvSpPr/>
          <p:nvPr/>
        </p:nvSpPr>
        <p:spPr>
          <a:xfrm>
            <a:off x="7662672" y="3977640"/>
            <a:ext cx="347472" cy="34747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59" name="Text 57"/>
          <p:cNvSpPr/>
          <p:nvPr/>
        </p:nvSpPr>
        <p:spPr>
          <a:xfrm>
            <a:off x="7662672" y="3977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65008" y="4005072"/>
            <a:ext cx="7132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662672" y="4352544"/>
            <a:ext cx="1115568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scripts, functions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Prompt Engineering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3246120" cy="1097280"/>
          </a:xfrm>
          <a:prstGeom prst="rect">
            <a:avLst/>
          </a:prstGeom>
          <a:solidFill>
            <a:srgbClr val="E0F2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868680"/>
            <a:ext cx="2990088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— a question, instruction, or context — given to a GenAI model to guide its output. The quality of the prompt directly determines the quality of the response.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822960"/>
            <a:ext cx="324612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868680"/>
            <a:ext cx="2990088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systematically crafting, refining and optimising prompts to reliably achieve desired outputs from AI models. It is both an art and an emerging technical discipline.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029968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components of a well-structured prompt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359152"/>
            <a:ext cx="3291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359152"/>
            <a:ext cx="54864" cy="6858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Shape 15"/>
          <p:cNvSpPr/>
          <p:nvPr/>
        </p:nvSpPr>
        <p:spPr>
          <a:xfrm>
            <a:off x="2231136" y="2542032"/>
            <a:ext cx="292608" cy="29260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231136" y="25420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6896" y="2450592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96896" y="2706624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peer-review committee for a Nature journal submission..."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41264" y="2359152"/>
            <a:ext cx="32918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41264" y="2359152"/>
            <a:ext cx="54864" cy="68580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3" name="Shape 21"/>
          <p:cNvSpPr/>
          <p:nvPr/>
        </p:nvSpPr>
        <p:spPr>
          <a:xfrm>
            <a:off x="5669280" y="2542032"/>
            <a:ext cx="292608" cy="292608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24" name="Text 22"/>
          <p:cNvSpPr/>
          <p:nvPr/>
        </p:nvSpPr>
        <p:spPr>
          <a:xfrm>
            <a:off x="5669280" y="25420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450592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706624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"Summarise the key findings and critique the methodology..."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3108960"/>
            <a:ext cx="3291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108960"/>
            <a:ext cx="54864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Shape 27"/>
          <p:cNvSpPr/>
          <p:nvPr/>
        </p:nvSpPr>
        <p:spPr>
          <a:xfrm>
            <a:off x="2231136" y="3291840"/>
            <a:ext cx="292608" cy="29260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2231136" y="32918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96896" y="3200400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96896" y="3456432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climate-adaptation study using mixed methods on 500 households..."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41264" y="3108960"/>
            <a:ext cx="32918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41264" y="3108960"/>
            <a:ext cx="54864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5" name="Shape 33"/>
          <p:cNvSpPr/>
          <p:nvPr/>
        </p:nvSpPr>
        <p:spPr>
          <a:xfrm>
            <a:off x="5669280" y="3291840"/>
            <a:ext cx="292608" cy="29260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6" name="Text 34"/>
          <p:cNvSpPr/>
          <p:nvPr/>
        </p:nvSpPr>
        <p:spPr>
          <a:xfrm>
            <a:off x="5669280" y="32918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200400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Example(s)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456432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a sample response I liked: [paste example]..."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3858768"/>
            <a:ext cx="3291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858768"/>
            <a:ext cx="54864" cy="6858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1" name="Shape 39"/>
          <p:cNvSpPr/>
          <p:nvPr/>
        </p:nvSpPr>
        <p:spPr>
          <a:xfrm>
            <a:off x="2231136" y="4041648"/>
            <a:ext cx="292608" cy="29260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2" name="Text 40"/>
          <p:cNvSpPr/>
          <p:nvPr/>
        </p:nvSpPr>
        <p:spPr>
          <a:xfrm>
            <a:off x="2231136" y="40416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96896" y="3950208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96896" y="4206240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three most significant limitations of this study?"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41264" y="3858768"/>
            <a:ext cx="32918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41264" y="3858768"/>
            <a:ext cx="54864" cy="6858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7" name="Shape 45"/>
          <p:cNvSpPr/>
          <p:nvPr/>
        </p:nvSpPr>
        <p:spPr>
          <a:xfrm>
            <a:off x="5669280" y="4041648"/>
            <a:ext cx="292608" cy="292608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8" name="Text 46"/>
          <p:cNvSpPr/>
          <p:nvPr/>
        </p:nvSpPr>
        <p:spPr>
          <a:xfrm>
            <a:off x="5669280" y="40416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35040" y="3950208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35040" y="4206240"/>
            <a:ext cx="270662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in a numbered list of max 5 items. Use plain language."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03120" y="4645152"/>
            <a:ext cx="6766560" cy="27432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40280" y="4663440"/>
            <a:ext cx="6492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6 are always needed — use what the task demands. Role + Instruction + Format is often enough.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— The 6-Component Framework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822960"/>
            <a:ext cx="21488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Shape 10"/>
          <p:cNvSpPr/>
          <p:nvPr/>
        </p:nvSpPr>
        <p:spPr>
          <a:xfrm>
            <a:off x="2194560" y="932688"/>
            <a:ext cx="292608" cy="29260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2194560" y="932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950976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335024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AI in a specific expert role. Shifts tone, vocabulary and depth. e.g. 'You are a senior data scientist reviewing a research proposal.'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07408" y="822960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822960"/>
            <a:ext cx="2148840" cy="54864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8" name="Shape 16"/>
          <p:cNvSpPr/>
          <p:nvPr/>
        </p:nvSpPr>
        <p:spPr>
          <a:xfrm>
            <a:off x="4498848" y="932688"/>
            <a:ext cx="292608" cy="292608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19" name="Text 17"/>
          <p:cNvSpPr/>
          <p:nvPr/>
        </p:nvSpPr>
        <p:spPr>
          <a:xfrm>
            <a:off x="4498848" y="932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950976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98848" y="1335024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exactly what you want the AI to do — the core action. e.g. 'Critically evaluate the methodology and identify 3 weaknesses.'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11696" y="822960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822960"/>
            <a:ext cx="21488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4" name="Shape 22"/>
          <p:cNvSpPr/>
          <p:nvPr/>
        </p:nvSpPr>
        <p:spPr>
          <a:xfrm>
            <a:off x="6803136" y="932688"/>
            <a:ext cx="292608" cy="29260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6803136" y="9326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68896" y="950976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03136" y="1335024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background: domain, audience, purpose, constraints. The richer the context, the more targeted the output.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03120" y="2907792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03120" y="2907792"/>
            <a:ext cx="214884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Shape 28"/>
          <p:cNvSpPr/>
          <p:nvPr/>
        </p:nvSpPr>
        <p:spPr>
          <a:xfrm>
            <a:off x="2194560" y="3017520"/>
            <a:ext cx="292608" cy="29260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2194560" y="3017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035808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Example(s)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3419856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what a good output looks like. One or two examples (few-shot) dramatically improve consistency and style.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07408" y="2907792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07408" y="2907792"/>
            <a:ext cx="214884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6" name="Shape 34"/>
          <p:cNvSpPr/>
          <p:nvPr/>
        </p:nvSpPr>
        <p:spPr>
          <a:xfrm>
            <a:off x="4498848" y="3017520"/>
            <a:ext cx="292608" cy="292608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37" name="Text 35"/>
          <p:cNvSpPr/>
          <p:nvPr/>
        </p:nvSpPr>
        <p:spPr>
          <a:xfrm>
            <a:off x="4498848" y="3017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3035808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98848" y="3419856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precise, answerable question. Focuses the model and avoids broad, unfocused output.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11696" y="2907792"/>
            <a:ext cx="21488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11696" y="2907792"/>
            <a:ext cx="2148840" cy="5486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2" name="Shape 40"/>
          <p:cNvSpPr/>
          <p:nvPr/>
        </p:nvSpPr>
        <p:spPr>
          <a:xfrm>
            <a:off x="6803136" y="3017520"/>
            <a:ext cx="292608" cy="292608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3" name="Text 41"/>
          <p:cNvSpPr/>
          <p:nvPr/>
        </p:nvSpPr>
        <p:spPr>
          <a:xfrm>
            <a:off x="6803136" y="3017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68896" y="3035808"/>
            <a:ext cx="15727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03136" y="3419856"/>
            <a:ext cx="1965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output structure: table, bullet list, JSON, numbered steps, paragraph. Prevents unwanted formatting.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03120" y="4791456"/>
            <a:ext cx="6766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4809744"/>
            <a:ext cx="6492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prompt needs all 6. Start with Instruction + Context + Format, then add Role and Examples for complex or repeated tasks.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10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 — From Basic to Advanced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822960"/>
            <a:ext cx="3310128" cy="5486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2212848" y="91440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932688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93268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12848" y="1207008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perform a task with no examples. Relies entirely on the model's pre-trained knowledge.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12848" y="1627632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645920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this paragraph into Malayalam."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822960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59552" y="822960"/>
            <a:ext cx="3310128" cy="54864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0" name="Text 18"/>
          <p:cNvSpPr/>
          <p:nvPr/>
        </p:nvSpPr>
        <p:spPr>
          <a:xfrm>
            <a:off x="5669280" y="91440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45552" y="932688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932688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1207008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2–5 examples of input-output pairs before the actual task. Guides the model toward the desired pattern.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0" y="1627632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05856" y="1645920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"Input: happy → Output: joyful\nInput: fast → Output: swift\nInput: cold → Output: 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2304288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03120" y="2304288"/>
            <a:ext cx="3310128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2212848" y="23957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2414016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414016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12848" y="2688336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to "think step by step" before answering. Dramatically improves accuracy on reasoning tasks.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12848" y="3108960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9424" y="3127248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think step by step. A train travels 60 km/h for 2.5 hours..."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59552" y="2304288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59552" y="2304288"/>
            <a:ext cx="3310128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6" name="Text 34"/>
          <p:cNvSpPr/>
          <p:nvPr/>
        </p:nvSpPr>
        <p:spPr>
          <a:xfrm>
            <a:off x="5669280" y="23957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 Prompting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45552" y="2414016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5552" y="2414016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2688336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AI a specific expert role. Shifts the tone, vocabulary and depth of the response to match the persona.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3108960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3127248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peer reviewer for Nature. Critique the methodology of this study..."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103120" y="3785616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103120" y="3785616"/>
            <a:ext cx="3310128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4" name="Text 42"/>
          <p:cNvSpPr/>
          <p:nvPr/>
        </p:nvSpPr>
        <p:spPr>
          <a:xfrm>
            <a:off x="2212848" y="3877056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0" y="3895344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3895344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212848" y="4169664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independent responses for the same prompt, then select the most consistent answer across runs.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12848" y="4590288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9424" y="4608576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analytical prompt 5 times; take the majority answer as ground truth.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59552" y="3785616"/>
            <a:ext cx="33101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59552" y="3785616"/>
            <a:ext cx="3310128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2" name="Text 50"/>
          <p:cNvSpPr/>
          <p:nvPr/>
        </p:nvSpPr>
        <p:spPr>
          <a:xfrm>
            <a:off x="5669280" y="3877056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 (ToT)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45552" y="3895344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45552" y="3895344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69280" y="4169664"/>
            <a:ext cx="30906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reasoning paths in parallel, evaluate intermediate steps, and select the best path to the answer.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0" y="4590288"/>
            <a:ext cx="30906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05856" y="4608576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3 different approaches to solve X. Evaluate each. Select and complete the best one."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103120" y="4956048"/>
            <a:ext cx="676656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9" name="Shape 57"/>
          <p:cNvSpPr/>
          <p:nvPr/>
        </p:nvSpPr>
        <p:spPr>
          <a:xfrm>
            <a:off x="2103120" y="5029200"/>
            <a:ext cx="6766560" cy="0"/>
          </a:xfrm>
          <a:prstGeom prst="rect">
            <a:avLst/>
          </a:prstGeom>
          <a:solidFill>
            <a:srgbClr val="F8FAFC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11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Research?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960120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77824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systematic, disciplined process of inquiry aimed at discovering, interpreting, and revising facts. It involves the collection and analysis of information to increase understanding of a topic, phenomenon, or problem.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03120" y="19202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920240"/>
            <a:ext cx="21488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2212848" y="20299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2322576"/>
            <a:ext cx="1920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structured, step-by-step plan with clear methods and procedures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19202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1920240"/>
            <a:ext cx="2148840" cy="54864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8" name="Text 16"/>
          <p:cNvSpPr/>
          <p:nvPr/>
        </p:nvSpPr>
        <p:spPr>
          <a:xfrm>
            <a:off x="4517136" y="20299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17136" y="2322576"/>
            <a:ext cx="1920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observable evidence and real-world data, not opinion alone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1920240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920240"/>
            <a:ext cx="2148840" cy="548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2" name="Text 20"/>
          <p:cNvSpPr/>
          <p:nvPr/>
        </p:nvSpPr>
        <p:spPr>
          <a:xfrm>
            <a:off x="6821424" y="20299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1424" y="2322576"/>
            <a:ext cx="1920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rigorous analysis, evaluation of evidence, and logical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493008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types of research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03120" y="3822192"/>
            <a:ext cx="1261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82219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7" name="Text 25"/>
          <p:cNvSpPr/>
          <p:nvPr/>
        </p:nvSpPr>
        <p:spPr>
          <a:xfrm>
            <a:off x="2157984" y="388620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Pure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57984" y="4178808"/>
            <a:ext cx="1152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knowledge without immediate application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0" y="3822192"/>
            <a:ext cx="1261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822192"/>
            <a:ext cx="1261872" cy="457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1" name="Text 29"/>
          <p:cNvSpPr/>
          <p:nvPr/>
        </p:nvSpPr>
        <p:spPr>
          <a:xfrm>
            <a:off x="3529584" y="388620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29584" y="4178808"/>
            <a:ext cx="1152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specific practical problems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22192"/>
            <a:ext cx="1261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22192"/>
            <a:ext cx="1261872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4901184" y="388620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01184" y="4178808"/>
            <a:ext cx="1152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data, statistics, surveys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822192"/>
            <a:ext cx="1261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822192"/>
            <a:ext cx="1261872" cy="457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39" name="Text 37"/>
          <p:cNvSpPr/>
          <p:nvPr/>
        </p:nvSpPr>
        <p:spPr>
          <a:xfrm>
            <a:off x="6272784" y="388620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72784" y="4178808"/>
            <a:ext cx="1152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observations, narratives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89520" y="3822192"/>
            <a:ext cx="12618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3822192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3" name="Text 41"/>
          <p:cNvSpPr/>
          <p:nvPr/>
        </p:nvSpPr>
        <p:spPr>
          <a:xfrm>
            <a:off x="7644384" y="3886200"/>
            <a:ext cx="1152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Methods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644384" y="4178808"/>
            <a:ext cx="11521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quant &amp; qual approaches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12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Paradigms &amp; Theoretical Frameworks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0" name="Shape 8"/>
          <p:cNvSpPr/>
          <p:nvPr/>
        </p:nvSpPr>
        <p:spPr>
          <a:xfrm>
            <a:off x="2103120" y="841248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841248"/>
            <a:ext cx="3246120" cy="54864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2" name="Shape 10"/>
          <p:cNvSpPr/>
          <p:nvPr/>
        </p:nvSpPr>
        <p:spPr>
          <a:xfrm>
            <a:off x="2103120" y="896112"/>
            <a:ext cx="54864" cy="1773936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3" name="Text 11"/>
          <p:cNvSpPr/>
          <p:nvPr/>
        </p:nvSpPr>
        <p:spPr>
          <a:xfrm>
            <a:off x="2267712" y="93268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67712" y="1261872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belief: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is objective &amp; measurable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67712" y="1664208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experiments, surveys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67712" y="2066544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sciences, psychology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841248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841248"/>
            <a:ext cx="3246120" cy="548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9" name="Shape 17"/>
          <p:cNvSpPr/>
          <p:nvPr/>
        </p:nvSpPr>
        <p:spPr>
          <a:xfrm>
            <a:off x="5532120" y="896112"/>
            <a:ext cx="54864" cy="177393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0" name="Text 18"/>
          <p:cNvSpPr/>
          <p:nvPr/>
        </p:nvSpPr>
        <p:spPr>
          <a:xfrm>
            <a:off x="5696712" y="93268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Interpretivism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96712" y="1261872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belief: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is socially constructed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96712" y="1664208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interviews, ethnography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96712" y="2066544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Sociology, anthropology, education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2852928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03120" y="2852928"/>
            <a:ext cx="324612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6" name="Shape 24"/>
          <p:cNvSpPr/>
          <p:nvPr/>
        </p:nvSpPr>
        <p:spPr>
          <a:xfrm>
            <a:off x="2103120" y="2907792"/>
            <a:ext cx="54864" cy="177393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7" name="Text 25"/>
          <p:cNvSpPr/>
          <p:nvPr/>
        </p:nvSpPr>
        <p:spPr>
          <a:xfrm>
            <a:off x="2267712" y="29443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Theory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67712" y="3273552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belief: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shaped by power structures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67712" y="3675888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analysis, action research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67712" y="4078224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studies, social science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2852928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32120" y="2852928"/>
            <a:ext cx="32461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Shape 31"/>
          <p:cNvSpPr/>
          <p:nvPr/>
        </p:nvSpPr>
        <p:spPr>
          <a:xfrm>
            <a:off x="5532120" y="2907792"/>
            <a:ext cx="54864" cy="177393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5696712" y="294436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96712" y="3273552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belief: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best for the research problem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96712" y="3675888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methods; flexible approach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96712" y="4078224"/>
            <a:ext cx="2971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research, policy studies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03120" y="4800600"/>
            <a:ext cx="6766560" cy="228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4818888"/>
            <a:ext cx="649224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paradigm shapes every decision: what you study, how you collect data, and how you interpret results.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Process — A Cyclical Model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2084832" y="82296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22960"/>
            <a:ext cx="1572768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2157730" y="914400"/>
            <a:ext cx="5784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57984" y="124358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57984" y="169164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research gap or question clearly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82296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822960"/>
            <a:ext cx="1572768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7" name="Text 15"/>
          <p:cNvSpPr/>
          <p:nvPr/>
        </p:nvSpPr>
        <p:spPr>
          <a:xfrm>
            <a:off x="3822065" y="914400"/>
            <a:ext cx="5784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22192" y="124358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Literature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22192" y="169164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existing knowledge and theory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13248" y="82296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13248" y="822960"/>
            <a:ext cx="1572768" cy="457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2" name="Text 20"/>
          <p:cNvSpPr/>
          <p:nvPr/>
        </p:nvSpPr>
        <p:spPr>
          <a:xfrm>
            <a:off x="5486400" y="914400"/>
            <a:ext cx="49085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0" y="124358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69164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paradigm, methodology &amp; instruments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77456" y="82296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77456" y="822960"/>
            <a:ext cx="1572768" cy="457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7" name="Text 25"/>
          <p:cNvSpPr/>
          <p:nvPr/>
        </p:nvSpPr>
        <p:spPr>
          <a:xfrm>
            <a:off x="7150735" y="914400"/>
            <a:ext cx="5784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50608" y="124358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50608" y="169164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empirical evidence systematically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35808" y="274320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35808" y="2743200"/>
            <a:ext cx="1572768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3108960" y="2834640"/>
            <a:ext cx="5784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108960" y="316382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361188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or interpretive methods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0016" y="274320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2743200"/>
            <a:ext cx="1572768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7" name="Text 35"/>
          <p:cNvSpPr/>
          <p:nvPr/>
        </p:nvSpPr>
        <p:spPr>
          <a:xfrm>
            <a:off x="4773295" y="2834640"/>
            <a:ext cx="6483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773168" y="316382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 Report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61188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conclusions, discuss implications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64224" y="2743200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64224" y="2743200"/>
            <a:ext cx="1572768" cy="4572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42" name="Text 40"/>
          <p:cNvSpPr/>
          <p:nvPr/>
        </p:nvSpPr>
        <p:spPr>
          <a:xfrm>
            <a:off x="6437630" y="2834640"/>
            <a:ext cx="57848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437376" y="3163824"/>
            <a:ext cx="142646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37376" y="3611880"/>
            <a:ext cx="1426464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present, and apply findings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103120" y="4754880"/>
            <a:ext cx="6766560" cy="256032"/>
          </a:xfrm>
          <a:prstGeom prst="rect">
            <a:avLst/>
          </a:prstGeom>
          <a:solidFill>
            <a:srgbClr val="E0F2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0280" y="4773168"/>
            <a:ext cx="6492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iterative — findings often loop back to refine the question, design, or data collection.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14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Review — Purpose &amp; Process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77824"/>
            <a:ext cx="6400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 review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evaluates existing scholarship on a topic. It establishes what is already known, identifies gaps, and situates your research within the broader academic conversation.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7190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719072"/>
            <a:ext cx="1572768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4" name="Shape 12"/>
          <p:cNvSpPr/>
          <p:nvPr/>
        </p:nvSpPr>
        <p:spPr>
          <a:xfrm>
            <a:off x="2194560" y="1801368"/>
            <a:ext cx="320040" cy="320040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15" name="Text 13"/>
          <p:cNvSpPr/>
          <p:nvPr/>
        </p:nvSpPr>
        <p:spPr>
          <a:xfrm>
            <a:off x="2194560" y="18013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76272" y="2176272"/>
            <a:ext cx="14264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76272" y="2468880"/>
            <a:ext cx="14264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study in the existing body of knowledge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22192" y="17190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22192" y="1719072"/>
            <a:ext cx="1572768" cy="457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0" name="Shape 18"/>
          <p:cNvSpPr/>
          <p:nvPr/>
        </p:nvSpPr>
        <p:spPr>
          <a:xfrm>
            <a:off x="3913632" y="1801368"/>
            <a:ext cx="320040" cy="320040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21" name="Text 19"/>
          <p:cNvSpPr/>
          <p:nvPr/>
        </p:nvSpPr>
        <p:spPr>
          <a:xfrm>
            <a:off x="3913632" y="18013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5344" y="2176272"/>
            <a:ext cx="14264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95344" y="2468880"/>
            <a:ext cx="14264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unanswered questions or under-researched areas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41264" y="17190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41264" y="1719072"/>
            <a:ext cx="1572768" cy="457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6" name="Shape 24"/>
          <p:cNvSpPr/>
          <p:nvPr/>
        </p:nvSpPr>
        <p:spPr>
          <a:xfrm>
            <a:off x="5632704" y="1801368"/>
            <a:ext cx="320040" cy="32004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27" name="Text 25"/>
          <p:cNvSpPr/>
          <p:nvPr/>
        </p:nvSpPr>
        <p:spPr>
          <a:xfrm>
            <a:off x="5632704" y="18013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14416" y="2176272"/>
            <a:ext cx="14264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Methods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14416" y="2468880"/>
            <a:ext cx="14264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why your approach is appropriate and rigorous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0336" y="17190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0336" y="1719072"/>
            <a:ext cx="1572768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Shape 30"/>
          <p:cNvSpPr/>
          <p:nvPr/>
        </p:nvSpPr>
        <p:spPr>
          <a:xfrm>
            <a:off x="7351776" y="1801368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7351776" y="18013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33488" y="2176272"/>
            <a:ext cx="14264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33488" y="2468880"/>
            <a:ext cx="142646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originality by knowing what has been done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246120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literature review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3547872"/>
            <a:ext cx="12618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03120" y="35478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9" name="Text 37"/>
          <p:cNvSpPr/>
          <p:nvPr/>
        </p:nvSpPr>
        <p:spPr>
          <a:xfrm>
            <a:off x="2167128" y="3630168"/>
            <a:ext cx="1133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67128" y="3931920"/>
            <a:ext cx="1133856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synthesis of a topic's development over time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0" y="3547872"/>
            <a:ext cx="12618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35478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3" name="Text 41"/>
          <p:cNvSpPr/>
          <p:nvPr/>
        </p:nvSpPr>
        <p:spPr>
          <a:xfrm>
            <a:off x="3538728" y="3630168"/>
            <a:ext cx="1133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38728" y="3931920"/>
            <a:ext cx="1133856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reproducible search with explicit inclusion criteria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547872"/>
            <a:ext cx="12618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5478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7" name="Text 45"/>
          <p:cNvSpPr/>
          <p:nvPr/>
        </p:nvSpPr>
        <p:spPr>
          <a:xfrm>
            <a:off x="4910328" y="3630168"/>
            <a:ext cx="1133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10328" y="3931920"/>
            <a:ext cx="1133856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combination of results from multiple studies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3547872"/>
            <a:ext cx="12618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35478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51" name="Text 49"/>
          <p:cNvSpPr/>
          <p:nvPr/>
        </p:nvSpPr>
        <p:spPr>
          <a:xfrm>
            <a:off x="6281928" y="3630168"/>
            <a:ext cx="1133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81928" y="3931920"/>
            <a:ext cx="1133856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extent of evidence on an emerging topic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9520" y="3547872"/>
            <a:ext cx="12618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89520" y="35478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55" name="Text 53"/>
          <p:cNvSpPr/>
          <p:nvPr/>
        </p:nvSpPr>
        <p:spPr>
          <a:xfrm>
            <a:off x="7653528" y="3630168"/>
            <a:ext cx="11338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653528" y="3931920"/>
            <a:ext cx="1133856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diverse methodologies into new frameworks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Methods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15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vs. Methods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324612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868680"/>
            <a:ext cx="2971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framework and rationale guiding how research is conducted. It answers WHY you chose a particular approach.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822960"/>
            <a:ext cx="324612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868680"/>
            <a:ext cx="2971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tools and techniques used to collect and analyse data. It answers HOW you will gather evidence.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938528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research methods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286000"/>
            <a:ext cx="21214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2286000"/>
            <a:ext cx="2121408" cy="347472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7" name="Text 15"/>
          <p:cNvSpPr/>
          <p:nvPr/>
        </p:nvSpPr>
        <p:spPr>
          <a:xfrm>
            <a:off x="2194560" y="2304288"/>
            <a:ext cx="19385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706624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&amp; questionnaires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320040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694176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4187952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2286000"/>
            <a:ext cx="21214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2286000"/>
            <a:ext cx="2121408" cy="347472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4" name="Text 22"/>
          <p:cNvSpPr/>
          <p:nvPr/>
        </p:nvSpPr>
        <p:spPr>
          <a:xfrm>
            <a:off x="4480560" y="2304288"/>
            <a:ext cx="19385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2706624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interviews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320040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3694176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Ethnography &amp; observation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4187952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75120" y="2286000"/>
            <a:ext cx="21214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2286000"/>
            <a:ext cx="2121408" cy="3474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6766560" y="2304288"/>
            <a:ext cx="193852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Methods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2706624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explanatory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320040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triangulation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3694176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design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4187952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design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Ethics &amp; Quality Standards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6858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868680"/>
            <a:ext cx="64008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ethics ensure that studies are conducted with integrity, respect for participants, and honesty in reporting. Ethical approval is required in most institutions before data collection begins.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03120" y="162763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627632"/>
            <a:ext cx="54864" cy="86868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4" name="Text 12"/>
          <p:cNvSpPr/>
          <p:nvPr/>
        </p:nvSpPr>
        <p:spPr>
          <a:xfrm>
            <a:off x="2267712" y="170078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7712" y="199339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must freely agree, with full knowledge of the study's purpose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162763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627632"/>
            <a:ext cx="54864" cy="8686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8" name="Text 16"/>
          <p:cNvSpPr/>
          <p:nvPr/>
        </p:nvSpPr>
        <p:spPr>
          <a:xfrm>
            <a:off x="5696712" y="170078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96712" y="199339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anonymised; identities protected from disclosure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263347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03120" y="2633472"/>
            <a:ext cx="54864" cy="8686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2267712" y="27066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 Harm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67712" y="299923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must not cause physical, psychological or social harm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32120" y="263347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2633472"/>
            <a:ext cx="54864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6" name="Text 24"/>
          <p:cNvSpPr/>
          <p:nvPr/>
        </p:nvSpPr>
        <p:spPr>
          <a:xfrm>
            <a:off x="5696712" y="27066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96712" y="299923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Fabrication, falsification or plagiarism are absolute violations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3712464"/>
            <a:ext cx="6766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rigour standards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03120" y="400507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4005072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1" name="Text 29"/>
          <p:cNvSpPr/>
          <p:nvPr/>
        </p:nvSpPr>
        <p:spPr>
          <a:xfrm>
            <a:off x="2167128" y="407822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67128" y="4352544"/>
            <a:ext cx="113385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what it claims to measure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400507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4005072"/>
            <a:ext cx="1261872" cy="457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5" name="Text 33"/>
          <p:cNvSpPr/>
          <p:nvPr/>
        </p:nvSpPr>
        <p:spPr>
          <a:xfrm>
            <a:off x="3538728" y="407822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38728" y="4352544"/>
            <a:ext cx="113385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results across repetitions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400507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005072"/>
            <a:ext cx="1261872" cy="457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39" name="Text 37"/>
          <p:cNvSpPr/>
          <p:nvPr/>
        </p:nvSpPr>
        <p:spPr>
          <a:xfrm>
            <a:off x="4910328" y="407822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0328" y="4352544"/>
            <a:ext cx="113385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researcher bias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400507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4005072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3" name="Text 41"/>
          <p:cNvSpPr/>
          <p:nvPr/>
        </p:nvSpPr>
        <p:spPr>
          <a:xfrm>
            <a:off x="6282055" y="4077970"/>
            <a:ext cx="126238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81928" y="4352544"/>
            <a:ext cx="113385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apply beyond the sample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9520" y="400507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0" y="4005072"/>
            <a:ext cx="1261872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7" name="Text 45"/>
          <p:cNvSpPr/>
          <p:nvPr/>
        </p:nvSpPr>
        <p:spPr>
          <a:xfrm>
            <a:off x="7653528" y="4078224"/>
            <a:ext cx="11338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53528" y="4352544"/>
            <a:ext cx="113385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 in qualitative work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17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vs. Project — Key Distinctions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859536"/>
            <a:ext cx="64008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terms are often used interchangeably, research and projects have fundamentally different goals, processes and outputs. Understanding the distinction guides better planning and evaluation.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481328"/>
            <a:ext cx="2971800" cy="347472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3" name="Text 11"/>
          <p:cNvSpPr/>
          <p:nvPr/>
        </p:nvSpPr>
        <p:spPr>
          <a:xfrm>
            <a:off x="2103120" y="1481328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81328"/>
            <a:ext cx="2788920" cy="3474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6080760" y="1481328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63820" y="1444752"/>
            <a:ext cx="822960" cy="42062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7" name="Text 15"/>
          <p:cNvSpPr/>
          <p:nvPr/>
        </p:nvSpPr>
        <p:spPr>
          <a:xfrm>
            <a:off x="5163820" y="1444752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03120" y="1901952"/>
            <a:ext cx="914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1938528"/>
            <a:ext cx="877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35808" y="1901952"/>
            <a:ext cx="20299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938528"/>
            <a:ext cx="188366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knowledge or test hypotheses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65776" y="1901952"/>
            <a:ext cx="36576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Shape 21"/>
          <p:cNvSpPr/>
          <p:nvPr/>
        </p:nvSpPr>
        <p:spPr>
          <a:xfrm>
            <a:off x="5120640" y="1901952"/>
            <a:ext cx="37307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938528"/>
            <a:ext cx="3566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defined product, service or 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2496312"/>
            <a:ext cx="914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2532888"/>
            <a:ext cx="877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35808" y="2496312"/>
            <a:ext cx="2029968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532888"/>
            <a:ext cx="188366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theories, publications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65776" y="2496312"/>
            <a:ext cx="36576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Shape 28"/>
          <p:cNvSpPr/>
          <p:nvPr/>
        </p:nvSpPr>
        <p:spPr>
          <a:xfrm>
            <a:off x="5120640" y="2496312"/>
            <a:ext cx="37307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532888"/>
            <a:ext cx="3566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software, reports, structures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3090672"/>
            <a:ext cx="914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3127248"/>
            <a:ext cx="877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035808" y="3090672"/>
            <a:ext cx="20299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127248"/>
            <a:ext cx="188366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Open-ended; guided by evidence and discovery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65776" y="3090672"/>
            <a:ext cx="36576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7" name="Shape 35"/>
          <p:cNvSpPr/>
          <p:nvPr/>
        </p:nvSpPr>
        <p:spPr>
          <a:xfrm>
            <a:off x="5120640" y="3090672"/>
            <a:ext cx="37307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127248"/>
            <a:ext cx="3566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Structured; follows a defined scope and plan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120" y="3685032"/>
            <a:ext cx="914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1408" y="3721608"/>
            <a:ext cx="877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35808" y="3685032"/>
            <a:ext cx="2029968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3721608"/>
            <a:ext cx="188366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Validity, originality, contribution to field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65776" y="3685032"/>
            <a:ext cx="36576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4" name="Shape 42"/>
          <p:cNvSpPr/>
          <p:nvPr/>
        </p:nvSpPr>
        <p:spPr>
          <a:xfrm>
            <a:off x="5120640" y="3685032"/>
            <a:ext cx="3730752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721608"/>
            <a:ext cx="3566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on budget, meets requirements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03120" y="4279392"/>
            <a:ext cx="9144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21408" y="4315968"/>
            <a:ext cx="8778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035808" y="4279392"/>
            <a:ext cx="202996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315968"/>
            <a:ext cx="188366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outcomes not predetermined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65776" y="4279392"/>
            <a:ext cx="36576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1" name="Shape 49"/>
          <p:cNvSpPr/>
          <p:nvPr/>
        </p:nvSpPr>
        <p:spPr>
          <a:xfrm>
            <a:off x="5120640" y="4279392"/>
            <a:ext cx="37307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4315968"/>
            <a:ext cx="3566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medium — scope is pre-defined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103120" y="4828032"/>
            <a:ext cx="6766560" cy="21945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33270" y="4879340"/>
            <a:ext cx="6963410" cy="1111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research project combines both — it uses project management structures to organise and complete a research study.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Project — Structure &amp; Lifecycle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Shape 8"/>
          <p:cNvSpPr/>
          <p:nvPr/>
        </p:nvSpPr>
        <p:spPr>
          <a:xfrm>
            <a:off x="2103120" y="822960"/>
            <a:ext cx="67665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859536"/>
            <a:ext cx="640080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project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planned, time-bound undertaking that applies the scientific method or systematic inquiry to answer a specific question — combining the rigour of research with the structure of project management.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463040"/>
            <a:ext cx="1572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463040"/>
            <a:ext cx="1572768" cy="3474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Text 12"/>
          <p:cNvSpPr/>
          <p:nvPr/>
        </p:nvSpPr>
        <p:spPr>
          <a:xfrm>
            <a:off x="2103120" y="14630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75888" y="1682496"/>
            <a:ext cx="146304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6" name="Shape 14"/>
          <p:cNvSpPr/>
          <p:nvPr/>
        </p:nvSpPr>
        <p:spPr>
          <a:xfrm>
            <a:off x="2212848" y="1920240"/>
            <a:ext cx="164592" cy="16459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7" name="Text 15"/>
          <p:cNvSpPr/>
          <p:nvPr/>
        </p:nvSpPr>
        <p:spPr>
          <a:xfrm>
            <a:off x="2432304" y="190195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problem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12848" y="2468880"/>
            <a:ext cx="164592" cy="16459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9" name="Text 17"/>
          <p:cNvSpPr/>
          <p:nvPr/>
        </p:nvSpPr>
        <p:spPr>
          <a:xfrm>
            <a:off x="2432304" y="245059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feasibility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12848" y="3017520"/>
            <a:ext cx="164592" cy="16459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1" name="Text 19"/>
          <p:cNvSpPr/>
          <p:nvPr/>
        </p:nvSpPr>
        <p:spPr>
          <a:xfrm>
            <a:off x="2432304" y="299923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study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22192" y="1463040"/>
            <a:ext cx="1572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22192" y="1463040"/>
            <a:ext cx="1572768" cy="3474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3822192" y="14630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1682496"/>
            <a:ext cx="146304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Shape 24"/>
          <p:cNvSpPr/>
          <p:nvPr/>
        </p:nvSpPr>
        <p:spPr>
          <a:xfrm>
            <a:off x="3931920" y="1920240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4151376" y="190195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2468880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4151376" y="245059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methodology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3017520"/>
            <a:ext cx="164592" cy="16459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4151376" y="299923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41264" y="1463040"/>
            <a:ext cx="1572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463040"/>
            <a:ext cx="1572768" cy="347472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4" name="Text 32"/>
          <p:cNvSpPr/>
          <p:nvPr/>
        </p:nvSpPr>
        <p:spPr>
          <a:xfrm>
            <a:off x="5541264" y="14630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14032" y="1682496"/>
            <a:ext cx="146304" cy="3657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6" name="Shape 34"/>
          <p:cNvSpPr/>
          <p:nvPr/>
        </p:nvSpPr>
        <p:spPr>
          <a:xfrm>
            <a:off x="5650992" y="1920240"/>
            <a:ext cx="164592" cy="16459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37" name="Text 35"/>
          <p:cNvSpPr/>
          <p:nvPr/>
        </p:nvSpPr>
        <p:spPr>
          <a:xfrm>
            <a:off x="5870448" y="190195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50992" y="2468880"/>
            <a:ext cx="164592" cy="16459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39" name="Text 37"/>
          <p:cNvSpPr/>
          <p:nvPr/>
        </p:nvSpPr>
        <p:spPr>
          <a:xfrm>
            <a:off x="5870448" y="245059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results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50992" y="3017520"/>
            <a:ext cx="164592" cy="16459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1" name="Text 39"/>
          <p:cNvSpPr/>
          <p:nvPr/>
        </p:nvSpPr>
        <p:spPr>
          <a:xfrm>
            <a:off x="5870448" y="299923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methods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1463040"/>
            <a:ext cx="1572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60336" y="1463040"/>
            <a:ext cx="1572768" cy="347472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4" name="Text 42"/>
          <p:cNvSpPr/>
          <p:nvPr/>
        </p:nvSpPr>
        <p:spPr>
          <a:xfrm>
            <a:off x="7260336" y="14630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70064" y="1920240"/>
            <a:ext cx="164592" cy="16459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46" name="Text 44"/>
          <p:cNvSpPr/>
          <p:nvPr/>
        </p:nvSpPr>
        <p:spPr>
          <a:xfrm>
            <a:off x="7589520" y="190195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findings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70064" y="2468880"/>
            <a:ext cx="164592" cy="16459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48" name="Text 46"/>
          <p:cNvSpPr/>
          <p:nvPr/>
        </p:nvSpPr>
        <p:spPr>
          <a:xfrm>
            <a:off x="7589520" y="245059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70064" y="3017520"/>
            <a:ext cx="164592" cy="16459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50" name="Text 48"/>
          <p:cNvSpPr/>
          <p:nvPr/>
        </p:nvSpPr>
        <p:spPr>
          <a:xfrm>
            <a:off x="7589520" y="2999232"/>
            <a:ext cx="1170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103120" y="3986784"/>
            <a:ext cx="6766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 research project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103120" y="4261104"/>
            <a:ext cx="12618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03120" y="4261104"/>
            <a:ext cx="1261872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4" name="Text 52"/>
          <p:cNvSpPr/>
          <p:nvPr/>
        </p:nvSpPr>
        <p:spPr>
          <a:xfrm>
            <a:off x="2157984" y="4334256"/>
            <a:ext cx="11521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157984" y="4622419"/>
            <a:ext cx="1152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answerable focus of the study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0" y="4261104"/>
            <a:ext cx="12618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0" y="4261104"/>
            <a:ext cx="1261872" cy="45720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58" name="Text 56"/>
          <p:cNvSpPr/>
          <p:nvPr/>
        </p:nvSpPr>
        <p:spPr>
          <a:xfrm>
            <a:off x="3529584" y="4334256"/>
            <a:ext cx="11521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29584" y="4605909"/>
            <a:ext cx="1152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Theories and concepts structuring inquiry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4261104"/>
            <a:ext cx="12618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4261104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2" name="Text 60"/>
          <p:cNvSpPr/>
          <p:nvPr/>
        </p:nvSpPr>
        <p:spPr>
          <a:xfrm>
            <a:off x="4901184" y="4334256"/>
            <a:ext cx="11521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01184" y="4622419"/>
            <a:ext cx="1152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chart, deadlines, review checkpoints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4261104"/>
            <a:ext cx="12618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4261104"/>
            <a:ext cx="1261872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6" name="Text 64"/>
          <p:cNvSpPr/>
          <p:nvPr/>
        </p:nvSpPr>
        <p:spPr>
          <a:xfrm>
            <a:off x="6272784" y="4334256"/>
            <a:ext cx="11521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Resources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272784" y="4605909"/>
            <a:ext cx="1152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personnel, data access costs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589520" y="4261104"/>
            <a:ext cx="12618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4261104"/>
            <a:ext cx="1261872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70" name="Text 68"/>
          <p:cNvSpPr/>
          <p:nvPr/>
        </p:nvSpPr>
        <p:spPr>
          <a:xfrm>
            <a:off x="7644384" y="4334256"/>
            <a:ext cx="11521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644130" y="4605655"/>
            <a:ext cx="12617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 for data, ethics or delays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Identification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Discovery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20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Identification &amp; Literature Discovery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search with citation graphs and author networks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key findings from papers, answers research questions from literature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53228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3228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6" name="Text 24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scientific consensus from hundreds of studies at once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502652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02652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4" name="Text 32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paper network maps to discover related and citing works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94560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0" name="Text 38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exploration of similar and influential papers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43984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6" name="Text 44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Litmaps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citation maps that update in real-time as new papers are published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Synthesis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Note-Taking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21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Synthesis &amp; Note-Taking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research papers into structured, shareable flashcards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SciSpace (Typeset)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PDFs, explains methods, statistics and technical jargon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53228" y="2185416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3228" y="217627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6" name="Text 24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complex concepts, identify key arguments, brainstorm gaps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2" name="Text 30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note organisation, summarisation, and tagging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4560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38" name="Text 36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papers and get AI-generated summaries, Q&amp;A, audio overviews and study guides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43984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44" name="Text 42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Scite.ai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 paper has been cited — supporting or contradicting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93408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93408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502652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02652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22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&amp; Hypothesis Generation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 hypotheses, identify variables, discuss methodology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protein and molecular structures for experimental design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4" name="Text 22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protein structure prediction from sequence for wet-lab planning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93408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0" name="Text 28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computational experiments and research scripts rapidly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94560" y="3950208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41064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70632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0632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8" name="Text 36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Scite.ai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if your hypothesis has prior support or contradiction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43984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5322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322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6" name="Text 44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literature-backed answers for exploratory thinking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Bardeen / Browse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 web scraping and automated data 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36976" y="2185416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17627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0" name="Text 18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OpenRefine +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and clean messy datasets with ML-powered deduplication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43984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6" name="Text 24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survey questions and automated response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32" name="Text 30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augment and manage image and video datasets for CV tasks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4560" y="3950208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3941064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70632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0632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40" name="Text 38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/ RLHF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human-AI data labeling pipelines at research scale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43984" y="3950208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3941064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46" name="Text 44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Dedoose AI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 data management for qualitative &amp; quantitative data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24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dataset — run stats, regression and generate charts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+ Copilot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completion for Python/R analytical notebooks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53228" y="2185416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3228" y="217627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4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ATLAS.ti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coding, theme extraction and pattern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NVivo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thematic analysis for interviews and textual data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4560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(OpenAI)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LaTeX editor that auto-generates equations, formats papers and assists with academic typesetting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43984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53228" y="3950208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3228" y="3941064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6" name="Text 44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Data Mining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predictive modelling and machine learning workflows — drag-and-drop, no coding required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25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Interpretation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AI (Pulse)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turn into interactive dashboards instantly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visualisations and narrative insights from datasets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4" name="Text 22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BioRender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scientific figure creation for life science research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93408" y="2185416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176272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0" name="Text 28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Flourish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Animated, interactive data stories and scrollytelling visualisations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94560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6" name="Text 34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 (Magic Studio)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research posters, infographics and presentation design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43984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2" name="Text 40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Datawrapper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publication-ready charts for social and policy research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Sci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E2D5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Editing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Publishing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75488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Editing &amp; Publishing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713232"/>
            <a:ext cx="6766560" cy="3657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0" name="Shape 8"/>
          <p:cNvSpPr/>
          <p:nvPr/>
        </p:nvSpPr>
        <p:spPr>
          <a:xfrm>
            <a:off x="2084832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41248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2" name="Text 10"/>
          <p:cNvSpPr/>
          <p:nvPr/>
        </p:nvSpPr>
        <p:spPr>
          <a:xfrm>
            <a:off x="2194560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paraphrase, structure and improve academic prose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841248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8" name="Text 16"/>
          <p:cNvSpPr/>
          <p:nvPr/>
        </p:nvSpPr>
        <p:spPr>
          <a:xfrm>
            <a:off x="4443984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/ Wordtune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Grammar, clarity, tone and sentence-level suggestions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3984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0" y="841248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841248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4" name="Text 22"/>
          <p:cNvSpPr/>
          <p:nvPr/>
        </p:nvSpPr>
        <p:spPr>
          <a:xfrm>
            <a:off x="6693408" y="950976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Writefull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93408" y="1316736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assistance trained specifically on published papers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93408" y="2185416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176272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84832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84832" y="2606040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0" name="Text 28"/>
          <p:cNvSpPr/>
          <p:nvPr/>
        </p:nvSpPr>
        <p:spPr>
          <a:xfrm>
            <a:off x="2194560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+ AI plugins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management with automated bibliography and AI summaries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94560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34256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34256" y="2606040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6" name="Text 34"/>
          <p:cNvSpPr/>
          <p:nvPr/>
        </p:nvSpPr>
        <p:spPr>
          <a:xfrm>
            <a:off x="4443984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Overleaf AI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43984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LaTeX-based collaborative editor with AI writing assistant for scientific manuscripts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43984" y="3950208"/>
            <a:ext cx="745236" cy="201168"/>
          </a:xfrm>
          <a:prstGeom prst="roundRect">
            <a:avLst>
              <a:gd name="adj" fmla="val 2272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3941064"/>
            <a:ext cx="7452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3228" y="3950208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3228" y="3941064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2606040"/>
            <a:ext cx="21762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83680" y="2606040"/>
            <a:ext cx="2176272" cy="640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44" name="Text 42"/>
          <p:cNvSpPr/>
          <p:nvPr/>
        </p:nvSpPr>
        <p:spPr>
          <a:xfrm>
            <a:off x="6693408" y="2715768"/>
            <a:ext cx="19568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AI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93408" y="3081528"/>
            <a:ext cx="19568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manager with AI-powered literature suggestions and PDF annotation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93408" y="3950208"/>
            <a:ext cx="978408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93408" y="3941064"/>
            <a:ext cx="9784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RESEARCH ·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 · 40+ Tools · 3 Fields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9436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325880"/>
            <a:ext cx="594360" cy="594360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9" name="Text 7"/>
          <p:cNvSpPr/>
          <p:nvPr/>
        </p:nvSpPr>
        <p:spPr>
          <a:xfrm>
            <a:off x="182880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325880"/>
            <a:ext cx="594360" cy="59436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2" name="Text 10"/>
          <p:cNvSpPr/>
          <p:nvPr/>
        </p:nvSpPr>
        <p:spPr>
          <a:xfrm>
            <a:off x="306324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325880"/>
            <a:ext cx="594360" cy="594360"/>
          </a:xfrm>
          <a:prstGeom prst="ellipse">
            <a:avLst/>
          </a:prstGeom>
          <a:solidFill>
            <a:srgbClr val="A855F7"/>
          </a:solidFill>
        </p:spPr>
      </p:sp>
      <p:sp>
        <p:nvSpPr>
          <p:cNvPr id="15" name="Text 13"/>
          <p:cNvSpPr/>
          <p:nvPr/>
        </p:nvSpPr>
        <p:spPr>
          <a:xfrm>
            <a:off x="429768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325880"/>
            <a:ext cx="594360" cy="59436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553212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594360" cy="59436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1" name="Text 19"/>
          <p:cNvSpPr/>
          <p:nvPr/>
        </p:nvSpPr>
        <p:spPr>
          <a:xfrm>
            <a:off x="676656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1325880"/>
            <a:ext cx="594360" cy="594360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24" name="Text 22"/>
          <p:cNvSpPr/>
          <p:nvPr/>
        </p:nvSpPr>
        <p:spPr>
          <a:xfrm>
            <a:off x="8001000" y="1325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26680" y="1965960"/>
            <a:ext cx="1143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514600"/>
            <a:ext cx="4251960" cy="868680"/>
          </a:xfrm>
          <a:prstGeom prst="rect">
            <a:avLst/>
          </a:prstGeom>
          <a:solidFill>
            <a:srgbClr val="1E2D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606040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2862072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 can miss nuance — always cross-check against the original source.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514600"/>
            <a:ext cx="4251960" cy="868680"/>
          </a:xfrm>
          <a:prstGeom prst="rect">
            <a:avLst/>
          </a:prstGeom>
          <a:solidFill>
            <a:srgbClr val="1E2D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606040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Field-specific tools matter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2862072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BioRender for science, ATLAS.ti for qualitative, Roboflow for computer vision.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4251960" cy="868680"/>
          </a:xfrm>
          <a:prstGeom prst="rect">
            <a:avLst/>
          </a:prstGeom>
          <a:solidFill>
            <a:srgbClr val="1E2D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657600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co-pilot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3913632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thinking, ethics, and interpretation remain entirely human responsibilities.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566160"/>
            <a:ext cx="4251960" cy="868680"/>
          </a:xfrm>
          <a:prstGeom prst="rect">
            <a:avLst/>
          </a:prstGeom>
          <a:solidFill>
            <a:srgbClr val="1E2D5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657600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tools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5192" y="3913632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Semantic Scholar, Zotero, ResearchRabbit work across all three research domains.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95360" y="4846320"/>
            <a:ext cx="502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26 / 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1A0A0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Unethical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27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Unethical Use of AI in Research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Shape 8"/>
          <p:cNvSpPr/>
          <p:nvPr/>
        </p:nvSpPr>
        <p:spPr>
          <a:xfrm>
            <a:off x="2103120" y="804672"/>
            <a:ext cx="67665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841248"/>
            <a:ext cx="647395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powerful tool — but misuse in academic research constitutes </a:t>
            </a: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dishonesty and research misconduct.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Researchers must understand where the line falls.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554480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554480"/>
            <a:ext cx="214884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Shape 12"/>
          <p:cNvSpPr/>
          <p:nvPr/>
        </p:nvSpPr>
        <p:spPr>
          <a:xfrm>
            <a:off x="2103120" y="1554480"/>
            <a:ext cx="54864" cy="153619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5" name="Text 13"/>
          <p:cNvSpPr/>
          <p:nvPr/>
        </p:nvSpPr>
        <p:spPr>
          <a:xfrm>
            <a:off x="2249424" y="164592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Fabrication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9424" y="1975104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AI-written text as your own original research without disclosure — constitutes plagiarism and academic fraud.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1554480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554480"/>
            <a:ext cx="2148840" cy="5486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9" name="Shape 17"/>
          <p:cNvSpPr/>
          <p:nvPr/>
        </p:nvSpPr>
        <p:spPr>
          <a:xfrm>
            <a:off x="4407408" y="1554480"/>
            <a:ext cx="54864" cy="153619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0" name="Text 18"/>
          <p:cNvSpPr/>
          <p:nvPr/>
        </p:nvSpPr>
        <p:spPr>
          <a:xfrm>
            <a:off x="4553712" y="164592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53712" y="1975104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AI-generated statistics, citations or findings without verification. AI can invent plausible-sounding but false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11696" y="1554480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1554480"/>
            <a:ext cx="2148840" cy="54864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4" name="Shape 22"/>
          <p:cNvSpPr/>
          <p:nvPr/>
        </p:nvSpPr>
        <p:spPr>
          <a:xfrm>
            <a:off x="6711696" y="1554480"/>
            <a:ext cx="54864" cy="1536192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5" name="Text 23"/>
          <p:cNvSpPr/>
          <p:nvPr/>
        </p:nvSpPr>
        <p:spPr>
          <a:xfrm>
            <a:off x="6858000" y="164592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Authorship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0" y="1975104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AI as a co-author, or using AI to write entire papers without human intellectual contribution or accountability.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3218688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03120" y="3218688"/>
            <a:ext cx="2148840" cy="54864"/>
          </a:xfrm>
          <a:prstGeom prst="rect">
            <a:avLst/>
          </a:prstGeom>
          <a:solidFill>
            <a:srgbClr val="7C2D12"/>
          </a:solidFill>
        </p:spPr>
      </p:sp>
      <p:sp>
        <p:nvSpPr>
          <p:cNvPr id="29" name="Shape 27"/>
          <p:cNvSpPr/>
          <p:nvPr/>
        </p:nvSpPr>
        <p:spPr>
          <a:xfrm>
            <a:off x="2103120" y="3218688"/>
            <a:ext cx="54864" cy="1536192"/>
          </a:xfrm>
          <a:prstGeom prst="rect">
            <a:avLst/>
          </a:prstGeom>
          <a:solidFill>
            <a:srgbClr val="7C2D12"/>
          </a:solidFill>
        </p:spPr>
      </p:sp>
      <p:sp>
        <p:nvSpPr>
          <p:cNvPr id="30" name="Text 28"/>
          <p:cNvSpPr/>
          <p:nvPr/>
        </p:nvSpPr>
        <p:spPr>
          <a:xfrm>
            <a:off x="2249424" y="331012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AI Use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249424" y="3639312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declare AI tools used in data analysis, writing or figure generation — violates transparency norms.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07408" y="3218688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07408" y="3218688"/>
            <a:ext cx="2148840" cy="54864"/>
          </a:xfrm>
          <a:prstGeom prst="rect">
            <a:avLst/>
          </a:prstGeom>
          <a:solidFill>
            <a:srgbClr val="991B1B"/>
          </a:solidFill>
        </p:spPr>
      </p:sp>
      <p:sp>
        <p:nvSpPr>
          <p:cNvPr id="34" name="Shape 32"/>
          <p:cNvSpPr/>
          <p:nvPr/>
        </p:nvSpPr>
        <p:spPr>
          <a:xfrm>
            <a:off x="4407408" y="3218688"/>
            <a:ext cx="54864" cy="1536192"/>
          </a:xfrm>
          <a:prstGeom prst="rect">
            <a:avLst/>
          </a:prstGeom>
          <a:solidFill>
            <a:srgbClr val="991B1B"/>
          </a:solidFill>
        </p:spPr>
      </p:sp>
      <p:sp>
        <p:nvSpPr>
          <p:cNvPr id="35" name="Text 33"/>
          <p:cNvSpPr/>
          <p:nvPr/>
        </p:nvSpPr>
        <p:spPr>
          <a:xfrm>
            <a:off x="4553712" y="331012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Model Outputs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53712" y="3639312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outputs uncritically — AI reflects training data biases that can skew research conclusions and perpetuate discrimination.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11696" y="3218688"/>
            <a:ext cx="2148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11696" y="3218688"/>
            <a:ext cx="2148840" cy="54864"/>
          </a:xfrm>
          <a:prstGeom prst="rect">
            <a:avLst/>
          </a:prstGeom>
          <a:solidFill>
            <a:srgbClr val="9A3412"/>
          </a:solidFill>
        </p:spPr>
      </p:sp>
      <p:sp>
        <p:nvSpPr>
          <p:cNvPr id="39" name="Shape 37"/>
          <p:cNvSpPr/>
          <p:nvPr/>
        </p:nvSpPr>
        <p:spPr>
          <a:xfrm>
            <a:off x="6711696" y="3218688"/>
            <a:ext cx="54864" cy="1536192"/>
          </a:xfrm>
          <a:prstGeom prst="rect">
            <a:avLst/>
          </a:prstGeom>
          <a:solidFill>
            <a:srgbClr val="9A3412"/>
          </a:solidFill>
        </p:spPr>
      </p:sp>
      <p:sp>
        <p:nvSpPr>
          <p:cNvPr id="40" name="Text 38"/>
          <p:cNvSpPr/>
          <p:nvPr/>
        </p:nvSpPr>
        <p:spPr>
          <a:xfrm>
            <a:off x="6858000" y="331012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858000" y="3639312"/>
            <a:ext cx="1874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identifiable participant data or confidential materials into public AI tools without consent or ethical clearance.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4791456"/>
            <a:ext cx="67665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2660" y="4809490"/>
            <a:ext cx="6500495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Consequences: </a:t>
            </a: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Retraction, degree withdrawal, institutional sanctions, damage to scientific trust, and  legal liability.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0A1F0A"/>
          </a:solidFill>
        </p:spPr>
      </p:sp>
      <p:sp>
        <p:nvSpPr>
          <p:cNvPr id="3" name="Shape 1"/>
          <p:cNvSpPr/>
          <p:nvPr/>
        </p:nvSpPr>
        <p:spPr>
          <a:xfrm>
            <a:off x="594360" y="320040"/>
            <a:ext cx="731520" cy="73152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" name="Text 2"/>
          <p:cNvSpPr/>
          <p:nvPr/>
        </p:nvSpPr>
        <p:spPr>
          <a:xfrm>
            <a:off x="594360" y="3200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1463040"/>
            <a:ext cx="17373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4800600"/>
            <a:ext cx="1645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in Research — The FAIR Principles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03120" y="694944"/>
            <a:ext cx="6766560" cy="3657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0" name="Shape 8"/>
          <p:cNvSpPr/>
          <p:nvPr/>
        </p:nvSpPr>
        <p:spPr>
          <a:xfrm>
            <a:off x="2103120" y="804672"/>
            <a:ext cx="676656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841248"/>
            <a:ext cx="64739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means using AI tools in ways that are transparent, equitable and accountable. It ensures that AI enhances — rather than compromises — the integrity and trustworthiness of research.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517904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517904"/>
            <a:ext cx="1600200" cy="4572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4" name="Shape 12"/>
          <p:cNvSpPr/>
          <p:nvPr/>
        </p:nvSpPr>
        <p:spPr>
          <a:xfrm>
            <a:off x="2176272" y="1609344"/>
            <a:ext cx="256032" cy="25603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2176272" y="1609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05456" y="1627632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76272" y="1920240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all AI tools used — in methods, supplementary materials or a dedicated AI use statement.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13048" y="1517904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3048" y="1517904"/>
            <a:ext cx="160020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0" name="Shape 18"/>
          <p:cNvSpPr/>
          <p:nvPr/>
        </p:nvSpPr>
        <p:spPr>
          <a:xfrm>
            <a:off x="3886200" y="1609344"/>
            <a:ext cx="256032" cy="25603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3886200" y="1609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15384" y="1627632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86200" y="1920240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researcher must verify, validate and take intellectual responsibility for all AI-assisted outputs.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22976" y="1517904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1517904"/>
            <a:ext cx="1600200" cy="45720"/>
          </a:xfrm>
          <a:prstGeom prst="rect">
            <a:avLst/>
          </a:prstGeom>
          <a:solidFill>
            <a:srgbClr val="1E88E5"/>
          </a:solidFill>
        </p:spPr>
      </p:sp>
      <p:sp>
        <p:nvSpPr>
          <p:cNvPr id="26" name="Shape 24"/>
          <p:cNvSpPr/>
          <p:nvPr/>
        </p:nvSpPr>
        <p:spPr>
          <a:xfrm>
            <a:off x="5596128" y="1609344"/>
            <a:ext cx="256032" cy="256032"/>
          </a:xfrm>
          <a:prstGeom prst="ellipse">
            <a:avLst/>
          </a:prstGeom>
          <a:solidFill>
            <a:srgbClr val="1E88E5"/>
          </a:solidFill>
        </p:spPr>
      </p:sp>
      <p:sp>
        <p:nvSpPr>
          <p:cNvPr id="27" name="Text 25"/>
          <p:cNvSpPr/>
          <p:nvPr/>
        </p:nvSpPr>
        <p:spPr>
          <a:xfrm>
            <a:off x="5596128" y="1609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25312" y="1627632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Verification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96128" y="1920240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AI-generated content against original sources. Never publish unverified AI outputs as facts.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2904" y="1517904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32904" y="1517904"/>
            <a:ext cx="160020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Shape 30"/>
          <p:cNvSpPr/>
          <p:nvPr/>
        </p:nvSpPr>
        <p:spPr>
          <a:xfrm>
            <a:off x="7306056" y="1609344"/>
            <a:ext cx="256032" cy="256032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3" name="Text 31"/>
          <p:cNvSpPr/>
          <p:nvPr/>
        </p:nvSpPr>
        <p:spPr>
          <a:xfrm>
            <a:off x="7306056" y="1609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1627505"/>
            <a:ext cx="118046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Awareness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06056" y="1920240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and mitigate biases in AI models. Test outputs across demographic groups where relevant.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03120" y="3090672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103120" y="3090672"/>
            <a:ext cx="160020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8" name="Shape 36"/>
          <p:cNvSpPr/>
          <p:nvPr/>
        </p:nvSpPr>
        <p:spPr>
          <a:xfrm>
            <a:off x="2176272" y="3182112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2176272" y="31821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05456" y="3200400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176272" y="3493008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input personal, confidential or sensitive data into public AI systems. Use institutional or local models.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13048" y="3090672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13048" y="3090672"/>
            <a:ext cx="1600200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4" name="Shape 42"/>
          <p:cNvSpPr/>
          <p:nvPr/>
        </p:nvSpPr>
        <p:spPr>
          <a:xfrm>
            <a:off x="3886200" y="3182112"/>
            <a:ext cx="256032" cy="25603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45" name="Text 43"/>
          <p:cNvSpPr/>
          <p:nvPr/>
        </p:nvSpPr>
        <p:spPr>
          <a:xfrm>
            <a:off x="3886200" y="31821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15384" y="3200400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86200" y="3493008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processes participant data, disclose this in consent forms and ethics applications.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22976" y="3090672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22976" y="3090672"/>
            <a:ext cx="1600200" cy="4572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50" name="Shape 48"/>
          <p:cNvSpPr/>
          <p:nvPr/>
        </p:nvSpPr>
        <p:spPr>
          <a:xfrm>
            <a:off x="5596128" y="3182112"/>
            <a:ext cx="256032" cy="256032"/>
          </a:xfrm>
          <a:prstGeom prst="ellipse">
            <a:avLst/>
          </a:prstGeom>
          <a:solidFill>
            <a:srgbClr val="64748B"/>
          </a:solidFill>
        </p:spPr>
      </p:sp>
      <p:sp>
        <p:nvSpPr>
          <p:cNvPr id="51" name="Text 49"/>
          <p:cNvSpPr/>
          <p:nvPr/>
        </p:nvSpPr>
        <p:spPr>
          <a:xfrm>
            <a:off x="5596128" y="31821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25185" y="3200400"/>
            <a:ext cx="118046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596128" y="3493008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model name, version, prompt and parameters used — enabling others to audit or reproduce your work.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32904" y="3090672"/>
            <a:ext cx="1600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32904" y="3090672"/>
            <a:ext cx="160020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6" name="Shape 54"/>
          <p:cNvSpPr/>
          <p:nvPr/>
        </p:nvSpPr>
        <p:spPr>
          <a:xfrm>
            <a:off x="7306056" y="3182112"/>
            <a:ext cx="256032" cy="25603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57" name="Text 55"/>
          <p:cNvSpPr/>
          <p:nvPr/>
        </p:nvSpPr>
        <p:spPr>
          <a:xfrm>
            <a:off x="7306056" y="31821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35240" y="3200400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 Access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306056" y="3493008"/>
            <a:ext cx="1444752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for fair access to AI tools across institutions and geographies. Avoid widening the research divide.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103120" y="4694555"/>
            <a:ext cx="6766560" cy="3530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03120" y="4669790"/>
            <a:ext cx="6766560" cy="38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endParaRPr lang="en-US" sz="950" b="1" dirty="0">
              <a:solidFill>
                <a:srgbClr val="1580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your co-pilot, not your author. Integrity, transparency and critical thinking remain irreplaceable human responsibilities.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0" y="109728"/>
            <a:ext cx="109728" cy="5029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914400" y="822960"/>
            <a:ext cx="7863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212848"/>
            <a:ext cx="274320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914400" y="2359152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944368"/>
            <a:ext cx="4572000" cy="1508760"/>
          </a:xfrm>
          <a:prstGeom prst="rect">
            <a:avLst/>
          </a:prstGeom>
          <a:solidFill>
            <a:srgbClr val="0D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3054096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Shailesh 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3529584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(On Leave)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3803904"/>
            <a:ext cx="4297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Cochin University of Science and Technology (CUSAT)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29 /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22155</Words>
  <Application>WPS Presentation</Application>
  <PresentationFormat>On-screen Show (16:9)</PresentationFormat>
  <Paragraphs>1474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in Research</dc:title>
  <dc:creator>PptxGenJS</dc:creator>
  <dc:subject>PptxGenJS Presentation</dc:subject>
  <cp:lastModifiedBy>Shailesh S</cp:lastModifiedBy>
  <cp:revision>4</cp:revision>
  <dcterms:created xsi:type="dcterms:W3CDTF">2026-06-30T03:21:22Z</dcterms:created>
  <dcterms:modified xsi:type="dcterms:W3CDTF">2026-06-30T03:21:22Z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FDB0D577797E6398EB662B6A8B0532D8_42</vt:lpwstr>
  </property>
</Properties>
</file>