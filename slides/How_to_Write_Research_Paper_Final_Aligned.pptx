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52950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2475309"/>
            <a:ext cx="9753600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979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851344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How to Write a Research Paper 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564005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FF6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 Complete Structural Guide for Academic Excellence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Dr. Shailesh Sivan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0" y="3429000"/>
            <a:ext cx="3657600" cy="36576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9 Sections  •  Step-by-Step Instructions  •  Word Count Guidelines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Total Paper Length: 15-30 pages  |  4500-9000 words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Engineering Faculty Workshop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Paper Structure Overview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3749040"/>
          </a:xfrm>
          <a:prstGeom prst="rect">
            <a:avLst/>
          </a:prstGeom>
          <a:solidFill>
            <a:srgbClr val="EFF6FF"/>
          </a:solidFill>
          <a:ln w="254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FRONT MATTER</a:t>
            </a:r>
            <a:endParaRPr lang="en-US" sz="1300" b="1" dirty="0">
              <a:solidFill>
                <a:srgbClr val="C00000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1. Introduction</a:t>
            </a:r>
            <a:endParaRPr lang="en-US" sz="1400" b="1" dirty="0">
              <a:solidFill>
                <a:srgbClr val="0F172A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4485" y="2240280"/>
            <a:ext cx="196151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2. Literature Review</a:t>
            </a:r>
            <a:endParaRPr lang="en-US" sz="1400" b="1" dirty="0">
              <a:solidFill>
                <a:srgbClr val="0F172A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3. Preliminaries</a:t>
            </a:r>
            <a:endParaRPr lang="en-US" sz="1400" b="1" dirty="0">
              <a:solidFill>
                <a:srgbClr val="0F172A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2011680" cy="3749040"/>
          </a:xfrm>
          <a:prstGeom prst="rect">
            <a:avLst/>
          </a:prstGeom>
          <a:solidFill>
            <a:srgbClr val="F0FDF4"/>
          </a:solidFill>
          <a:ln w="254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1887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CORE CONTENT</a:t>
            </a:r>
            <a:endParaRPr lang="en-US" sz="1300" b="1" dirty="0">
              <a:solidFill>
                <a:srgbClr val="C00000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560320" y="164592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4. Methodology</a:t>
            </a:r>
            <a:endParaRPr lang="en-US" sz="1400" b="1" dirty="0">
              <a:solidFill>
                <a:srgbClr val="0F172A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560320" y="224028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5. Implementation</a:t>
            </a:r>
            <a:endParaRPr lang="en-US" sz="1400" b="1" dirty="0">
              <a:solidFill>
                <a:srgbClr val="0F172A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60320" y="28346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6. Results</a:t>
            </a:r>
            <a:endParaRPr lang="en-US" sz="1400" b="1" dirty="0">
              <a:solidFill>
                <a:srgbClr val="0F172A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2011680" cy="3749040"/>
          </a:xfrm>
          <a:prstGeom prst="rect">
            <a:avLst/>
          </a:prstGeom>
          <a:solidFill>
            <a:srgbClr val="FEF3C7"/>
          </a:solidFill>
          <a:ln w="2540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1887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ANALYSIS</a:t>
            </a:r>
            <a:endParaRPr lang="en-US" sz="1300" b="1" dirty="0">
              <a:solidFill>
                <a:srgbClr val="C00000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54880" y="164592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7. Discussion</a:t>
            </a:r>
            <a:endParaRPr lang="en-US" sz="1400" b="1" dirty="0">
              <a:solidFill>
                <a:srgbClr val="0F172A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54880" y="224028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8. Conclusion</a:t>
            </a:r>
            <a:endParaRPr lang="en-US" sz="1400" b="1" dirty="0">
              <a:solidFill>
                <a:srgbClr val="0F172A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54880" y="28346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9. Future Work</a:t>
            </a:r>
            <a:endParaRPr lang="en-US" sz="1400" b="1" dirty="0">
              <a:solidFill>
                <a:srgbClr val="0F172A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858000" y="1005840"/>
            <a:ext cx="2011680" cy="3749040"/>
          </a:xfrm>
          <a:prstGeom prst="rect">
            <a:avLst/>
          </a:prstGeom>
          <a:solidFill>
            <a:srgbClr val="EDE9FE"/>
          </a:solidFill>
          <a:ln w="254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11887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CITATIONS</a:t>
            </a:r>
            <a:endParaRPr lang="en-US" sz="1300" b="1" dirty="0">
              <a:solidFill>
                <a:srgbClr val="C00000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949440" y="164592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10. References</a:t>
            </a:r>
            <a:endParaRPr lang="en-US" sz="1400" b="1" dirty="0">
              <a:solidFill>
                <a:srgbClr val="0F172A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Section 1: INTRODUCTION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Length: 2-3 pages  |  Words: 600-900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474720"/>
          </a:xfrm>
          <a:prstGeom prst="rect">
            <a:avLst/>
          </a:prstGeom>
          <a:solidFill>
            <a:srgbClr val="EFF6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Purpose of Introduction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◆  Establish context and background for your research field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17627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◆  Show why your problem is important and relevant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523744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◆  Explain what solutions already exist in literature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871216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◆  Identify gaps and limitations in current approaches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21868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◆  Present your novel contribution and solutions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" name="Text 1"/>
          <p:cNvSpPr/>
          <p:nvPr/>
        </p:nvSpPr>
        <p:spPr>
          <a:xfrm>
            <a:off x="0" y="146050"/>
            <a:ext cx="927481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Introduction: Steps 1-5 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51560"/>
            <a:ext cx="365760" cy="36576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6" name="Text 4"/>
          <p:cNvSpPr/>
          <p:nvPr/>
        </p:nvSpPr>
        <p:spPr>
          <a:xfrm>
            <a:off x="594360" y="105156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33145"/>
            <a:ext cx="2621280" cy="218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General Domain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216025"/>
            <a:ext cx="3339465" cy="23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2-3 lines of broad context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10972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7200" y="1618488"/>
            <a:ext cx="822960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709928"/>
            <a:ext cx="365760" cy="36576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12" name="Text 10"/>
          <p:cNvSpPr/>
          <p:nvPr/>
        </p:nvSpPr>
        <p:spPr>
          <a:xfrm>
            <a:off x="594360" y="170992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1691640"/>
            <a:ext cx="2621280" cy="218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Specific Area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1874520"/>
            <a:ext cx="3091180" cy="3111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2-3 lines narrowing focus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0" y="175564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57200" y="2276856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368296"/>
            <a:ext cx="365760" cy="36576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18" name="Text 16"/>
          <p:cNvSpPr/>
          <p:nvPr/>
        </p:nvSpPr>
        <p:spPr>
          <a:xfrm>
            <a:off x="594360" y="2368296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2350135"/>
            <a:ext cx="2621280" cy="218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2533015"/>
            <a:ext cx="3091180" cy="3111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3-4 lines defining issue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0" y="2414016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57200" y="2935224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026664"/>
            <a:ext cx="365760" cy="36576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24" name="Text 22"/>
          <p:cNvSpPr/>
          <p:nvPr/>
        </p:nvSpPr>
        <p:spPr>
          <a:xfrm>
            <a:off x="594360" y="302666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" y="3008630"/>
            <a:ext cx="2621280" cy="218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Existing Solutions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3191510"/>
            <a:ext cx="3091180" cy="3111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4-5 lines on state of art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3072384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457200" y="3593592"/>
            <a:ext cx="822960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3685032"/>
            <a:ext cx="365760" cy="36576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0" name="Text 28"/>
          <p:cNvSpPr/>
          <p:nvPr/>
        </p:nvSpPr>
        <p:spPr>
          <a:xfrm>
            <a:off x="594360" y="368503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3666490"/>
            <a:ext cx="2621280" cy="218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Flaws &amp; Gaps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97280" y="3849370"/>
            <a:ext cx="3091180" cy="3111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3-4 lines on what's missing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98080" y="37307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Each step builds from general context → specific problem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" name="Text 1"/>
          <p:cNvSpPr/>
          <p:nvPr/>
        </p:nvSpPr>
        <p:spPr>
          <a:xfrm>
            <a:off x="6350" y="137160"/>
            <a:ext cx="913447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Introduction: Steps 6-10 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51560"/>
            <a:ext cx="365760" cy="36576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6" name="Text 4"/>
          <p:cNvSpPr/>
          <p:nvPr/>
        </p:nvSpPr>
        <p:spPr>
          <a:xfrm>
            <a:off x="594360" y="105156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33145"/>
            <a:ext cx="3605530" cy="2171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216025"/>
            <a:ext cx="2763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2-3 lines why solve 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10972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7200" y="1618488"/>
            <a:ext cx="822960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709928"/>
            <a:ext cx="365760" cy="36576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12" name="Text 10"/>
          <p:cNvSpPr/>
          <p:nvPr/>
        </p:nvSpPr>
        <p:spPr>
          <a:xfrm>
            <a:off x="594360" y="170992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7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1691640"/>
            <a:ext cx="3605530" cy="2171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Your 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1874520"/>
            <a:ext cx="2763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3-4 lines on approach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0" y="175564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57200" y="2276856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368296"/>
            <a:ext cx="365760" cy="36576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18" name="Text 16"/>
          <p:cNvSpPr/>
          <p:nvPr/>
        </p:nvSpPr>
        <p:spPr>
          <a:xfrm>
            <a:off x="594360" y="2368296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2350135"/>
            <a:ext cx="3605530" cy="2171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2533015"/>
            <a:ext cx="2763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3-4 lines why better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0" y="2414016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57200" y="2935224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026664"/>
            <a:ext cx="365760" cy="36576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24" name="Text 22"/>
          <p:cNvSpPr/>
          <p:nvPr/>
        </p:nvSpPr>
        <p:spPr>
          <a:xfrm>
            <a:off x="594360" y="302666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9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" y="3008630"/>
            <a:ext cx="3605530" cy="2171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Key Contributions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3191510"/>
            <a:ext cx="2763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4-6 bullets of novelty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3072384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457200" y="3593592"/>
            <a:ext cx="822960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3685032"/>
            <a:ext cx="365760" cy="36576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0" name="Text 28"/>
          <p:cNvSpPr/>
          <p:nvPr/>
        </p:nvSpPr>
        <p:spPr>
          <a:xfrm>
            <a:off x="514985" y="3686175"/>
            <a:ext cx="502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3666490"/>
            <a:ext cx="3605530" cy="2171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Paper Organization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97280" y="3849370"/>
            <a:ext cx="2763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2-3 lines on outline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98080" y="37307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Complete flow: Motivation → Solution → Detailed Contributions → Reader prepared for methods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Section 2: LITERATURE 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Length: 3-5 pages  |  Citations: 20-50+ papers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474720"/>
          </a:xfrm>
          <a:prstGeom prst="rect">
            <a:avLst/>
          </a:prstGeom>
          <a:solidFill>
            <a:srgbClr val="F0FDF4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What to Include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Comprehensive survey of relevant research and publications</a:t>
            </a:r>
            <a:endParaRPr lang="en-US" sz="1200" b="1" dirty="0">
              <a:solidFill>
                <a:schemeClr val="accent6">
                  <a:lumMod val="50000"/>
                </a:schemeClr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176653"/>
            <a:ext cx="7315200" cy="2921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Organize by themes, methodologies, or chronological order</a:t>
            </a:r>
            <a:endParaRPr lang="en-US" sz="1200" b="1" dirty="0">
              <a:solidFill>
                <a:schemeClr val="accent6">
                  <a:lumMod val="50000"/>
                </a:schemeClr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2523998"/>
            <a:ext cx="7315200" cy="2921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Critical analysis of strengths and weaknesses</a:t>
            </a:r>
            <a:endParaRPr lang="en-US" sz="1200" b="1" dirty="0">
              <a:solidFill>
                <a:schemeClr val="accent6">
                  <a:lumMod val="50000"/>
                </a:schemeClr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2871343"/>
            <a:ext cx="7315200" cy="2921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Identify research gaps and limitations in current work</a:t>
            </a:r>
            <a:endParaRPr lang="en-US" sz="1200" b="1" dirty="0">
              <a:solidFill>
                <a:schemeClr val="accent6">
                  <a:lumMod val="50000"/>
                </a:schemeClr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7280" y="3218688"/>
            <a:ext cx="7315200" cy="2921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Synthesize findings from multiple sources and approaches</a:t>
            </a:r>
            <a:endParaRPr lang="en-US" sz="1200" b="1" dirty="0">
              <a:solidFill>
                <a:schemeClr val="accent6">
                  <a:lumMod val="50000"/>
                </a:schemeClr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97280" y="3566033"/>
            <a:ext cx="7315200" cy="2921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Position your work clearly within existing landscape</a:t>
            </a:r>
            <a:endParaRPr lang="en-US" sz="1200" b="1" dirty="0">
              <a:solidFill>
                <a:schemeClr val="accent6">
                  <a:lumMod val="50000"/>
                </a:schemeClr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Section 3: METHODOLOGY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Length: 3-5 pages  |  Include: Diagrams, Equations, Pseudocode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474720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C3AE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Core Requirements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206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◆  Detailed algorithm description with mathematical formulations</a:t>
            </a:r>
            <a:endParaRPr lang="en-US" sz="1400" dirty="0">
              <a:solidFill>
                <a:srgbClr val="002060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20929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206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◆  System architecture diagrams with labeled components</a:t>
            </a:r>
            <a:endParaRPr lang="en-US" sz="1400" dirty="0">
              <a:solidFill>
                <a:srgbClr val="002060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2556764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206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◆  Step-by-step explanation that readers can follow</a:t>
            </a:r>
            <a:endParaRPr lang="en-US" sz="1400" dirty="0">
              <a:solidFill>
                <a:srgbClr val="002060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2904236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206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◆  Formal problem definition and notation used</a:t>
            </a:r>
            <a:endParaRPr lang="en-US" sz="1400" dirty="0">
              <a:solidFill>
                <a:srgbClr val="002060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7280" y="325170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206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◆  Assumptions and constraints of your approach</a:t>
            </a:r>
            <a:endParaRPr lang="en-US" sz="1400" dirty="0">
              <a:solidFill>
                <a:srgbClr val="002060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97280" y="363220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206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◆  Clear explanation of what makes your method novel</a:t>
            </a:r>
            <a:endParaRPr lang="en-US" sz="1400" dirty="0">
              <a:solidFill>
                <a:srgbClr val="002060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" name="Text 1"/>
          <p:cNvSpPr/>
          <p:nvPr/>
        </p:nvSpPr>
        <p:spPr>
          <a:xfrm>
            <a:off x="217805" y="137160"/>
            <a:ext cx="876998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Section 4: IMPLEMENTATION &amp; TOOLS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Length: 1-2 pages  |  Goal: Enable reproducibility of your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474720"/>
          </a:xfrm>
          <a:prstGeom prst="rect">
            <a:avLst/>
          </a:prstGeom>
          <a:solidFill>
            <a:srgbClr val="EFF6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Practical Details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◆  Programming languages, frameworks, and libraries used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17627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◆  Hardware specifications and computational requirements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523744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◆  Code snippets for critical or novel components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871216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◆  System configuration, deployment, and setup details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21868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◆  Datasets used: source, size, format, and characteristics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56616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◆  Training parameters, hyperparameters, and settings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Section 5: RESULTS &amp;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Length: 2-3 pages  |  Use: FIGURES and TABLES extensively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474720"/>
          </a:xfrm>
          <a:prstGeom prst="rect">
            <a:avLst/>
          </a:prstGeom>
          <a:solidFill>
            <a:srgbClr val="F0FDF4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What to Present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Quantitative metrics and performance measurements</a:t>
            </a:r>
            <a:endParaRPr lang="en-US" sz="1200" b="1" dirty="0">
              <a:solidFill>
                <a:schemeClr val="accent6">
                  <a:lumMod val="50000"/>
                </a:schemeClr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17627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Comparison tables showing your method vs. baselines</a:t>
            </a:r>
            <a:endParaRPr lang="en-US" sz="1200" b="1" dirty="0">
              <a:solidFill>
                <a:schemeClr val="accent6">
                  <a:lumMod val="50000"/>
                </a:schemeClr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2523744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Graphs and visualizations of key results</a:t>
            </a:r>
            <a:endParaRPr lang="en-US" sz="1200" b="1" dirty="0">
              <a:solidFill>
                <a:schemeClr val="accent6">
                  <a:lumMod val="50000"/>
                </a:schemeClr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2871216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Statistical significance testing and confidence intervals</a:t>
            </a:r>
            <a:endParaRPr lang="en-US" sz="1200" b="1" dirty="0">
              <a:solidFill>
                <a:schemeClr val="accent6">
                  <a:lumMod val="50000"/>
                </a:schemeClr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7280" y="321868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Ablation studies showing impact of each component</a:t>
            </a:r>
            <a:endParaRPr lang="en-US" sz="1200" b="1" dirty="0">
              <a:solidFill>
                <a:schemeClr val="accent6">
                  <a:lumMod val="50000"/>
                </a:schemeClr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97280" y="356616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Qualitative observations and interesting findings</a:t>
            </a:r>
            <a:endParaRPr lang="en-US" sz="1200" b="1" dirty="0">
              <a:solidFill>
                <a:schemeClr val="accent6">
                  <a:lumMod val="50000"/>
                </a:schemeClr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Section 6: DISCUSSION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Length: 1.5-2.5 pages  |  Be honest about limitations and trade-offs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47472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C262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Interpretation &amp;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Why did your results turn out this way?</a:t>
            </a:r>
            <a:endParaRPr lang="en-US" sz="1200" b="1" dirty="0">
              <a:solidFill>
                <a:srgbClr val="C00000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17627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How does your method compare to existing approaches?</a:t>
            </a:r>
            <a:endParaRPr lang="en-US" sz="1200" b="1" dirty="0">
              <a:solidFill>
                <a:srgbClr val="C00000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2523744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What are the strengths and limitations?</a:t>
            </a:r>
            <a:endParaRPr lang="en-US" sz="1200" b="1" dirty="0">
              <a:solidFill>
                <a:srgbClr val="C00000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2871216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Were there unexpected or surprising findings?</a:t>
            </a:r>
            <a:endParaRPr lang="en-US" sz="1200" b="1" dirty="0">
              <a:solidFill>
                <a:srgbClr val="C00000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7280" y="321868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What are the implications for your field?</a:t>
            </a:r>
            <a:endParaRPr lang="en-US" sz="1200" b="1" dirty="0">
              <a:solidFill>
                <a:srgbClr val="C00000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97280" y="356616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What design trade-offs did you make and why?</a:t>
            </a:r>
            <a:endParaRPr lang="en-US" sz="1200" b="1" dirty="0">
              <a:solidFill>
                <a:srgbClr val="C00000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Section 7: 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Length: 0.75-1.5 pages  |  End on a strong, impactful note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474720"/>
          </a:xfrm>
          <a:prstGeom prst="rect">
            <a:avLst/>
          </a:prstGeom>
          <a:solidFill>
            <a:srgbClr val="EFF6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Summary &amp; Impact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2060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Restatement of the research problem and its importance</a:t>
            </a:r>
            <a:endParaRPr lang="en-US" sz="1200" b="1" dirty="0">
              <a:solidFill>
                <a:srgbClr val="002060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17627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2060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Summary of your main contributions and achievements</a:t>
            </a:r>
            <a:endParaRPr lang="en-US" sz="1200" b="1" dirty="0">
              <a:solidFill>
                <a:srgbClr val="002060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2523744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2060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Key findings and their significance to the field</a:t>
            </a:r>
            <a:endParaRPr lang="en-US" sz="1200" b="1" dirty="0">
              <a:solidFill>
                <a:srgbClr val="002060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2871216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2060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How your work addresses the identified research gap</a:t>
            </a:r>
            <a:endParaRPr lang="en-US" sz="1200" b="1" dirty="0">
              <a:solidFill>
                <a:srgbClr val="002060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7280" y="321868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2060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Practical applications and real-world impact</a:t>
            </a:r>
            <a:endParaRPr lang="en-US" sz="1200" b="1" dirty="0">
              <a:solidFill>
                <a:srgbClr val="002060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97280" y="356616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2060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Broader implications and opportunities for the field</a:t>
            </a:r>
            <a:endParaRPr lang="en-US" sz="1200" b="1" dirty="0">
              <a:solidFill>
                <a:srgbClr val="002060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Section 8: FUTURE WORK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580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Length: 0.5-1 page  |  Be specific and realistic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474720"/>
          </a:xfrm>
          <a:prstGeom prst="rect">
            <a:avLst/>
          </a:prstGeom>
          <a:solidFill>
            <a:srgbClr val="FEF3C7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A580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Next Steps &amp; Opportunities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Limitations of current approach and how to overcome them</a:t>
            </a:r>
            <a:endParaRPr lang="en-US" sz="1200" b="1" dirty="0">
              <a:solidFill>
                <a:schemeClr val="accent2">
                  <a:lumMod val="50000"/>
                </a:schemeClr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17627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Extensions of your method to new or related problems</a:t>
            </a:r>
            <a:endParaRPr lang="en-US" sz="1200" b="1" dirty="0">
              <a:solidFill>
                <a:schemeClr val="accent2">
                  <a:lumMod val="50000"/>
                </a:schemeClr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2523744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Scalability improvements needed for larger systems</a:t>
            </a:r>
            <a:endParaRPr lang="en-US" sz="1200" b="1" dirty="0">
              <a:solidFill>
                <a:schemeClr val="accent2">
                  <a:lumMod val="50000"/>
                </a:schemeClr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2871216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Integration with other techniques or complementary approaches</a:t>
            </a:r>
            <a:endParaRPr lang="en-US" sz="1200" b="1" dirty="0">
              <a:solidFill>
                <a:schemeClr val="accent2">
                  <a:lumMod val="50000"/>
                </a:schemeClr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7280" y="321868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Applications to new domains or different datasets</a:t>
            </a:r>
            <a:endParaRPr lang="en-US" sz="1200" b="1" dirty="0">
              <a:solidFill>
                <a:schemeClr val="accent2">
                  <a:lumMod val="50000"/>
                </a:schemeClr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97280" y="356616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Open research questions that remain in the field</a:t>
            </a:r>
            <a:endParaRPr lang="en-US" sz="1200" b="1" dirty="0">
              <a:solidFill>
                <a:schemeClr val="accent2">
                  <a:lumMod val="50000"/>
                </a:schemeClr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Section 9: REFERENCES</a:t>
            </a:r>
            <a:endParaRPr lang="en-US" sz="3600" b="1" dirty="0">
              <a:solidFill>
                <a:srgbClr val="FFFFFF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Length: 1-2 pages  |  Use citation tools (BibTeX, Zotero, Mendeley)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474720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C3AE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Formatting Guidelines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030A0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Choose format (IEEE, APA, or Chicago) and use consistently</a:t>
            </a:r>
            <a:endParaRPr lang="en-US" sz="1200" b="1" dirty="0">
              <a:solidFill>
                <a:srgbClr val="7030A0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17627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030A0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List all citations in alphabetical order by author last name</a:t>
            </a:r>
            <a:endParaRPr lang="en-US" sz="1200" b="1" dirty="0">
              <a:solidFill>
                <a:srgbClr val="7030A0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2523744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030A0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Include: Author, Title, Publication, Year, DOI/URL</a:t>
            </a:r>
            <a:endParaRPr lang="en-US" sz="1200" b="1" dirty="0">
              <a:solidFill>
                <a:srgbClr val="7030A0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2871216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030A0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Every citation in your paper must appear in references</a:t>
            </a:r>
            <a:endParaRPr lang="en-US" sz="1200" b="1" dirty="0">
              <a:solidFill>
                <a:srgbClr val="7030A0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7280" y="3218688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030A0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Check for completeness, accuracy, and proper formatting</a:t>
            </a:r>
            <a:endParaRPr lang="en-US" sz="1200" b="1" dirty="0">
              <a:solidFill>
                <a:srgbClr val="7030A0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97280" y="356616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030A0"/>
                </a:solidFill>
                <a:latin typeface="Arial Bold" panose="020B0704020202020204" charset="0"/>
                <a:ea typeface="Arial" panose="020B0704020202020204" pitchFamily="34" charset="-122"/>
                <a:cs typeface="Arial Bold" panose="020B0704020202020204" charset="0"/>
              </a:rPr>
              <a:t>◆  Use consistent capitalization and punctuation throughout</a:t>
            </a:r>
            <a:endParaRPr lang="en-US" sz="1200" b="1" dirty="0">
              <a:solidFill>
                <a:srgbClr val="7030A0"/>
              </a:solidFill>
              <a:latin typeface="Arial Bold" panose="020B0704020202020204" charset="0"/>
              <a:ea typeface="Arial" panose="020B0704020202020204" pitchFamily="34" charset="-122"/>
              <a:cs typeface="Arial Bold" panose="020B07040202020202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Complete Paper Summary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30175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5" name="Text 3"/>
          <p:cNvSpPr/>
          <p:nvPr/>
        </p:nvSpPr>
        <p:spPr>
          <a:xfrm>
            <a:off x="640080" y="996696"/>
            <a:ext cx="3840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3440" y="996696"/>
            <a:ext cx="1737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2-3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996696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600-900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8229600" cy="30175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640080" y="1335024"/>
            <a:ext cx="3840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335024"/>
            <a:ext cx="1737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3-5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1335024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900-1500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36776"/>
            <a:ext cx="8229600" cy="30175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3" name="Text 11"/>
          <p:cNvSpPr/>
          <p:nvPr/>
        </p:nvSpPr>
        <p:spPr>
          <a:xfrm>
            <a:off x="640080" y="1673352"/>
            <a:ext cx="3840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Preliminaries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1673352"/>
            <a:ext cx="1737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0.5-1.5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1673352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150-450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975104"/>
            <a:ext cx="8229600" cy="30175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640080" y="2011680"/>
            <a:ext cx="3840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011680"/>
            <a:ext cx="1737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3-5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2011680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900-1500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313432"/>
            <a:ext cx="8229600" cy="30175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1" name="Text 19"/>
          <p:cNvSpPr/>
          <p:nvPr/>
        </p:nvSpPr>
        <p:spPr>
          <a:xfrm>
            <a:off x="640080" y="2350008"/>
            <a:ext cx="3840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2350008"/>
            <a:ext cx="1737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1-2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2350008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300-600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651760"/>
            <a:ext cx="8229600" cy="30175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Text 23"/>
          <p:cNvSpPr/>
          <p:nvPr/>
        </p:nvSpPr>
        <p:spPr>
          <a:xfrm>
            <a:off x="640080" y="2688336"/>
            <a:ext cx="3840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Results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2688336"/>
            <a:ext cx="1737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2-3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2688336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600-900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2990088"/>
            <a:ext cx="8229600" cy="30175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9" name="Text 27"/>
          <p:cNvSpPr/>
          <p:nvPr/>
        </p:nvSpPr>
        <p:spPr>
          <a:xfrm>
            <a:off x="640080" y="3026664"/>
            <a:ext cx="3840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63440" y="3026664"/>
            <a:ext cx="1737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1.5-2.5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3026664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450-750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328416"/>
            <a:ext cx="8229600" cy="30175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640080" y="3364992"/>
            <a:ext cx="3840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63440" y="3364992"/>
            <a:ext cx="1737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0.75-1.5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83680" y="3364992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225-450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3666744"/>
            <a:ext cx="8229600" cy="30175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7" name="Text 35"/>
          <p:cNvSpPr/>
          <p:nvPr/>
        </p:nvSpPr>
        <p:spPr>
          <a:xfrm>
            <a:off x="640080" y="3703320"/>
            <a:ext cx="3840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63440" y="3703320"/>
            <a:ext cx="1737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0.5-1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83680" y="3703320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150-300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005072"/>
            <a:ext cx="8229600" cy="30175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640080" y="4041648"/>
            <a:ext cx="3840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663440" y="4041648"/>
            <a:ext cx="1737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1-2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583680" y="4041648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N/A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4343400"/>
            <a:ext cx="8229600" cy="329184"/>
          </a:xfrm>
          <a:prstGeom prst="rect">
            <a:avLst/>
          </a:prstGeom>
          <a:solidFill>
            <a:srgbClr val="EFF6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389120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TOTAL PAPER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663440" y="4389120"/>
            <a:ext cx="17373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15-30 pages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583680" y="4389120"/>
            <a:ext cx="1828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4500-9000 words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Writing Best Practices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320040"/>
          </a:xfrm>
          <a:prstGeom prst="rect">
            <a:avLst/>
          </a:prstGeom>
          <a:solidFill>
            <a:srgbClr val="F0FDF4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87552"/>
            <a:ext cx="3566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✓ 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3566160" cy="13195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✓ Be clear and concise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3195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✓ Use active voice mostly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566160" cy="13195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✓ Support with citations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566160" cy="13195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✓ Include figures &amp; tables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3566160" cy="13195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✓ Proofread thoroughly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3566160" cy="13195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✓ Follow style guide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3566160" cy="13195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5966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✓ Highlight contribution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987552"/>
            <a:ext cx="3566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✗ DON'T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1325880"/>
            <a:ext cx="3566160" cy="13195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✗ Overuse jargon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600200"/>
            <a:ext cx="3566160" cy="13195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✗ Make vague claims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1874520"/>
            <a:ext cx="3566160" cy="13195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✗ Exceed page limits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148840"/>
            <a:ext cx="3566160" cy="13195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✗ Plagiarize content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423160"/>
            <a:ext cx="3566160" cy="13195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✗ Skip limitations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697480"/>
            <a:ext cx="3566160" cy="13195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✗ Compare unfairly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2971800"/>
            <a:ext cx="3566160" cy="13195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✗ Forget citations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Write with Purpose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2286000" y="2240280"/>
            <a:ext cx="4572000" cy="54864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Every Section Serves a Critical Purpose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Follow this structure, maintain clarity, cite sources properly, and your research will have impact in your field.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6C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Dr. Shailesh Sivan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5590</Words>
  <Application>WPS Presentation</Application>
  <PresentationFormat>On-screen Show (16:9)</PresentationFormat>
  <Paragraphs>400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Arial</vt:lpstr>
      <vt:lpstr>Arial</vt:lpstr>
      <vt:lpstr>Arial Bold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Write a Research Paper</dc:title>
  <dc:creator>Dr. Shailesh Sivan</dc:creator>
  <dc:subject>PptxGenJS Presentation</dc:subject>
  <cp:lastModifiedBy>Shailesh S</cp:lastModifiedBy>
  <cp:revision>3</cp:revision>
  <dcterms:created xsi:type="dcterms:W3CDTF">2026-06-30T03:22:06Z</dcterms:created>
  <dcterms:modified xsi:type="dcterms:W3CDTF">2026-06-30T03:22:06Z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FE8EE11620EA281332FF406A7B753975_42</vt:lpwstr>
  </property>
</Properties>
</file>