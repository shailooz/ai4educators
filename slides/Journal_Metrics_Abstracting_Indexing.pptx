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9144000" cy="51435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25806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979" y="0"/>
            <a:ext cx="5283200" cy="25806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4552950" y="642938"/>
            <a:ext cx="3086100" cy="1735931"/>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2475309"/>
            <a:ext cx="9753600" cy="2025253"/>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4885432"/>
            <a:ext cx="5283200" cy="25806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979" y="4885432"/>
            <a:ext cx="5283200" cy="258068"/>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743200"/>
          </a:xfrm>
          <a:prstGeom prst="rect">
            <a:avLst/>
          </a:prstGeom>
          <a:solidFill>
            <a:srgbClr val="2D3748"/>
          </a:solidFill>
        </p:spPr>
      </p:sp>
      <p:sp>
        <p:nvSpPr>
          <p:cNvPr id="3" name="Shape 1"/>
          <p:cNvSpPr/>
          <p:nvPr/>
        </p:nvSpPr>
        <p:spPr>
          <a:xfrm>
            <a:off x="0" y="2651760"/>
            <a:ext cx="9144000" cy="91440"/>
          </a:xfrm>
          <a:prstGeom prst="rect">
            <a:avLst/>
          </a:prstGeom>
          <a:solidFill>
            <a:srgbClr val="ED8936"/>
          </a:solidFill>
        </p:spPr>
      </p:sp>
      <p:sp>
        <p:nvSpPr>
          <p:cNvPr id="4" name="Text 2"/>
          <p:cNvSpPr/>
          <p:nvPr/>
        </p:nvSpPr>
        <p:spPr>
          <a:xfrm>
            <a:off x="548640" y="589915"/>
            <a:ext cx="8046720" cy="685800"/>
          </a:xfrm>
          <a:prstGeom prst="rect">
            <a:avLst/>
          </a:prstGeom>
          <a:noFill/>
        </p:spPr>
        <p:txBody>
          <a:bodyPr wrap="square"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Journal Metrics, Abstracting &amp; Indexing</a:t>
            </a:r>
            <a:endParaRPr lang="en-US" sz="5400" dirty="0"/>
          </a:p>
        </p:txBody>
      </p:sp>
      <p:sp>
        <p:nvSpPr>
          <p:cNvPr id="5" name="Text 3"/>
          <p:cNvSpPr/>
          <p:nvPr/>
        </p:nvSpPr>
        <p:spPr>
          <a:xfrm>
            <a:off x="548640" y="1964055"/>
            <a:ext cx="8046720" cy="365760"/>
          </a:xfrm>
          <a:prstGeom prst="rect">
            <a:avLst/>
          </a:prstGeom>
          <a:noFill/>
        </p:spPr>
        <p:txBody>
          <a:bodyPr wrap="square" rtlCol="0" anchor="ctr"/>
          <a:lstStyle/>
          <a:p>
            <a:pPr marL="0" indent="0">
              <a:buNone/>
            </a:pPr>
            <a:r>
              <a:rPr lang="en-US" sz="2000" dirty="0">
                <a:solidFill>
                  <a:srgbClr val="ED8936"/>
                </a:solidFill>
                <a:latin typeface="Calibri" pitchFamily="34" charset="0"/>
                <a:ea typeface="Calibri" pitchFamily="34" charset="-122"/>
                <a:cs typeface="Calibri" pitchFamily="34" charset="-120"/>
              </a:rPr>
              <a:t>Understanding Research Databases &amp; Journal Quality Indicators</a:t>
            </a:r>
            <a:endParaRPr lang="en-US" sz="2000" dirty="0"/>
          </a:p>
        </p:txBody>
      </p:sp>
      <p:sp>
        <p:nvSpPr>
          <p:cNvPr id="6" name="Text 4"/>
          <p:cNvSpPr/>
          <p:nvPr/>
        </p:nvSpPr>
        <p:spPr>
          <a:xfrm>
            <a:off x="548640" y="3017520"/>
            <a:ext cx="8046720" cy="411480"/>
          </a:xfrm>
          <a:prstGeom prst="rect">
            <a:avLst/>
          </a:prstGeom>
          <a:noFill/>
        </p:spPr>
        <p:txBody>
          <a:bodyPr wrap="square" rtlCol="0" anchor="ctr"/>
          <a:lstStyle/>
          <a:p>
            <a:pPr marL="0" indent="0">
              <a:buNone/>
            </a:pPr>
            <a:r>
              <a:rPr lang="en-US" sz="3000" b="1" dirty="0">
                <a:solidFill>
                  <a:srgbClr val="ED8936"/>
                </a:solidFill>
                <a:latin typeface="Calibri" pitchFamily="34" charset="0"/>
                <a:ea typeface="Calibri" pitchFamily="34" charset="-122"/>
                <a:cs typeface="Calibri" pitchFamily="34" charset="-120"/>
              </a:rPr>
              <a:t>Dr. Shailesh Sivan</a:t>
            </a:r>
            <a:endParaRPr lang="en-US" sz="3000" dirty="0"/>
          </a:p>
        </p:txBody>
      </p:sp>
      <p:sp>
        <p:nvSpPr>
          <p:cNvPr id="7" name="Text 5"/>
          <p:cNvSpPr/>
          <p:nvPr/>
        </p:nvSpPr>
        <p:spPr>
          <a:xfrm>
            <a:off x="548640" y="3520440"/>
            <a:ext cx="8046720" cy="274320"/>
          </a:xfrm>
          <a:prstGeom prst="rect">
            <a:avLst/>
          </a:prstGeom>
          <a:noFill/>
        </p:spPr>
        <p:txBody>
          <a:bodyPr wrap="square" rtlCol="0" anchor="ctr"/>
          <a:lstStyle/>
          <a:p>
            <a:pPr marL="0" indent="0">
              <a:buNone/>
            </a:pPr>
            <a:r>
              <a:rPr lang="en-US" sz="1200" dirty="0">
                <a:solidFill>
                  <a:srgbClr val="718096"/>
                </a:solidFill>
                <a:latin typeface="Calibri" pitchFamily="34" charset="0"/>
                <a:ea typeface="Calibri" pitchFamily="34" charset="-122"/>
                <a:cs typeface="Calibri" pitchFamily="34" charset="-120"/>
              </a:rPr>
              <a:t>Engineering Faculty Workshop  •  Research Writing Series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ED8936"/>
          </a:solidFill>
        </p:spPr>
      </p:sp>
      <p:sp>
        <p:nvSpPr>
          <p:cNvPr id="3" name="Text 1"/>
          <p:cNvSpPr/>
          <p:nvPr/>
        </p:nvSpPr>
        <p:spPr>
          <a:xfrm>
            <a:off x="548640" y="164592"/>
            <a:ext cx="8046720" cy="457200"/>
          </a:xfrm>
          <a:prstGeom prst="rect">
            <a:avLst/>
          </a:prstGeom>
          <a:noFill/>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Why Journal Metrics Matter</a:t>
            </a:r>
            <a:endParaRPr lang="en-US" sz="4000" dirty="0"/>
          </a:p>
        </p:txBody>
      </p:sp>
      <p:sp>
        <p:nvSpPr>
          <p:cNvPr id="4" name="Text 2"/>
          <p:cNvSpPr/>
          <p:nvPr/>
        </p:nvSpPr>
        <p:spPr>
          <a:xfrm>
            <a:off x="548640" y="914400"/>
            <a:ext cx="8046720" cy="256032"/>
          </a:xfrm>
          <a:prstGeom prst="rect">
            <a:avLst/>
          </a:prstGeom>
          <a:noFill/>
        </p:spPr>
        <p:txBody>
          <a:bodyPr wrap="square" rtlCol="0" anchor="ctr"/>
          <a:lstStyle/>
          <a:p>
            <a:pPr marL="0" indent="0">
              <a:buNone/>
            </a:pPr>
            <a:r>
              <a:rPr lang="en-US" sz="1100" b="1" dirty="0">
                <a:solidFill>
                  <a:srgbClr val="ED8936"/>
                </a:solidFill>
                <a:latin typeface="Calibri" pitchFamily="34" charset="0"/>
                <a:ea typeface="Calibri" pitchFamily="34" charset="-122"/>
                <a:cs typeface="Calibri" pitchFamily="34" charset="-120"/>
              </a:rPr>
              <a:t>Understand journal quality, impact, and credibility for your research</a:t>
            </a:r>
            <a:endParaRPr lang="en-US" sz="1100" dirty="0"/>
          </a:p>
        </p:txBody>
      </p:sp>
      <p:sp>
        <p:nvSpPr>
          <p:cNvPr id="5" name="Shape 3"/>
          <p:cNvSpPr/>
          <p:nvPr/>
        </p:nvSpPr>
        <p:spPr>
          <a:xfrm>
            <a:off x="548640" y="1280160"/>
            <a:ext cx="3886200" cy="3200400"/>
          </a:xfrm>
          <a:prstGeom prst="rect">
            <a:avLst/>
          </a:prstGeom>
          <a:solidFill>
            <a:srgbClr val="F7FAFC"/>
          </a:solidFill>
          <a:ln w="25400">
            <a:solidFill>
              <a:srgbClr val="ED8936"/>
            </a:solidFill>
            <a:prstDash val="solid"/>
          </a:ln>
        </p:spPr>
      </p:sp>
      <p:sp>
        <p:nvSpPr>
          <p:cNvPr id="6" name="Text 4"/>
          <p:cNvSpPr/>
          <p:nvPr/>
        </p:nvSpPr>
        <p:spPr>
          <a:xfrm>
            <a:off x="685800" y="1417320"/>
            <a:ext cx="3611880" cy="228600"/>
          </a:xfrm>
          <a:prstGeom prst="rect">
            <a:avLst/>
          </a:prstGeom>
          <a:noFill/>
        </p:spPr>
        <p:txBody>
          <a:bodyPr wrap="square" rtlCol="0" anchor="ctr"/>
          <a:lstStyle/>
          <a:p>
            <a:pPr marL="0" indent="0">
              <a:buNone/>
            </a:pPr>
            <a:r>
              <a:rPr lang="en-US" sz="1100" b="1" dirty="0">
                <a:solidFill>
                  <a:srgbClr val="ED8936"/>
                </a:solidFill>
                <a:latin typeface="Calibri" pitchFamily="34" charset="0"/>
                <a:ea typeface="Calibri" pitchFamily="34" charset="-122"/>
                <a:cs typeface="Calibri" pitchFamily="34" charset="-120"/>
              </a:rPr>
              <a:t>For Literature Review</a:t>
            </a:r>
            <a:endParaRPr lang="en-US" sz="1100" dirty="0"/>
          </a:p>
        </p:txBody>
      </p:sp>
      <p:sp>
        <p:nvSpPr>
          <p:cNvPr id="7" name="Text 5"/>
          <p:cNvSpPr/>
          <p:nvPr/>
        </p:nvSpPr>
        <p:spPr>
          <a:xfrm>
            <a:off x="777240" y="1755648"/>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Guide source selection &amp; priority</a:t>
            </a:r>
            <a:endParaRPr lang="en-US" sz="1000" dirty="0"/>
          </a:p>
        </p:txBody>
      </p:sp>
      <p:sp>
        <p:nvSpPr>
          <p:cNvPr id="8" name="Text 6"/>
          <p:cNvSpPr/>
          <p:nvPr/>
        </p:nvSpPr>
        <p:spPr>
          <a:xfrm>
            <a:off x="777240" y="2066544"/>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Identify most influential papers</a:t>
            </a:r>
            <a:endParaRPr lang="en-US" sz="1000" dirty="0"/>
          </a:p>
        </p:txBody>
      </p:sp>
      <p:sp>
        <p:nvSpPr>
          <p:cNvPr id="9" name="Text 7"/>
          <p:cNvSpPr/>
          <p:nvPr/>
        </p:nvSpPr>
        <p:spPr>
          <a:xfrm>
            <a:off x="777240" y="2377440"/>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Ensure quality baseline (peer-reviewed)</a:t>
            </a:r>
            <a:endParaRPr lang="en-US" sz="1000" dirty="0"/>
          </a:p>
        </p:txBody>
      </p:sp>
      <p:sp>
        <p:nvSpPr>
          <p:cNvPr id="10" name="Text 8"/>
          <p:cNvSpPr/>
          <p:nvPr/>
        </p:nvSpPr>
        <p:spPr>
          <a:xfrm>
            <a:off x="777240" y="2688336"/>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Balance citation across sources</a:t>
            </a:r>
            <a:endParaRPr lang="en-US" sz="1000" dirty="0"/>
          </a:p>
        </p:txBody>
      </p:sp>
      <p:sp>
        <p:nvSpPr>
          <p:cNvPr id="11" name="Text 9"/>
          <p:cNvSpPr/>
          <p:nvPr/>
        </p:nvSpPr>
        <p:spPr>
          <a:xfrm>
            <a:off x="777240" y="2999232"/>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Validate journal credibility</a:t>
            </a:r>
            <a:endParaRPr lang="en-US" sz="1000" dirty="0"/>
          </a:p>
        </p:txBody>
      </p:sp>
      <p:sp>
        <p:nvSpPr>
          <p:cNvPr id="12" name="Text 10"/>
          <p:cNvSpPr/>
          <p:nvPr/>
        </p:nvSpPr>
        <p:spPr>
          <a:xfrm>
            <a:off x="777240" y="3310128"/>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Avoid predatory publications</a:t>
            </a:r>
            <a:endParaRPr lang="en-US" sz="1000" dirty="0"/>
          </a:p>
        </p:txBody>
      </p:sp>
      <p:sp>
        <p:nvSpPr>
          <p:cNvPr id="13" name="Shape 11"/>
          <p:cNvSpPr/>
          <p:nvPr/>
        </p:nvSpPr>
        <p:spPr>
          <a:xfrm>
            <a:off x="4709160" y="1280160"/>
            <a:ext cx="3886200" cy="3200400"/>
          </a:xfrm>
          <a:prstGeom prst="rect">
            <a:avLst/>
          </a:prstGeom>
          <a:solidFill>
            <a:srgbClr val="F7FAFC"/>
          </a:solidFill>
          <a:ln w="25400">
            <a:solidFill>
              <a:srgbClr val="ED8936"/>
            </a:solidFill>
            <a:prstDash val="solid"/>
          </a:ln>
        </p:spPr>
      </p:sp>
      <p:sp>
        <p:nvSpPr>
          <p:cNvPr id="14" name="Text 12"/>
          <p:cNvSpPr/>
          <p:nvPr/>
        </p:nvSpPr>
        <p:spPr>
          <a:xfrm>
            <a:off x="4846320" y="1417320"/>
            <a:ext cx="3474720" cy="228600"/>
          </a:xfrm>
          <a:prstGeom prst="rect">
            <a:avLst/>
          </a:prstGeom>
          <a:noFill/>
        </p:spPr>
        <p:txBody>
          <a:bodyPr wrap="square" rtlCol="0" anchor="ctr"/>
          <a:lstStyle/>
          <a:p>
            <a:pPr marL="0" indent="0">
              <a:buNone/>
            </a:pPr>
            <a:r>
              <a:rPr lang="en-US" sz="1100" b="1" dirty="0">
                <a:solidFill>
                  <a:srgbClr val="ED8936"/>
                </a:solidFill>
                <a:latin typeface="Calibri" pitchFamily="34" charset="0"/>
                <a:ea typeface="Calibri" pitchFamily="34" charset="-122"/>
                <a:cs typeface="Calibri" pitchFamily="34" charset="-120"/>
              </a:rPr>
              <a:t>For Publishing Decisions</a:t>
            </a:r>
            <a:endParaRPr lang="en-US" sz="1100" dirty="0"/>
          </a:p>
        </p:txBody>
      </p:sp>
      <p:sp>
        <p:nvSpPr>
          <p:cNvPr id="15" name="Text 13"/>
          <p:cNvSpPr/>
          <p:nvPr/>
        </p:nvSpPr>
        <p:spPr>
          <a:xfrm>
            <a:off x="4846320" y="1755648"/>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Choose target journals strategically</a:t>
            </a:r>
            <a:endParaRPr lang="en-US" sz="1000" dirty="0"/>
          </a:p>
        </p:txBody>
      </p:sp>
      <p:sp>
        <p:nvSpPr>
          <p:cNvPr id="16" name="Text 14"/>
          <p:cNvSpPr/>
          <p:nvPr/>
        </p:nvSpPr>
        <p:spPr>
          <a:xfrm>
            <a:off x="4846320" y="2066544"/>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Assess journal ranking &amp; prestige</a:t>
            </a:r>
            <a:endParaRPr lang="en-US" sz="1000" dirty="0"/>
          </a:p>
        </p:txBody>
      </p:sp>
      <p:sp>
        <p:nvSpPr>
          <p:cNvPr id="17" name="Text 15"/>
          <p:cNvSpPr/>
          <p:nvPr/>
        </p:nvSpPr>
        <p:spPr>
          <a:xfrm>
            <a:off x="4846320" y="2377440"/>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Benchmark against peer journals</a:t>
            </a:r>
            <a:endParaRPr lang="en-US" sz="1000" dirty="0"/>
          </a:p>
        </p:txBody>
      </p:sp>
      <p:sp>
        <p:nvSpPr>
          <p:cNvPr id="18" name="Text 16"/>
          <p:cNvSpPr/>
          <p:nvPr/>
        </p:nvSpPr>
        <p:spPr>
          <a:xfrm>
            <a:off x="4846320" y="2688336"/>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Evaluate citation potential</a:t>
            </a:r>
            <a:endParaRPr lang="en-US" sz="1000" dirty="0"/>
          </a:p>
        </p:txBody>
      </p:sp>
      <p:sp>
        <p:nvSpPr>
          <p:cNvPr id="19" name="Text 17"/>
          <p:cNvSpPr/>
          <p:nvPr/>
        </p:nvSpPr>
        <p:spPr>
          <a:xfrm>
            <a:off x="4846320" y="2999232"/>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Measure audience reach</a:t>
            </a:r>
            <a:endParaRPr lang="en-US" sz="1000" dirty="0"/>
          </a:p>
        </p:txBody>
      </p:sp>
      <p:sp>
        <p:nvSpPr>
          <p:cNvPr id="20" name="Text 18"/>
          <p:cNvSpPr/>
          <p:nvPr/>
        </p:nvSpPr>
        <p:spPr>
          <a:xfrm>
            <a:off x="4846320" y="3310128"/>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Track publication impact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ECC94B"/>
          </a:solidFill>
        </p:spPr>
      </p:sp>
      <p:sp>
        <p:nvSpPr>
          <p:cNvPr id="3" name="Text 1"/>
          <p:cNvSpPr/>
          <p:nvPr/>
        </p:nvSpPr>
        <p:spPr>
          <a:xfrm>
            <a:off x="548640" y="164592"/>
            <a:ext cx="8046720" cy="457200"/>
          </a:xfrm>
          <a:prstGeom prst="rect">
            <a:avLst/>
          </a:prstGeom>
          <a:noFill/>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Impact Factor (IF) Explained</a:t>
            </a:r>
            <a:endParaRPr lang="en-US" sz="4000" dirty="0"/>
          </a:p>
        </p:txBody>
      </p:sp>
      <p:sp>
        <p:nvSpPr>
          <p:cNvPr id="4" name="Text 2"/>
          <p:cNvSpPr/>
          <p:nvPr/>
        </p:nvSpPr>
        <p:spPr>
          <a:xfrm>
            <a:off x="548640" y="914400"/>
            <a:ext cx="8046720" cy="256032"/>
          </a:xfrm>
          <a:prstGeom prst="rect">
            <a:avLst/>
          </a:prstGeom>
          <a:noFill/>
        </p:spPr>
        <p:txBody>
          <a:bodyPr wrap="square" rtlCol="0" anchor="ctr"/>
          <a:lstStyle/>
          <a:p>
            <a:pPr marL="0" indent="0">
              <a:buNone/>
            </a:pPr>
            <a:r>
              <a:rPr lang="en-US" sz="1100" b="1" dirty="0">
                <a:solidFill>
                  <a:srgbClr val="ECC94B"/>
                </a:solidFill>
                <a:latin typeface="Calibri" pitchFamily="34" charset="0"/>
                <a:ea typeface="Calibri" pitchFamily="34" charset="-122"/>
                <a:cs typeface="Calibri" pitchFamily="34" charset="-120"/>
              </a:rPr>
              <a:t>Most widely used journal metric | Published annually by Clarivate Analytics</a:t>
            </a:r>
            <a:endParaRPr lang="en-US" sz="1100" dirty="0"/>
          </a:p>
        </p:txBody>
      </p:sp>
      <p:sp>
        <p:nvSpPr>
          <p:cNvPr id="5" name="Shape 3"/>
          <p:cNvSpPr/>
          <p:nvPr/>
        </p:nvSpPr>
        <p:spPr>
          <a:xfrm>
            <a:off x="548640" y="1280160"/>
            <a:ext cx="8046720" cy="548640"/>
          </a:xfrm>
          <a:prstGeom prst="rect">
            <a:avLst/>
          </a:prstGeom>
          <a:solidFill>
            <a:srgbClr val="F7FAFC"/>
          </a:solidFill>
          <a:ln w="25400">
            <a:solidFill>
              <a:srgbClr val="ECC94B"/>
            </a:solidFill>
            <a:prstDash val="solid"/>
          </a:ln>
        </p:spPr>
      </p:sp>
      <p:sp>
        <p:nvSpPr>
          <p:cNvPr id="6" name="Text 4"/>
          <p:cNvSpPr/>
          <p:nvPr/>
        </p:nvSpPr>
        <p:spPr>
          <a:xfrm>
            <a:off x="731520" y="1371600"/>
            <a:ext cx="7680960" cy="365760"/>
          </a:xfrm>
          <a:prstGeom prst="rect">
            <a:avLst/>
          </a:prstGeom>
          <a:noFill/>
        </p:spPr>
        <p:txBody>
          <a:bodyPr wrap="square" rtlCol="0" anchor="ctr"/>
          <a:lstStyle/>
          <a:p>
            <a:pPr marL="0" indent="0">
              <a:buNone/>
            </a:pPr>
            <a:r>
              <a:rPr lang="en-US" sz="1100" i="1" dirty="0">
                <a:solidFill>
                  <a:srgbClr val="2D3748"/>
                </a:solidFill>
                <a:latin typeface="Calibri" pitchFamily="34" charset="0"/>
                <a:ea typeface="Calibri" pitchFamily="34" charset="-122"/>
                <a:cs typeface="Calibri" pitchFamily="34" charset="-120"/>
              </a:rPr>
              <a:t>Definition: Average number of citations received by articles published in a journal during a 2-year period</a:t>
            </a:r>
            <a:endParaRPr lang="en-US" sz="1100" dirty="0"/>
          </a:p>
        </p:txBody>
      </p:sp>
      <p:sp>
        <p:nvSpPr>
          <p:cNvPr id="7" name="Shape 5"/>
          <p:cNvSpPr/>
          <p:nvPr/>
        </p:nvSpPr>
        <p:spPr>
          <a:xfrm>
            <a:off x="548640" y="1965960"/>
            <a:ext cx="8046720" cy="1005840"/>
          </a:xfrm>
          <a:prstGeom prst="rect">
            <a:avLst/>
          </a:prstGeom>
          <a:solidFill>
            <a:srgbClr val="FFFFFF"/>
          </a:solidFill>
          <a:ln w="12700">
            <a:solidFill>
              <a:srgbClr val="ECC94B"/>
            </a:solidFill>
            <a:prstDash val="solid"/>
          </a:ln>
        </p:spPr>
      </p:sp>
      <p:sp>
        <p:nvSpPr>
          <p:cNvPr id="8" name="Text 6"/>
          <p:cNvSpPr/>
          <p:nvPr/>
        </p:nvSpPr>
        <p:spPr>
          <a:xfrm>
            <a:off x="685800" y="2057400"/>
            <a:ext cx="7772400" cy="182880"/>
          </a:xfrm>
          <a:prstGeom prst="rect">
            <a:avLst/>
          </a:prstGeom>
          <a:noFill/>
        </p:spPr>
        <p:txBody>
          <a:bodyPr wrap="square" rtlCol="0" anchor="ctr"/>
          <a:lstStyle/>
          <a:p>
            <a:pPr marL="0" indent="0">
              <a:buNone/>
            </a:pPr>
            <a:r>
              <a:rPr lang="en-US" sz="1100" b="1" dirty="0">
                <a:solidFill>
                  <a:srgbClr val="ECC94B"/>
                </a:solidFill>
                <a:latin typeface="Calibri" pitchFamily="34" charset="0"/>
                <a:ea typeface="Calibri" pitchFamily="34" charset="-122"/>
                <a:cs typeface="Calibri" pitchFamily="34" charset="-120"/>
              </a:rPr>
              <a:t>How It's Calculated</a:t>
            </a:r>
            <a:endParaRPr lang="en-US" sz="1100" dirty="0"/>
          </a:p>
        </p:txBody>
      </p:sp>
      <p:sp>
        <p:nvSpPr>
          <p:cNvPr id="9" name="Text 7"/>
          <p:cNvSpPr/>
          <p:nvPr/>
        </p:nvSpPr>
        <p:spPr>
          <a:xfrm>
            <a:off x="731520" y="2304288"/>
            <a:ext cx="7680960" cy="164592"/>
          </a:xfrm>
          <a:prstGeom prst="rect">
            <a:avLst/>
          </a:prstGeom>
          <a:noFill/>
        </p:spPr>
        <p:txBody>
          <a:bodyPr wrap="square"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IF = Citations in year (n) to articles from years (n-2) and (n-1)</a:t>
            </a:r>
            <a:endParaRPr lang="en-US" sz="1000" dirty="0"/>
          </a:p>
        </p:txBody>
      </p:sp>
      <p:sp>
        <p:nvSpPr>
          <p:cNvPr id="10" name="Text 8"/>
          <p:cNvSpPr/>
          <p:nvPr/>
        </p:nvSpPr>
        <p:spPr>
          <a:xfrm>
            <a:off x="731520" y="2514600"/>
            <a:ext cx="7680960" cy="164592"/>
          </a:xfrm>
          <a:prstGeom prst="rect">
            <a:avLst/>
          </a:prstGeom>
          <a:noFill/>
        </p:spPr>
        <p:txBody>
          <a:bodyPr wrap="square"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 Total number of articles published in years (n-2) and (n-1)</a:t>
            </a:r>
            <a:endParaRPr lang="en-US" sz="1000" dirty="0"/>
          </a:p>
        </p:txBody>
      </p:sp>
      <p:sp>
        <p:nvSpPr>
          <p:cNvPr id="11" name="Shape 9"/>
          <p:cNvSpPr/>
          <p:nvPr/>
        </p:nvSpPr>
        <p:spPr>
          <a:xfrm>
            <a:off x="548640" y="3063240"/>
            <a:ext cx="3886200" cy="1051560"/>
          </a:xfrm>
          <a:prstGeom prst="rect">
            <a:avLst/>
          </a:prstGeom>
          <a:solidFill>
            <a:srgbClr val="F7FAFC"/>
          </a:solidFill>
        </p:spPr>
      </p:sp>
      <p:sp>
        <p:nvSpPr>
          <p:cNvPr id="12" name="Text 10"/>
          <p:cNvSpPr/>
          <p:nvPr/>
        </p:nvSpPr>
        <p:spPr>
          <a:xfrm>
            <a:off x="685800" y="3154680"/>
            <a:ext cx="3611880" cy="164592"/>
          </a:xfrm>
          <a:prstGeom prst="rect">
            <a:avLst/>
          </a:prstGeom>
          <a:noFill/>
        </p:spPr>
        <p:txBody>
          <a:bodyPr wrap="square" rtlCol="0" anchor="ctr"/>
          <a:lstStyle/>
          <a:p>
            <a:pPr marL="0" indent="0">
              <a:buNone/>
            </a:pPr>
            <a:r>
              <a:rPr lang="en-US" sz="1000" b="1" dirty="0">
                <a:solidFill>
                  <a:srgbClr val="ECC94B"/>
                </a:solidFill>
                <a:latin typeface="Calibri" pitchFamily="34" charset="0"/>
                <a:ea typeface="Calibri" pitchFamily="34" charset="-122"/>
                <a:cs typeface="Calibri" pitchFamily="34" charset="-120"/>
              </a:rPr>
              <a:t>Example</a:t>
            </a:r>
            <a:endParaRPr lang="en-US" sz="1000" dirty="0"/>
          </a:p>
        </p:txBody>
      </p:sp>
      <p:sp>
        <p:nvSpPr>
          <p:cNvPr id="13" name="Text 11"/>
          <p:cNvSpPr/>
          <p:nvPr/>
        </p:nvSpPr>
        <p:spPr>
          <a:xfrm>
            <a:off x="685800" y="3364992"/>
            <a:ext cx="3611880" cy="256032"/>
          </a:xfrm>
          <a:prstGeom prst="rect">
            <a:avLst/>
          </a:prstGeom>
          <a:noFill/>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IF 5.2 = Articles averaged 5.2 citations in 2-year period</a:t>
            </a:r>
            <a:endParaRPr lang="en-US" sz="950" dirty="0"/>
          </a:p>
        </p:txBody>
      </p:sp>
      <p:sp>
        <p:nvSpPr>
          <p:cNvPr id="14" name="Text 12"/>
          <p:cNvSpPr/>
          <p:nvPr/>
        </p:nvSpPr>
        <p:spPr>
          <a:xfrm>
            <a:off x="685800" y="3657600"/>
            <a:ext cx="3611880" cy="228600"/>
          </a:xfrm>
          <a:prstGeom prst="rect">
            <a:avLst/>
          </a:prstGeom>
          <a:noFill/>
        </p:spPr>
        <p:txBody>
          <a:bodyPr wrap="square" rtlCol="0" anchor="ctr"/>
          <a:lstStyle/>
          <a:p>
            <a:pPr marL="0" indent="0">
              <a:buNone/>
            </a:pPr>
            <a:r>
              <a:rPr lang="en-US" sz="950" i="1" dirty="0">
                <a:solidFill>
                  <a:srgbClr val="2D3748"/>
                </a:solidFill>
                <a:latin typeface="Calibri" pitchFamily="34" charset="0"/>
                <a:ea typeface="Calibri" pitchFamily="34" charset="-122"/>
                <a:cs typeface="Calibri" pitchFamily="34" charset="-120"/>
              </a:rPr>
              <a:t>Higher IF = More influential journal</a:t>
            </a:r>
            <a:endParaRPr lang="en-US" sz="950" dirty="0"/>
          </a:p>
        </p:txBody>
      </p:sp>
      <p:sp>
        <p:nvSpPr>
          <p:cNvPr id="15" name="Shape 13"/>
          <p:cNvSpPr/>
          <p:nvPr/>
        </p:nvSpPr>
        <p:spPr>
          <a:xfrm>
            <a:off x="4709160" y="3063240"/>
            <a:ext cx="3886200" cy="1051560"/>
          </a:xfrm>
          <a:prstGeom prst="rect">
            <a:avLst/>
          </a:prstGeom>
          <a:solidFill>
            <a:srgbClr val="F7FAFC"/>
          </a:solidFill>
        </p:spPr>
      </p:sp>
      <p:sp>
        <p:nvSpPr>
          <p:cNvPr id="16" name="Text 14"/>
          <p:cNvSpPr/>
          <p:nvPr/>
        </p:nvSpPr>
        <p:spPr>
          <a:xfrm>
            <a:off x="4846320" y="3154680"/>
            <a:ext cx="3474720" cy="164592"/>
          </a:xfrm>
          <a:prstGeom prst="rect">
            <a:avLst/>
          </a:prstGeom>
          <a:noFill/>
        </p:spPr>
        <p:txBody>
          <a:bodyPr wrap="square" rtlCol="0" anchor="ctr"/>
          <a:lstStyle/>
          <a:p>
            <a:pPr marL="0" indent="0">
              <a:buNone/>
            </a:pPr>
            <a:r>
              <a:rPr lang="en-US" sz="1000" b="1" dirty="0">
                <a:solidFill>
                  <a:srgbClr val="ECC94B"/>
                </a:solidFill>
                <a:latin typeface="Calibri" pitchFamily="34" charset="0"/>
                <a:ea typeface="Calibri" pitchFamily="34" charset="-122"/>
                <a:cs typeface="Calibri" pitchFamily="34" charset="-120"/>
              </a:rPr>
              <a:t>Interpretation</a:t>
            </a:r>
            <a:endParaRPr lang="en-US" sz="1000" dirty="0"/>
          </a:p>
        </p:txBody>
      </p:sp>
      <p:sp>
        <p:nvSpPr>
          <p:cNvPr id="17" name="Text 15"/>
          <p:cNvSpPr/>
          <p:nvPr/>
        </p:nvSpPr>
        <p:spPr>
          <a:xfrm>
            <a:off x="4846320" y="3364992"/>
            <a:ext cx="3474720" cy="118872"/>
          </a:xfrm>
          <a:prstGeom prst="rect">
            <a:avLst/>
          </a:prstGeom>
          <a:noFill/>
        </p:spPr>
        <p:txBody>
          <a:bodyPr wrap="square" rtlCol="0" anchor="ctr"/>
          <a:lstStyle/>
          <a:p>
            <a:pPr marL="0" indent="0">
              <a:buNone/>
            </a:pPr>
            <a:r>
              <a:rPr lang="en-US" sz="900" dirty="0">
                <a:solidFill>
                  <a:srgbClr val="2D3748"/>
                </a:solidFill>
                <a:latin typeface="Calibri" pitchFamily="34" charset="0"/>
                <a:ea typeface="Calibri" pitchFamily="34" charset="-122"/>
                <a:cs typeface="Calibri" pitchFamily="34" charset="-120"/>
              </a:rPr>
              <a:t>IF &lt; 1.0: Low impact</a:t>
            </a:r>
            <a:endParaRPr lang="en-US" sz="900" dirty="0"/>
          </a:p>
        </p:txBody>
      </p:sp>
      <p:sp>
        <p:nvSpPr>
          <p:cNvPr id="18" name="Text 16"/>
          <p:cNvSpPr/>
          <p:nvPr/>
        </p:nvSpPr>
        <p:spPr>
          <a:xfrm>
            <a:off x="4846320" y="3520440"/>
            <a:ext cx="3474720" cy="182880"/>
          </a:xfrm>
          <a:prstGeom prst="rect">
            <a:avLst/>
          </a:prstGeom>
          <a:noFill/>
        </p:spPr>
        <p:txBody>
          <a:bodyPr wrap="square" rtlCol="0" anchor="ctr"/>
          <a:lstStyle/>
          <a:p>
            <a:pPr marL="0" indent="0">
              <a:buNone/>
            </a:pPr>
            <a:r>
              <a:rPr lang="en-US" sz="900" dirty="0">
                <a:solidFill>
                  <a:srgbClr val="2D3748"/>
                </a:solidFill>
                <a:latin typeface="Calibri" pitchFamily="34" charset="0"/>
                <a:ea typeface="Calibri" pitchFamily="34" charset="-122"/>
                <a:cs typeface="Calibri" pitchFamily="34" charset="-120"/>
              </a:rPr>
              <a:t>IF 1.0-3.0: Moderate impact | IF 3.0-5.0: Good | IF &gt; 5.0: High</a:t>
            </a:r>
            <a:endParaRPr lang="en-US" sz="900" dirty="0"/>
          </a:p>
        </p:txBody>
      </p:sp>
      <p:sp>
        <p:nvSpPr>
          <p:cNvPr id="19" name="Text 17"/>
          <p:cNvSpPr/>
          <p:nvPr/>
        </p:nvSpPr>
        <p:spPr>
          <a:xfrm>
            <a:off x="4846320" y="3767455"/>
            <a:ext cx="3474720" cy="228600"/>
          </a:xfrm>
          <a:prstGeom prst="rect">
            <a:avLst/>
          </a:prstGeom>
          <a:noFill/>
        </p:spPr>
        <p:txBody>
          <a:bodyPr wrap="square" rtlCol="0" anchor="ctr"/>
          <a:lstStyle/>
          <a:p>
            <a:pPr marL="0" indent="0">
              <a:buNone/>
            </a:pPr>
            <a:r>
              <a:rPr lang="en-US" sz="900" i="1" dirty="0">
                <a:solidFill>
                  <a:srgbClr val="A0AEC0"/>
                </a:solidFill>
                <a:latin typeface="Calibri" pitchFamily="34" charset="0"/>
                <a:ea typeface="Calibri" pitchFamily="34" charset="-122"/>
                <a:cs typeface="Calibri" pitchFamily="34" charset="-120"/>
              </a:rPr>
              <a:t>Published in: Journal Citation Reports (JCR)</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38B2AC"/>
          </a:solidFill>
        </p:spPr>
      </p:sp>
      <p:sp>
        <p:nvSpPr>
          <p:cNvPr id="3" name="Text 1"/>
          <p:cNvSpPr/>
          <p:nvPr/>
        </p:nvSpPr>
        <p:spPr>
          <a:xfrm>
            <a:off x="548640" y="164592"/>
            <a:ext cx="8046720" cy="457200"/>
          </a:xfrm>
          <a:prstGeom prst="rect">
            <a:avLst/>
          </a:prstGeom>
          <a:noFill/>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Other Key Journal Metrics</a:t>
            </a:r>
            <a:endParaRPr lang="en-US" sz="4000" dirty="0"/>
          </a:p>
        </p:txBody>
      </p:sp>
      <p:sp>
        <p:nvSpPr>
          <p:cNvPr id="4" name="Text 2"/>
          <p:cNvSpPr/>
          <p:nvPr/>
        </p:nvSpPr>
        <p:spPr>
          <a:xfrm>
            <a:off x="548640" y="914400"/>
            <a:ext cx="8046720" cy="256032"/>
          </a:xfrm>
          <a:prstGeom prst="rect">
            <a:avLst/>
          </a:prstGeom>
          <a:noFill/>
        </p:spPr>
        <p:txBody>
          <a:bodyPr wrap="square" rtlCol="0" anchor="ctr"/>
          <a:lstStyle/>
          <a:p>
            <a:pPr marL="0" indent="0">
              <a:buNone/>
            </a:pPr>
            <a:r>
              <a:rPr lang="en-US" sz="1100" b="1" dirty="0">
                <a:solidFill>
                  <a:srgbClr val="38B2AC"/>
                </a:solidFill>
                <a:latin typeface="Calibri" pitchFamily="34" charset="0"/>
                <a:ea typeface="Calibri" pitchFamily="34" charset="-122"/>
                <a:cs typeface="Calibri" pitchFamily="34" charset="-120"/>
              </a:rPr>
              <a:t>Beyond Impact Factor: Multiple metrics for comprehensive evaluation</a:t>
            </a:r>
            <a:endParaRPr lang="en-US" sz="1100" dirty="0"/>
          </a:p>
        </p:txBody>
      </p:sp>
      <p:sp>
        <p:nvSpPr>
          <p:cNvPr id="5" name="Shape 3"/>
          <p:cNvSpPr/>
          <p:nvPr/>
        </p:nvSpPr>
        <p:spPr>
          <a:xfrm>
            <a:off x="548640" y="1280160"/>
            <a:ext cx="8046720" cy="658368"/>
          </a:xfrm>
          <a:prstGeom prst="rect">
            <a:avLst/>
          </a:prstGeom>
          <a:solidFill>
            <a:srgbClr val="F7FAFC"/>
          </a:solidFill>
        </p:spPr>
      </p:sp>
      <p:sp>
        <p:nvSpPr>
          <p:cNvPr id="6" name="Text 4"/>
          <p:cNvSpPr/>
          <p:nvPr/>
        </p:nvSpPr>
        <p:spPr>
          <a:xfrm>
            <a:off x="685800" y="1353312"/>
            <a:ext cx="1097280" cy="164592"/>
          </a:xfrm>
          <a:prstGeom prst="rect">
            <a:avLst/>
          </a:prstGeom>
          <a:noFill/>
        </p:spPr>
        <p:txBody>
          <a:bodyPr wrap="square" rtlCol="0" anchor="ctr"/>
          <a:lstStyle/>
          <a:p>
            <a:pPr marL="0" indent="0">
              <a:buNone/>
            </a:pPr>
            <a:r>
              <a:rPr lang="en-US" sz="1000" b="1" dirty="0">
                <a:solidFill>
                  <a:srgbClr val="38B2AC"/>
                </a:solidFill>
                <a:latin typeface="Calibri" pitchFamily="34" charset="0"/>
                <a:ea typeface="Calibri" pitchFamily="34" charset="-122"/>
                <a:cs typeface="Calibri" pitchFamily="34" charset="-120"/>
              </a:rPr>
              <a:t>CiteScore</a:t>
            </a:r>
            <a:endParaRPr lang="en-US" sz="1000" dirty="0"/>
          </a:p>
        </p:txBody>
      </p:sp>
      <p:sp>
        <p:nvSpPr>
          <p:cNvPr id="7" name="Text 5"/>
          <p:cNvSpPr/>
          <p:nvPr/>
        </p:nvSpPr>
        <p:spPr>
          <a:xfrm>
            <a:off x="1920240" y="1353312"/>
            <a:ext cx="6400800" cy="502920"/>
          </a:xfrm>
          <a:prstGeom prst="rect">
            <a:avLst/>
          </a:prstGeom>
          <a:noFill/>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Average citations per article over 4-year period. Broader than IF (includes all article types). Published by Scopus/Elsevier. Range: 0-100+</a:t>
            </a:r>
            <a:endParaRPr lang="en-US" sz="950" dirty="0"/>
          </a:p>
        </p:txBody>
      </p:sp>
      <p:sp>
        <p:nvSpPr>
          <p:cNvPr id="8" name="Shape 6"/>
          <p:cNvSpPr/>
          <p:nvPr/>
        </p:nvSpPr>
        <p:spPr>
          <a:xfrm>
            <a:off x="548640" y="2057400"/>
            <a:ext cx="8046720" cy="658368"/>
          </a:xfrm>
          <a:prstGeom prst="rect">
            <a:avLst/>
          </a:prstGeom>
          <a:solidFill>
            <a:srgbClr val="FFFFFF"/>
          </a:solidFill>
        </p:spPr>
      </p:sp>
      <p:sp>
        <p:nvSpPr>
          <p:cNvPr id="9" name="Text 7"/>
          <p:cNvSpPr/>
          <p:nvPr/>
        </p:nvSpPr>
        <p:spPr>
          <a:xfrm>
            <a:off x="685800" y="2130552"/>
            <a:ext cx="1097280" cy="164592"/>
          </a:xfrm>
          <a:prstGeom prst="rect">
            <a:avLst/>
          </a:prstGeom>
          <a:noFill/>
        </p:spPr>
        <p:txBody>
          <a:bodyPr wrap="square" rtlCol="0" anchor="ctr"/>
          <a:lstStyle/>
          <a:p>
            <a:pPr marL="0" indent="0">
              <a:buNone/>
            </a:pPr>
            <a:r>
              <a:rPr lang="en-US" sz="1000" b="1" dirty="0">
                <a:solidFill>
                  <a:srgbClr val="38B2AC"/>
                </a:solidFill>
                <a:latin typeface="Calibri" pitchFamily="34" charset="0"/>
                <a:ea typeface="Calibri" pitchFamily="34" charset="-122"/>
                <a:cs typeface="Calibri" pitchFamily="34" charset="-120"/>
              </a:rPr>
              <a:t>Quartile Ranking</a:t>
            </a:r>
            <a:endParaRPr lang="en-US" sz="1000" dirty="0"/>
          </a:p>
        </p:txBody>
      </p:sp>
      <p:sp>
        <p:nvSpPr>
          <p:cNvPr id="10" name="Text 8"/>
          <p:cNvSpPr/>
          <p:nvPr/>
        </p:nvSpPr>
        <p:spPr>
          <a:xfrm>
            <a:off x="1920240" y="2130552"/>
            <a:ext cx="6400800" cy="502920"/>
          </a:xfrm>
          <a:prstGeom prst="rect">
            <a:avLst/>
          </a:prstGeom>
          <a:noFill/>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Q1 (top 25%), Q2 (26-50%), Q3 (51-75%), Q4 (76-100%). Rank within category. Q1 most prestigious. Different ranking from WoS vs Scopus</a:t>
            </a:r>
            <a:endParaRPr lang="en-US" sz="950" dirty="0"/>
          </a:p>
        </p:txBody>
      </p:sp>
      <p:sp>
        <p:nvSpPr>
          <p:cNvPr id="11" name="Shape 9"/>
          <p:cNvSpPr/>
          <p:nvPr/>
        </p:nvSpPr>
        <p:spPr>
          <a:xfrm>
            <a:off x="548640" y="2834640"/>
            <a:ext cx="8046720" cy="658368"/>
          </a:xfrm>
          <a:prstGeom prst="rect">
            <a:avLst/>
          </a:prstGeom>
          <a:solidFill>
            <a:srgbClr val="F7FAFC"/>
          </a:solidFill>
        </p:spPr>
      </p:sp>
      <p:sp>
        <p:nvSpPr>
          <p:cNvPr id="12" name="Text 10"/>
          <p:cNvSpPr/>
          <p:nvPr/>
        </p:nvSpPr>
        <p:spPr>
          <a:xfrm>
            <a:off x="685800" y="2907792"/>
            <a:ext cx="1097280" cy="164592"/>
          </a:xfrm>
          <a:prstGeom prst="rect">
            <a:avLst/>
          </a:prstGeom>
          <a:noFill/>
        </p:spPr>
        <p:txBody>
          <a:bodyPr wrap="square" rtlCol="0" anchor="ctr"/>
          <a:lstStyle/>
          <a:p>
            <a:pPr marL="0" indent="0">
              <a:buNone/>
            </a:pPr>
            <a:r>
              <a:rPr lang="en-US" sz="1000" b="1" dirty="0">
                <a:solidFill>
                  <a:srgbClr val="38B2AC"/>
                </a:solidFill>
                <a:latin typeface="Calibri" pitchFamily="34" charset="0"/>
                <a:ea typeface="Calibri" pitchFamily="34" charset="-122"/>
                <a:cs typeface="Calibri" pitchFamily="34" charset="-120"/>
              </a:rPr>
              <a:t>H-Index (Hirsch Index)</a:t>
            </a:r>
            <a:endParaRPr lang="en-US" sz="1000" dirty="0"/>
          </a:p>
        </p:txBody>
      </p:sp>
      <p:sp>
        <p:nvSpPr>
          <p:cNvPr id="13" name="Text 11"/>
          <p:cNvSpPr/>
          <p:nvPr/>
        </p:nvSpPr>
        <p:spPr>
          <a:xfrm>
            <a:off x="1920240" y="2907792"/>
            <a:ext cx="6400800" cy="502920"/>
          </a:xfrm>
          <a:prstGeom prst="rect">
            <a:avLst/>
          </a:prstGeom>
          <a:noFill/>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Journal has H-index of X if X articles are cited X+ times. H-Index 50 = 50 articles cited 50+ times. More stable than IF. Used for journals &amp; authors</a:t>
            </a:r>
            <a:endParaRPr lang="en-US" sz="950" dirty="0"/>
          </a:p>
        </p:txBody>
      </p:sp>
      <p:sp>
        <p:nvSpPr>
          <p:cNvPr id="14" name="Shape 12"/>
          <p:cNvSpPr/>
          <p:nvPr/>
        </p:nvSpPr>
        <p:spPr>
          <a:xfrm>
            <a:off x="548640" y="3611880"/>
            <a:ext cx="8046720" cy="658368"/>
          </a:xfrm>
          <a:prstGeom prst="rect">
            <a:avLst/>
          </a:prstGeom>
          <a:solidFill>
            <a:srgbClr val="FFFFFF"/>
          </a:solidFill>
        </p:spPr>
      </p:sp>
      <p:sp>
        <p:nvSpPr>
          <p:cNvPr id="15" name="Text 13"/>
          <p:cNvSpPr/>
          <p:nvPr/>
        </p:nvSpPr>
        <p:spPr>
          <a:xfrm>
            <a:off x="685800" y="3685032"/>
            <a:ext cx="1097280" cy="164592"/>
          </a:xfrm>
          <a:prstGeom prst="rect">
            <a:avLst/>
          </a:prstGeom>
          <a:noFill/>
        </p:spPr>
        <p:txBody>
          <a:bodyPr wrap="square" rtlCol="0" anchor="ctr"/>
          <a:lstStyle/>
          <a:p>
            <a:pPr marL="0" indent="0">
              <a:buNone/>
            </a:pPr>
            <a:r>
              <a:rPr lang="en-US" sz="1000" b="1" dirty="0">
                <a:solidFill>
                  <a:srgbClr val="38B2AC"/>
                </a:solidFill>
                <a:latin typeface="Calibri" pitchFamily="34" charset="0"/>
                <a:ea typeface="Calibri" pitchFamily="34" charset="-122"/>
                <a:cs typeface="Calibri" pitchFamily="34" charset="-120"/>
              </a:rPr>
              <a:t>SJR (Scimago Journal Rank)</a:t>
            </a:r>
            <a:endParaRPr lang="en-US" sz="1000" dirty="0"/>
          </a:p>
        </p:txBody>
      </p:sp>
      <p:sp>
        <p:nvSpPr>
          <p:cNvPr id="16" name="Text 14"/>
          <p:cNvSpPr/>
          <p:nvPr/>
        </p:nvSpPr>
        <p:spPr>
          <a:xfrm>
            <a:off x="1920240" y="3685032"/>
            <a:ext cx="6400800" cy="502920"/>
          </a:xfrm>
          <a:prstGeom prst="rect">
            <a:avLst/>
          </a:prstGeom>
          <a:noFill/>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Weighted citation ranking (prestigious journals weight more). Considers journal prestige. Free public access. Updated quarterly. Better for comparison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48BB78"/>
          </a:solidFill>
        </p:spPr>
      </p:sp>
      <p:sp>
        <p:nvSpPr>
          <p:cNvPr id="3" name="Text 1"/>
          <p:cNvSpPr/>
          <p:nvPr/>
        </p:nvSpPr>
        <p:spPr>
          <a:xfrm>
            <a:off x="548640" y="164592"/>
            <a:ext cx="8046720" cy="457200"/>
          </a:xfrm>
          <a:prstGeom prst="rect">
            <a:avLst/>
          </a:prstGeom>
          <a:noFill/>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Abstracting &amp; Indexing Services</a:t>
            </a:r>
            <a:endParaRPr lang="en-US" sz="4000" dirty="0"/>
          </a:p>
        </p:txBody>
      </p:sp>
      <p:sp>
        <p:nvSpPr>
          <p:cNvPr id="4" name="Text 2"/>
          <p:cNvSpPr/>
          <p:nvPr/>
        </p:nvSpPr>
        <p:spPr>
          <a:xfrm>
            <a:off x="548640" y="914400"/>
            <a:ext cx="8046720" cy="274320"/>
          </a:xfrm>
          <a:prstGeom prst="rect">
            <a:avLst/>
          </a:prstGeom>
          <a:noFill/>
        </p:spPr>
        <p:txBody>
          <a:bodyPr wrap="square" rtlCol="0" anchor="ctr"/>
          <a:lstStyle/>
          <a:p>
            <a:pPr marL="0" indent="0">
              <a:buNone/>
            </a:pPr>
            <a:r>
              <a:rPr lang="en-US" sz="1100" b="1" dirty="0">
                <a:solidFill>
                  <a:srgbClr val="48BB78"/>
                </a:solidFill>
                <a:latin typeface="Calibri" pitchFamily="34" charset="0"/>
                <a:ea typeface="Calibri" pitchFamily="34" charset="-122"/>
                <a:cs typeface="Calibri" pitchFamily="34" charset="-120"/>
              </a:rPr>
              <a:t>Major databases that organize, catalog, and provide access to research literature</a:t>
            </a:r>
            <a:endParaRPr lang="en-US" sz="1100" dirty="0"/>
          </a:p>
        </p:txBody>
      </p:sp>
      <p:sp>
        <p:nvSpPr>
          <p:cNvPr id="5" name="Shape 3"/>
          <p:cNvSpPr/>
          <p:nvPr/>
        </p:nvSpPr>
        <p:spPr>
          <a:xfrm>
            <a:off x="548640" y="1280160"/>
            <a:ext cx="3886200" cy="1591310"/>
          </a:xfrm>
          <a:prstGeom prst="rect">
            <a:avLst/>
          </a:prstGeom>
          <a:solidFill>
            <a:srgbClr val="F7FAFC"/>
          </a:solidFill>
          <a:ln w="25400">
            <a:solidFill>
              <a:srgbClr val="48BB78"/>
            </a:solidFill>
            <a:prstDash val="solid"/>
          </a:ln>
        </p:spPr>
      </p:sp>
      <p:sp>
        <p:nvSpPr>
          <p:cNvPr id="6" name="Text 4"/>
          <p:cNvSpPr/>
          <p:nvPr/>
        </p:nvSpPr>
        <p:spPr>
          <a:xfrm>
            <a:off x="685800" y="1417320"/>
            <a:ext cx="3611880" cy="201168"/>
          </a:xfrm>
          <a:prstGeom prst="rect">
            <a:avLst/>
          </a:prstGeom>
          <a:noFill/>
        </p:spPr>
        <p:txBody>
          <a:bodyPr wrap="square" rtlCol="0" anchor="ctr"/>
          <a:lstStyle/>
          <a:p>
            <a:pPr marL="0" indent="0">
              <a:buNone/>
            </a:pPr>
            <a:r>
              <a:rPr lang="en-US" sz="1100" b="1" dirty="0">
                <a:solidFill>
                  <a:srgbClr val="48BB78"/>
                </a:solidFill>
                <a:latin typeface="Calibri" pitchFamily="34" charset="0"/>
                <a:ea typeface="Calibri" pitchFamily="34" charset="-122"/>
                <a:cs typeface="Calibri" pitchFamily="34" charset="-120"/>
              </a:rPr>
              <a:t>What Abstracting Services Do</a:t>
            </a:r>
            <a:endParaRPr lang="en-US" sz="1100" dirty="0"/>
          </a:p>
        </p:txBody>
      </p:sp>
      <p:sp>
        <p:nvSpPr>
          <p:cNvPr id="7" name="Text 5"/>
          <p:cNvSpPr/>
          <p:nvPr/>
        </p:nvSpPr>
        <p:spPr>
          <a:xfrm>
            <a:off x="777240" y="1709928"/>
            <a:ext cx="3520440" cy="228600"/>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Create summaries (abstracts) of articles</a:t>
            </a:r>
            <a:endParaRPr lang="en-US" sz="1000" dirty="0"/>
          </a:p>
        </p:txBody>
      </p:sp>
      <p:sp>
        <p:nvSpPr>
          <p:cNvPr id="8" name="Text 6"/>
          <p:cNvSpPr/>
          <p:nvPr/>
        </p:nvSpPr>
        <p:spPr>
          <a:xfrm>
            <a:off x="777240" y="1965960"/>
            <a:ext cx="3520440" cy="228600"/>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Index key terms &amp; MeSH headings</a:t>
            </a:r>
            <a:endParaRPr lang="en-US" sz="1000" dirty="0"/>
          </a:p>
        </p:txBody>
      </p:sp>
      <p:sp>
        <p:nvSpPr>
          <p:cNvPr id="9" name="Text 7"/>
          <p:cNvSpPr/>
          <p:nvPr/>
        </p:nvSpPr>
        <p:spPr>
          <a:xfrm>
            <a:off x="777240" y="2221992"/>
            <a:ext cx="3520440" cy="228600"/>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Organize by subject &amp; discipline</a:t>
            </a:r>
            <a:endParaRPr lang="en-US" sz="1000" dirty="0"/>
          </a:p>
        </p:txBody>
      </p:sp>
      <p:sp>
        <p:nvSpPr>
          <p:cNvPr id="10" name="Text 8"/>
          <p:cNvSpPr/>
          <p:nvPr/>
        </p:nvSpPr>
        <p:spPr>
          <a:xfrm>
            <a:off x="777240" y="2478024"/>
            <a:ext cx="3520440" cy="228600"/>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Enable searchable database access</a:t>
            </a:r>
            <a:endParaRPr lang="en-US" sz="1000" dirty="0"/>
          </a:p>
        </p:txBody>
      </p:sp>
      <p:sp>
        <p:nvSpPr>
          <p:cNvPr id="11" name="Shape 9"/>
          <p:cNvSpPr/>
          <p:nvPr/>
        </p:nvSpPr>
        <p:spPr>
          <a:xfrm>
            <a:off x="4709160" y="1280160"/>
            <a:ext cx="3886200" cy="1591945"/>
          </a:xfrm>
          <a:prstGeom prst="rect">
            <a:avLst/>
          </a:prstGeom>
          <a:solidFill>
            <a:srgbClr val="F7FAFC"/>
          </a:solidFill>
          <a:ln w="25400">
            <a:solidFill>
              <a:srgbClr val="48BB78"/>
            </a:solidFill>
            <a:prstDash val="solid"/>
          </a:ln>
        </p:spPr>
      </p:sp>
      <p:sp>
        <p:nvSpPr>
          <p:cNvPr id="12" name="Text 10"/>
          <p:cNvSpPr/>
          <p:nvPr/>
        </p:nvSpPr>
        <p:spPr>
          <a:xfrm>
            <a:off x="4846320" y="1417320"/>
            <a:ext cx="3474720" cy="201168"/>
          </a:xfrm>
          <a:prstGeom prst="rect">
            <a:avLst/>
          </a:prstGeom>
          <a:noFill/>
        </p:spPr>
        <p:txBody>
          <a:bodyPr wrap="square" rtlCol="0" anchor="ctr"/>
          <a:lstStyle/>
          <a:p>
            <a:pPr marL="0" indent="0">
              <a:buNone/>
            </a:pPr>
            <a:r>
              <a:rPr lang="en-US" sz="1100" b="1" dirty="0">
                <a:solidFill>
                  <a:srgbClr val="48BB78"/>
                </a:solidFill>
                <a:latin typeface="Calibri" pitchFamily="34" charset="0"/>
                <a:ea typeface="Calibri" pitchFamily="34" charset="-122"/>
                <a:cs typeface="Calibri" pitchFamily="34" charset="-120"/>
              </a:rPr>
              <a:t>Why They Matter</a:t>
            </a:r>
            <a:endParaRPr lang="en-US" sz="1100" dirty="0"/>
          </a:p>
        </p:txBody>
      </p:sp>
      <p:sp>
        <p:nvSpPr>
          <p:cNvPr id="13" name="Text 11"/>
          <p:cNvSpPr/>
          <p:nvPr/>
        </p:nvSpPr>
        <p:spPr>
          <a:xfrm>
            <a:off x="4846320" y="1709928"/>
            <a:ext cx="3474720" cy="228600"/>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Discover research systematically</a:t>
            </a:r>
            <a:endParaRPr lang="en-US" sz="1000" dirty="0"/>
          </a:p>
        </p:txBody>
      </p:sp>
      <p:sp>
        <p:nvSpPr>
          <p:cNvPr id="14" name="Text 12"/>
          <p:cNvSpPr/>
          <p:nvPr/>
        </p:nvSpPr>
        <p:spPr>
          <a:xfrm>
            <a:off x="4846320" y="1965960"/>
            <a:ext cx="3474720" cy="228600"/>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Verify journal credibility (indexed)</a:t>
            </a:r>
            <a:endParaRPr lang="en-US" sz="1000" dirty="0"/>
          </a:p>
        </p:txBody>
      </p:sp>
      <p:sp>
        <p:nvSpPr>
          <p:cNvPr id="15" name="Text 13"/>
          <p:cNvSpPr/>
          <p:nvPr/>
        </p:nvSpPr>
        <p:spPr>
          <a:xfrm>
            <a:off x="4846320" y="2221992"/>
            <a:ext cx="3474720" cy="228600"/>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Track citations &amp; impact</a:t>
            </a:r>
            <a:endParaRPr lang="en-US" sz="1000" dirty="0"/>
          </a:p>
        </p:txBody>
      </p:sp>
      <p:sp>
        <p:nvSpPr>
          <p:cNvPr id="16" name="Text 14"/>
          <p:cNvSpPr/>
          <p:nvPr/>
        </p:nvSpPr>
        <p:spPr>
          <a:xfrm>
            <a:off x="4846320" y="2478024"/>
            <a:ext cx="3474720" cy="228600"/>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Access peer-reviewed content</a:t>
            </a:r>
            <a:endParaRPr lang="en-US" sz="1000" dirty="0"/>
          </a:p>
        </p:txBody>
      </p:sp>
      <p:sp>
        <p:nvSpPr>
          <p:cNvPr id="17" name="Shape 15"/>
          <p:cNvSpPr/>
          <p:nvPr/>
        </p:nvSpPr>
        <p:spPr>
          <a:xfrm>
            <a:off x="548640" y="3109595"/>
            <a:ext cx="8046720" cy="1370965"/>
          </a:xfrm>
          <a:prstGeom prst="rect">
            <a:avLst/>
          </a:prstGeom>
          <a:solidFill>
            <a:srgbClr val="FFFFFF"/>
          </a:solidFill>
          <a:ln w="12700">
            <a:solidFill>
              <a:srgbClr val="48BB78"/>
            </a:solidFill>
            <a:prstDash val="solid"/>
          </a:ln>
        </p:spPr>
      </p:sp>
      <p:sp>
        <p:nvSpPr>
          <p:cNvPr id="18" name="Text 16"/>
          <p:cNvSpPr/>
          <p:nvPr/>
        </p:nvSpPr>
        <p:spPr>
          <a:xfrm>
            <a:off x="685800" y="3218815"/>
            <a:ext cx="7772400" cy="201168"/>
          </a:xfrm>
          <a:prstGeom prst="rect">
            <a:avLst/>
          </a:prstGeom>
          <a:noFill/>
        </p:spPr>
        <p:txBody>
          <a:bodyPr wrap="square" rtlCol="0" anchor="ctr"/>
          <a:lstStyle/>
          <a:p>
            <a:pPr marL="0" indent="0">
              <a:buNone/>
            </a:pPr>
            <a:r>
              <a:rPr lang="en-US" sz="1100" b="1" dirty="0">
                <a:solidFill>
                  <a:srgbClr val="48BB78"/>
                </a:solidFill>
                <a:latin typeface="Calibri" pitchFamily="34" charset="0"/>
                <a:ea typeface="Calibri" pitchFamily="34" charset="-122"/>
                <a:cs typeface="Calibri" pitchFamily="34" charset="-120"/>
              </a:rPr>
              <a:t>Major Indexing Databases</a:t>
            </a:r>
            <a:endParaRPr lang="en-US" sz="1100" dirty="0"/>
          </a:p>
        </p:txBody>
      </p:sp>
      <p:sp>
        <p:nvSpPr>
          <p:cNvPr id="19" name="Text 17"/>
          <p:cNvSpPr/>
          <p:nvPr/>
        </p:nvSpPr>
        <p:spPr>
          <a:xfrm>
            <a:off x="777240" y="3493135"/>
            <a:ext cx="7589520" cy="201168"/>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Web of Science (WoS) | Scopus | PubMed/MEDLINE | Google Scholar</a:t>
            </a:r>
            <a:endParaRPr lang="en-US" sz="1000" dirty="0"/>
          </a:p>
        </p:txBody>
      </p:sp>
      <p:sp>
        <p:nvSpPr>
          <p:cNvPr id="20" name="Text 18"/>
          <p:cNvSpPr/>
          <p:nvPr/>
        </p:nvSpPr>
        <p:spPr>
          <a:xfrm>
            <a:off x="777240" y="3767455"/>
            <a:ext cx="7589520" cy="201168"/>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ERIC (Education) | IEEE Xplore (Engineering) | PsycINFO (Psychology)</a:t>
            </a:r>
            <a:endParaRPr lang="en-US" sz="1000" dirty="0"/>
          </a:p>
        </p:txBody>
      </p:sp>
      <p:sp>
        <p:nvSpPr>
          <p:cNvPr id="21" name="Text 19"/>
          <p:cNvSpPr/>
          <p:nvPr/>
        </p:nvSpPr>
        <p:spPr>
          <a:xfrm>
            <a:off x="777240" y="4041775"/>
            <a:ext cx="7589520" cy="201168"/>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Chemical Abstracts | Compendex | CAB Abstracts | Embase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D3748"/>
          </a:solidFill>
        </p:spPr>
      </p:sp>
      <p:sp>
        <p:nvSpPr>
          <p:cNvPr id="3" name="Text 1"/>
          <p:cNvSpPr/>
          <p:nvPr/>
        </p:nvSpPr>
        <p:spPr>
          <a:xfrm>
            <a:off x="239395" y="164465"/>
            <a:ext cx="7959725" cy="457200"/>
          </a:xfrm>
          <a:prstGeom prst="rect">
            <a:avLst/>
          </a:prstGeom>
          <a:noFill/>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Major Databases : A Comparison</a:t>
            </a:r>
            <a:endParaRPr lang="en-US" sz="3600" dirty="0"/>
          </a:p>
        </p:txBody>
      </p:sp>
      <p:sp>
        <p:nvSpPr>
          <p:cNvPr id="4" name="Shape 2"/>
          <p:cNvSpPr/>
          <p:nvPr/>
        </p:nvSpPr>
        <p:spPr>
          <a:xfrm>
            <a:off x="548640" y="1389380"/>
            <a:ext cx="8046720" cy="566928"/>
          </a:xfrm>
          <a:prstGeom prst="rect">
            <a:avLst/>
          </a:prstGeom>
          <a:solidFill>
            <a:srgbClr val="F7FAFC"/>
          </a:solidFill>
        </p:spPr>
      </p:sp>
      <p:sp>
        <p:nvSpPr>
          <p:cNvPr id="5" name="Text 3"/>
          <p:cNvSpPr/>
          <p:nvPr/>
        </p:nvSpPr>
        <p:spPr>
          <a:xfrm>
            <a:off x="640080" y="1425956"/>
            <a:ext cx="1280160" cy="146304"/>
          </a:xfrm>
          <a:prstGeom prst="rect">
            <a:avLst/>
          </a:prstGeom>
          <a:noFill/>
        </p:spPr>
        <p:txBody>
          <a:bodyPr wrap="square" rtlCol="0" anchor="ctr"/>
          <a:lstStyle/>
          <a:p>
            <a:pPr marL="0" indent="0">
              <a:buNone/>
            </a:pPr>
            <a:r>
              <a:rPr lang="en-US" sz="950" b="1" dirty="0">
                <a:solidFill>
                  <a:srgbClr val="2D3748"/>
                </a:solidFill>
                <a:latin typeface="Calibri" pitchFamily="34" charset="0"/>
                <a:ea typeface="Calibri" pitchFamily="34" charset="-122"/>
                <a:cs typeface="Calibri" pitchFamily="34" charset="-120"/>
              </a:rPr>
              <a:t>Web of Science</a:t>
            </a:r>
            <a:endParaRPr lang="en-US" sz="950" dirty="0"/>
          </a:p>
        </p:txBody>
      </p:sp>
      <p:sp>
        <p:nvSpPr>
          <p:cNvPr id="6" name="Text 4"/>
          <p:cNvSpPr/>
          <p:nvPr/>
        </p:nvSpPr>
        <p:spPr>
          <a:xfrm>
            <a:off x="2011680" y="1425956"/>
            <a:ext cx="1097280" cy="146304"/>
          </a:xfrm>
          <a:prstGeom prst="rect">
            <a:avLst/>
          </a:prstGeom>
          <a:noFill/>
        </p:spPr>
        <p:txBody>
          <a:bodyPr wrap="square" rtlCol="0" anchor="ctr"/>
          <a:lstStyle/>
          <a:p>
            <a:pPr marL="0" indent="0">
              <a:buNone/>
            </a:pPr>
            <a:r>
              <a:rPr lang="en-US" sz="850" dirty="0">
                <a:solidFill>
                  <a:srgbClr val="2D3748"/>
                </a:solidFill>
                <a:latin typeface="Calibri" pitchFamily="34" charset="0"/>
                <a:ea typeface="Calibri" pitchFamily="34" charset="-122"/>
                <a:cs typeface="Calibri" pitchFamily="34" charset="-120"/>
              </a:rPr>
              <a:t>21,000+ journals</a:t>
            </a:r>
            <a:endParaRPr lang="en-US" sz="850" dirty="0"/>
          </a:p>
        </p:txBody>
      </p:sp>
      <p:sp>
        <p:nvSpPr>
          <p:cNvPr id="7" name="Text 5"/>
          <p:cNvSpPr/>
          <p:nvPr/>
        </p:nvSpPr>
        <p:spPr>
          <a:xfrm>
            <a:off x="3246120" y="1425956"/>
            <a:ext cx="2011680" cy="146304"/>
          </a:xfrm>
          <a:prstGeom prst="rect">
            <a:avLst/>
          </a:prstGeom>
          <a:noFill/>
        </p:spPr>
        <p:txBody>
          <a:bodyPr wrap="square" rtlCol="0" anchor="ctr"/>
          <a:lstStyle/>
          <a:p>
            <a:pPr marL="0" indent="0">
              <a:buNone/>
            </a:pPr>
            <a:r>
              <a:rPr lang="en-US" sz="850" dirty="0">
                <a:solidFill>
                  <a:srgbClr val="2D3748"/>
                </a:solidFill>
                <a:latin typeface="Calibri" pitchFamily="34" charset="0"/>
                <a:ea typeface="Calibri" pitchFamily="34" charset="-122"/>
                <a:cs typeface="Calibri" pitchFamily="34" charset="-120"/>
              </a:rPr>
              <a:t>Gold standard, Citation tracking</a:t>
            </a:r>
            <a:endParaRPr lang="en-US" sz="850" dirty="0"/>
          </a:p>
        </p:txBody>
      </p:sp>
      <p:sp>
        <p:nvSpPr>
          <p:cNvPr id="8" name="Text 6"/>
          <p:cNvSpPr/>
          <p:nvPr/>
        </p:nvSpPr>
        <p:spPr>
          <a:xfrm>
            <a:off x="5394960" y="1425956"/>
            <a:ext cx="914400" cy="146304"/>
          </a:xfrm>
          <a:prstGeom prst="rect">
            <a:avLst/>
          </a:prstGeom>
          <a:noFill/>
        </p:spPr>
        <p:txBody>
          <a:bodyPr wrap="square" rtlCol="0" anchor="ctr"/>
          <a:lstStyle/>
          <a:p>
            <a:pPr marL="0" indent="0">
              <a:buNone/>
            </a:pPr>
            <a:r>
              <a:rPr lang="en-US" sz="850" b="1" dirty="0">
                <a:solidFill>
                  <a:srgbClr val="48BB78"/>
                </a:solidFill>
                <a:latin typeface="Calibri" pitchFamily="34" charset="0"/>
                <a:ea typeface="Calibri" pitchFamily="34" charset="-122"/>
                <a:cs typeface="Calibri" pitchFamily="34" charset="-120"/>
              </a:rPr>
              <a:t>Subscription</a:t>
            </a:r>
            <a:endParaRPr lang="en-US" sz="850" dirty="0"/>
          </a:p>
        </p:txBody>
      </p:sp>
      <p:sp>
        <p:nvSpPr>
          <p:cNvPr id="9" name="Text 7"/>
          <p:cNvSpPr/>
          <p:nvPr/>
        </p:nvSpPr>
        <p:spPr>
          <a:xfrm>
            <a:off x="6400800" y="1425956"/>
            <a:ext cx="2743200" cy="146304"/>
          </a:xfrm>
          <a:prstGeom prst="rect">
            <a:avLst/>
          </a:prstGeom>
          <a:noFill/>
        </p:spPr>
        <p:txBody>
          <a:bodyPr wrap="square" rtlCol="0" anchor="ctr"/>
          <a:lstStyle/>
          <a:p>
            <a:pPr marL="0" indent="0">
              <a:buNone/>
            </a:pPr>
            <a:r>
              <a:rPr lang="en-US" sz="850" dirty="0">
                <a:solidFill>
                  <a:srgbClr val="718096"/>
                </a:solidFill>
                <a:latin typeface="Calibri" pitchFamily="34" charset="0"/>
                <a:ea typeface="Calibri" pitchFamily="34" charset="-122"/>
                <a:cs typeface="Calibri" pitchFamily="34" charset="-120"/>
              </a:rPr>
              <a:t>Q1-Q4 journals</a:t>
            </a:r>
            <a:endParaRPr lang="en-US" sz="850" dirty="0"/>
          </a:p>
        </p:txBody>
      </p:sp>
      <p:sp>
        <p:nvSpPr>
          <p:cNvPr id="10" name="Shape 8"/>
          <p:cNvSpPr/>
          <p:nvPr/>
        </p:nvSpPr>
        <p:spPr>
          <a:xfrm>
            <a:off x="548640" y="2011172"/>
            <a:ext cx="8046720" cy="566928"/>
          </a:xfrm>
          <a:prstGeom prst="rect">
            <a:avLst/>
          </a:prstGeom>
          <a:solidFill>
            <a:srgbClr val="FFFFFF"/>
          </a:solidFill>
        </p:spPr>
      </p:sp>
      <p:sp>
        <p:nvSpPr>
          <p:cNvPr id="11" name="Text 9"/>
          <p:cNvSpPr/>
          <p:nvPr/>
        </p:nvSpPr>
        <p:spPr>
          <a:xfrm>
            <a:off x="640080" y="2047748"/>
            <a:ext cx="1280160" cy="146304"/>
          </a:xfrm>
          <a:prstGeom prst="rect">
            <a:avLst/>
          </a:prstGeom>
          <a:noFill/>
        </p:spPr>
        <p:txBody>
          <a:bodyPr wrap="square" rtlCol="0" anchor="ctr"/>
          <a:lstStyle/>
          <a:p>
            <a:pPr marL="0" indent="0">
              <a:buNone/>
            </a:pPr>
            <a:r>
              <a:rPr lang="en-US" sz="950" b="1" dirty="0">
                <a:solidFill>
                  <a:srgbClr val="2D3748"/>
                </a:solidFill>
                <a:latin typeface="Calibri" pitchFamily="34" charset="0"/>
                <a:ea typeface="Calibri" pitchFamily="34" charset="-122"/>
                <a:cs typeface="Calibri" pitchFamily="34" charset="-120"/>
              </a:rPr>
              <a:t>Scopus</a:t>
            </a:r>
            <a:endParaRPr lang="en-US" sz="950" dirty="0"/>
          </a:p>
        </p:txBody>
      </p:sp>
      <p:sp>
        <p:nvSpPr>
          <p:cNvPr id="12" name="Text 10"/>
          <p:cNvSpPr/>
          <p:nvPr/>
        </p:nvSpPr>
        <p:spPr>
          <a:xfrm>
            <a:off x="2011680" y="2047748"/>
            <a:ext cx="1097280" cy="146304"/>
          </a:xfrm>
          <a:prstGeom prst="rect">
            <a:avLst/>
          </a:prstGeom>
          <a:noFill/>
        </p:spPr>
        <p:txBody>
          <a:bodyPr wrap="square" rtlCol="0" anchor="ctr"/>
          <a:lstStyle/>
          <a:p>
            <a:pPr marL="0" indent="0">
              <a:buNone/>
            </a:pPr>
            <a:r>
              <a:rPr lang="en-US" sz="850" dirty="0">
                <a:solidFill>
                  <a:srgbClr val="2D3748"/>
                </a:solidFill>
                <a:latin typeface="Calibri" pitchFamily="34" charset="0"/>
                <a:ea typeface="Calibri" pitchFamily="34" charset="-122"/>
                <a:cs typeface="Calibri" pitchFamily="34" charset="-120"/>
              </a:rPr>
              <a:t>39,000+ journals</a:t>
            </a:r>
            <a:endParaRPr lang="en-US" sz="850" dirty="0"/>
          </a:p>
        </p:txBody>
      </p:sp>
      <p:sp>
        <p:nvSpPr>
          <p:cNvPr id="13" name="Text 11"/>
          <p:cNvSpPr/>
          <p:nvPr/>
        </p:nvSpPr>
        <p:spPr>
          <a:xfrm>
            <a:off x="3246120" y="2047748"/>
            <a:ext cx="2011680" cy="146304"/>
          </a:xfrm>
          <a:prstGeom prst="rect">
            <a:avLst/>
          </a:prstGeom>
          <a:noFill/>
        </p:spPr>
        <p:txBody>
          <a:bodyPr wrap="square" rtlCol="0" anchor="ctr"/>
          <a:lstStyle/>
          <a:p>
            <a:pPr marL="0" indent="0">
              <a:buNone/>
            </a:pPr>
            <a:r>
              <a:rPr lang="en-US" sz="850" dirty="0">
                <a:solidFill>
                  <a:srgbClr val="2D3748"/>
                </a:solidFill>
                <a:latin typeface="Calibri" pitchFamily="34" charset="0"/>
                <a:ea typeface="Calibri" pitchFamily="34" charset="-122"/>
                <a:cs typeface="Calibri" pitchFamily="34" charset="-120"/>
              </a:rPr>
              <a:t>Broadest coverage, CiteScore</a:t>
            </a:r>
            <a:endParaRPr lang="en-US" sz="850" dirty="0"/>
          </a:p>
        </p:txBody>
      </p:sp>
      <p:sp>
        <p:nvSpPr>
          <p:cNvPr id="14" name="Text 12"/>
          <p:cNvSpPr/>
          <p:nvPr/>
        </p:nvSpPr>
        <p:spPr>
          <a:xfrm>
            <a:off x="5394960" y="2047748"/>
            <a:ext cx="914400" cy="146304"/>
          </a:xfrm>
          <a:prstGeom prst="rect">
            <a:avLst/>
          </a:prstGeom>
          <a:noFill/>
        </p:spPr>
        <p:txBody>
          <a:bodyPr wrap="square" rtlCol="0" anchor="ctr"/>
          <a:lstStyle/>
          <a:p>
            <a:pPr marL="0" indent="0">
              <a:buNone/>
            </a:pPr>
            <a:r>
              <a:rPr lang="en-US" sz="850" b="1" dirty="0">
                <a:solidFill>
                  <a:srgbClr val="48BB78"/>
                </a:solidFill>
                <a:latin typeface="Calibri" pitchFamily="34" charset="0"/>
                <a:ea typeface="Calibri" pitchFamily="34" charset="-122"/>
                <a:cs typeface="Calibri" pitchFamily="34" charset="-120"/>
              </a:rPr>
              <a:t>Subscription</a:t>
            </a:r>
            <a:endParaRPr lang="en-US" sz="850" dirty="0"/>
          </a:p>
        </p:txBody>
      </p:sp>
      <p:sp>
        <p:nvSpPr>
          <p:cNvPr id="15" name="Text 13"/>
          <p:cNvSpPr/>
          <p:nvPr/>
        </p:nvSpPr>
        <p:spPr>
          <a:xfrm>
            <a:off x="6400800" y="2047748"/>
            <a:ext cx="2743200" cy="146304"/>
          </a:xfrm>
          <a:prstGeom prst="rect">
            <a:avLst/>
          </a:prstGeom>
          <a:noFill/>
        </p:spPr>
        <p:txBody>
          <a:bodyPr wrap="square" rtlCol="0" anchor="ctr"/>
          <a:lstStyle/>
          <a:p>
            <a:pPr marL="0" indent="0">
              <a:buNone/>
            </a:pPr>
            <a:r>
              <a:rPr lang="en-US" sz="850" dirty="0">
                <a:solidFill>
                  <a:srgbClr val="718096"/>
                </a:solidFill>
                <a:latin typeface="Calibri" pitchFamily="34" charset="0"/>
                <a:ea typeface="Calibri" pitchFamily="34" charset="-122"/>
                <a:cs typeface="Calibri" pitchFamily="34" charset="-120"/>
              </a:rPr>
              <a:t>More inclusive than WoS</a:t>
            </a:r>
            <a:endParaRPr lang="en-US" sz="850" dirty="0"/>
          </a:p>
        </p:txBody>
      </p:sp>
      <p:sp>
        <p:nvSpPr>
          <p:cNvPr id="16" name="Shape 14"/>
          <p:cNvSpPr/>
          <p:nvPr/>
        </p:nvSpPr>
        <p:spPr>
          <a:xfrm>
            <a:off x="548640" y="2632964"/>
            <a:ext cx="8046720" cy="566928"/>
          </a:xfrm>
          <a:prstGeom prst="rect">
            <a:avLst/>
          </a:prstGeom>
          <a:solidFill>
            <a:srgbClr val="F7FAFC"/>
          </a:solidFill>
        </p:spPr>
      </p:sp>
      <p:sp>
        <p:nvSpPr>
          <p:cNvPr id="17" name="Text 15"/>
          <p:cNvSpPr/>
          <p:nvPr/>
        </p:nvSpPr>
        <p:spPr>
          <a:xfrm>
            <a:off x="640080" y="2669540"/>
            <a:ext cx="1280160" cy="146304"/>
          </a:xfrm>
          <a:prstGeom prst="rect">
            <a:avLst/>
          </a:prstGeom>
          <a:noFill/>
        </p:spPr>
        <p:txBody>
          <a:bodyPr wrap="square" rtlCol="0" anchor="ctr"/>
          <a:lstStyle/>
          <a:p>
            <a:pPr marL="0" indent="0">
              <a:buNone/>
            </a:pPr>
            <a:r>
              <a:rPr lang="en-US" sz="950" b="1" dirty="0">
                <a:solidFill>
                  <a:srgbClr val="2D3748"/>
                </a:solidFill>
                <a:latin typeface="Calibri" pitchFamily="34" charset="0"/>
                <a:ea typeface="Calibri" pitchFamily="34" charset="-122"/>
                <a:cs typeface="Calibri" pitchFamily="34" charset="-120"/>
              </a:rPr>
              <a:t>PubMed</a:t>
            </a:r>
            <a:endParaRPr lang="en-US" sz="950" dirty="0"/>
          </a:p>
        </p:txBody>
      </p:sp>
      <p:sp>
        <p:nvSpPr>
          <p:cNvPr id="18" name="Text 16"/>
          <p:cNvSpPr/>
          <p:nvPr/>
        </p:nvSpPr>
        <p:spPr>
          <a:xfrm>
            <a:off x="2011680" y="2669540"/>
            <a:ext cx="1097280" cy="146304"/>
          </a:xfrm>
          <a:prstGeom prst="rect">
            <a:avLst/>
          </a:prstGeom>
          <a:noFill/>
        </p:spPr>
        <p:txBody>
          <a:bodyPr wrap="square" rtlCol="0" anchor="ctr"/>
          <a:lstStyle/>
          <a:p>
            <a:pPr marL="0" indent="0">
              <a:buNone/>
            </a:pPr>
            <a:r>
              <a:rPr lang="en-US" sz="850" dirty="0">
                <a:solidFill>
                  <a:srgbClr val="2D3748"/>
                </a:solidFill>
                <a:latin typeface="Calibri" pitchFamily="34" charset="0"/>
                <a:ea typeface="Calibri" pitchFamily="34" charset="-122"/>
                <a:cs typeface="Calibri" pitchFamily="34" charset="-120"/>
              </a:rPr>
              <a:t>36,000+ journals</a:t>
            </a:r>
            <a:endParaRPr lang="en-US" sz="850" dirty="0"/>
          </a:p>
        </p:txBody>
      </p:sp>
      <p:sp>
        <p:nvSpPr>
          <p:cNvPr id="19" name="Text 17"/>
          <p:cNvSpPr/>
          <p:nvPr/>
        </p:nvSpPr>
        <p:spPr>
          <a:xfrm>
            <a:off x="3246120" y="2669540"/>
            <a:ext cx="2011680" cy="146304"/>
          </a:xfrm>
          <a:prstGeom prst="rect">
            <a:avLst/>
          </a:prstGeom>
          <a:noFill/>
        </p:spPr>
        <p:txBody>
          <a:bodyPr wrap="square" rtlCol="0" anchor="ctr"/>
          <a:lstStyle/>
          <a:p>
            <a:pPr marL="0" indent="0">
              <a:buNone/>
            </a:pPr>
            <a:r>
              <a:rPr lang="en-US" sz="850" dirty="0">
                <a:solidFill>
                  <a:srgbClr val="2D3748"/>
                </a:solidFill>
                <a:latin typeface="Calibri" pitchFamily="34" charset="0"/>
                <a:ea typeface="Calibri" pitchFamily="34" charset="-122"/>
                <a:cs typeface="Calibri" pitchFamily="34" charset="-120"/>
              </a:rPr>
              <a:t>Free access, MeSH indexing</a:t>
            </a:r>
            <a:endParaRPr lang="en-US" sz="850" dirty="0"/>
          </a:p>
        </p:txBody>
      </p:sp>
      <p:sp>
        <p:nvSpPr>
          <p:cNvPr id="20" name="Text 18"/>
          <p:cNvSpPr/>
          <p:nvPr/>
        </p:nvSpPr>
        <p:spPr>
          <a:xfrm>
            <a:off x="5394960" y="2669540"/>
            <a:ext cx="914400" cy="146304"/>
          </a:xfrm>
          <a:prstGeom prst="rect">
            <a:avLst/>
          </a:prstGeom>
          <a:noFill/>
        </p:spPr>
        <p:txBody>
          <a:bodyPr wrap="square" rtlCol="0" anchor="ctr"/>
          <a:lstStyle/>
          <a:p>
            <a:pPr marL="0" indent="0">
              <a:buNone/>
            </a:pPr>
            <a:r>
              <a:rPr lang="en-US" sz="850" b="1" dirty="0">
                <a:solidFill>
                  <a:srgbClr val="48BB78"/>
                </a:solidFill>
                <a:latin typeface="Calibri" pitchFamily="34" charset="0"/>
                <a:ea typeface="Calibri" pitchFamily="34" charset="-122"/>
                <a:cs typeface="Calibri" pitchFamily="34" charset="-120"/>
              </a:rPr>
              <a:t>FREE</a:t>
            </a:r>
            <a:endParaRPr lang="en-US" sz="850" dirty="0"/>
          </a:p>
        </p:txBody>
      </p:sp>
      <p:sp>
        <p:nvSpPr>
          <p:cNvPr id="21" name="Text 19"/>
          <p:cNvSpPr/>
          <p:nvPr/>
        </p:nvSpPr>
        <p:spPr>
          <a:xfrm>
            <a:off x="6400800" y="2669540"/>
            <a:ext cx="2743200" cy="146304"/>
          </a:xfrm>
          <a:prstGeom prst="rect">
            <a:avLst/>
          </a:prstGeom>
          <a:noFill/>
        </p:spPr>
        <p:txBody>
          <a:bodyPr wrap="square" rtlCol="0" anchor="ctr"/>
          <a:lstStyle/>
          <a:p>
            <a:pPr marL="0" indent="0">
              <a:buNone/>
            </a:pPr>
            <a:r>
              <a:rPr lang="en-US" sz="850" dirty="0">
                <a:solidFill>
                  <a:srgbClr val="718096"/>
                </a:solidFill>
                <a:latin typeface="Calibri" pitchFamily="34" charset="0"/>
                <a:ea typeface="Calibri" pitchFamily="34" charset="-122"/>
                <a:cs typeface="Calibri" pitchFamily="34" charset="-120"/>
              </a:rPr>
              <a:t>Peer-reviewed focus</a:t>
            </a:r>
            <a:endParaRPr lang="en-US" sz="850" dirty="0"/>
          </a:p>
        </p:txBody>
      </p:sp>
      <p:sp>
        <p:nvSpPr>
          <p:cNvPr id="22" name="Shape 20"/>
          <p:cNvSpPr/>
          <p:nvPr/>
        </p:nvSpPr>
        <p:spPr>
          <a:xfrm>
            <a:off x="548640" y="3254756"/>
            <a:ext cx="8046720" cy="566928"/>
          </a:xfrm>
          <a:prstGeom prst="rect">
            <a:avLst/>
          </a:prstGeom>
          <a:solidFill>
            <a:srgbClr val="FFFFFF"/>
          </a:solidFill>
        </p:spPr>
      </p:sp>
      <p:sp>
        <p:nvSpPr>
          <p:cNvPr id="23" name="Text 21"/>
          <p:cNvSpPr/>
          <p:nvPr/>
        </p:nvSpPr>
        <p:spPr>
          <a:xfrm>
            <a:off x="640080" y="3291332"/>
            <a:ext cx="1280160" cy="146304"/>
          </a:xfrm>
          <a:prstGeom prst="rect">
            <a:avLst/>
          </a:prstGeom>
          <a:noFill/>
        </p:spPr>
        <p:txBody>
          <a:bodyPr wrap="square" rtlCol="0" anchor="ctr"/>
          <a:lstStyle/>
          <a:p>
            <a:pPr marL="0" indent="0">
              <a:buNone/>
            </a:pPr>
            <a:r>
              <a:rPr lang="en-US" sz="950" b="1" dirty="0">
                <a:solidFill>
                  <a:srgbClr val="2D3748"/>
                </a:solidFill>
                <a:latin typeface="Calibri" pitchFamily="34" charset="0"/>
                <a:ea typeface="Calibri" pitchFamily="34" charset="-122"/>
                <a:cs typeface="Calibri" pitchFamily="34" charset="-120"/>
              </a:rPr>
              <a:t>Google Scholar</a:t>
            </a:r>
            <a:endParaRPr lang="en-US" sz="950" dirty="0"/>
          </a:p>
        </p:txBody>
      </p:sp>
      <p:sp>
        <p:nvSpPr>
          <p:cNvPr id="24" name="Text 22"/>
          <p:cNvSpPr/>
          <p:nvPr/>
        </p:nvSpPr>
        <p:spPr>
          <a:xfrm>
            <a:off x="2011680" y="3291332"/>
            <a:ext cx="1097280" cy="146304"/>
          </a:xfrm>
          <a:prstGeom prst="rect">
            <a:avLst/>
          </a:prstGeom>
          <a:noFill/>
        </p:spPr>
        <p:txBody>
          <a:bodyPr wrap="square" rtlCol="0" anchor="ctr"/>
          <a:lstStyle/>
          <a:p>
            <a:pPr marL="0" indent="0">
              <a:buNone/>
            </a:pPr>
            <a:r>
              <a:rPr lang="en-US" sz="850" dirty="0">
                <a:solidFill>
                  <a:srgbClr val="2D3748"/>
                </a:solidFill>
                <a:latin typeface="Calibri" pitchFamily="34" charset="0"/>
                <a:ea typeface="Calibri" pitchFamily="34" charset="-122"/>
                <a:cs typeface="Calibri" pitchFamily="34" charset="-120"/>
              </a:rPr>
              <a:t>100M+ articles</a:t>
            </a:r>
            <a:endParaRPr lang="en-US" sz="850" dirty="0"/>
          </a:p>
        </p:txBody>
      </p:sp>
      <p:sp>
        <p:nvSpPr>
          <p:cNvPr id="25" name="Text 23"/>
          <p:cNvSpPr/>
          <p:nvPr/>
        </p:nvSpPr>
        <p:spPr>
          <a:xfrm>
            <a:off x="3246120" y="3291332"/>
            <a:ext cx="2011680" cy="146304"/>
          </a:xfrm>
          <a:prstGeom prst="rect">
            <a:avLst/>
          </a:prstGeom>
          <a:noFill/>
        </p:spPr>
        <p:txBody>
          <a:bodyPr wrap="square" rtlCol="0" anchor="ctr"/>
          <a:lstStyle/>
          <a:p>
            <a:pPr marL="0" indent="0">
              <a:buNone/>
            </a:pPr>
            <a:r>
              <a:rPr lang="en-US" sz="850" dirty="0">
                <a:solidFill>
                  <a:srgbClr val="2D3748"/>
                </a:solidFill>
                <a:latin typeface="Calibri" pitchFamily="34" charset="0"/>
                <a:ea typeface="Calibri" pitchFamily="34" charset="-122"/>
                <a:cs typeface="Calibri" pitchFamily="34" charset="-120"/>
              </a:rPr>
              <a:t>Free, easy discovery</a:t>
            </a:r>
            <a:endParaRPr lang="en-US" sz="850" dirty="0"/>
          </a:p>
        </p:txBody>
      </p:sp>
      <p:sp>
        <p:nvSpPr>
          <p:cNvPr id="26" name="Text 24"/>
          <p:cNvSpPr/>
          <p:nvPr/>
        </p:nvSpPr>
        <p:spPr>
          <a:xfrm>
            <a:off x="5394960" y="3291332"/>
            <a:ext cx="914400" cy="146304"/>
          </a:xfrm>
          <a:prstGeom prst="rect">
            <a:avLst/>
          </a:prstGeom>
          <a:noFill/>
        </p:spPr>
        <p:txBody>
          <a:bodyPr wrap="square" rtlCol="0" anchor="ctr"/>
          <a:lstStyle/>
          <a:p>
            <a:pPr marL="0" indent="0">
              <a:buNone/>
            </a:pPr>
            <a:r>
              <a:rPr lang="en-US" sz="850" b="1" dirty="0">
                <a:solidFill>
                  <a:srgbClr val="48BB78"/>
                </a:solidFill>
                <a:latin typeface="Calibri" pitchFamily="34" charset="0"/>
                <a:ea typeface="Calibri" pitchFamily="34" charset="-122"/>
                <a:cs typeface="Calibri" pitchFamily="34" charset="-120"/>
              </a:rPr>
              <a:t>FREE</a:t>
            </a:r>
            <a:endParaRPr lang="en-US" sz="850" dirty="0"/>
          </a:p>
        </p:txBody>
      </p:sp>
      <p:sp>
        <p:nvSpPr>
          <p:cNvPr id="27" name="Text 25"/>
          <p:cNvSpPr/>
          <p:nvPr/>
        </p:nvSpPr>
        <p:spPr>
          <a:xfrm>
            <a:off x="6400800" y="3291332"/>
            <a:ext cx="2743200" cy="146304"/>
          </a:xfrm>
          <a:prstGeom prst="rect">
            <a:avLst/>
          </a:prstGeom>
          <a:noFill/>
        </p:spPr>
        <p:txBody>
          <a:bodyPr wrap="square" rtlCol="0" anchor="ctr"/>
          <a:lstStyle/>
          <a:p>
            <a:pPr marL="0" indent="0">
              <a:buNone/>
            </a:pPr>
            <a:r>
              <a:rPr lang="en-US" sz="850" dirty="0">
                <a:solidFill>
                  <a:srgbClr val="718096"/>
                </a:solidFill>
                <a:latin typeface="Calibri" pitchFamily="34" charset="0"/>
                <a:ea typeface="Calibri" pitchFamily="34" charset="-122"/>
                <a:cs typeface="Calibri" pitchFamily="34" charset="-120"/>
              </a:rPr>
              <a:t>Broad but less controlled</a:t>
            </a:r>
            <a:endParaRPr lang="en-US" sz="850" dirty="0"/>
          </a:p>
        </p:txBody>
      </p:sp>
      <p:sp>
        <p:nvSpPr>
          <p:cNvPr id="28" name="Shape 26"/>
          <p:cNvSpPr/>
          <p:nvPr/>
        </p:nvSpPr>
        <p:spPr>
          <a:xfrm>
            <a:off x="548640" y="3876548"/>
            <a:ext cx="8046720" cy="566928"/>
          </a:xfrm>
          <a:prstGeom prst="rect">
            <a:avLst/>
          </a:prstGeom>
          <a:solidFill>
            <a:srgbClr val="F7FAFC"/>
          </a:solidFill>
        </p:spPr>
      </p:sp>
      <p:sp>
        <p:nvSpPr>
          <p:cNvPr id="29" name="Text 27"/>
          <p:cNvSpPr/>
          <p:nvPr/>
        </p:nvSpPr>
        <p:spPr>
          <a:xfrm>
            <a:off x="640080" y="3913124"/>
            <a:ext cx="1280160" cy="146304"/>
          </a:xfrm>
          <a:prstGeom prst="rect">
            <a:avLst/>
          </a:prstGeom>
          <a:noFill/>
        </p:spPr>
        <p:txBody>
          <a:bodyPr wrap="square" rtlCol="0" anchor="ctr"/>
          <a:lstStyle/>
          <a:p>
            <a:pPr marL="0" indent="0">
              <a:buNone/>
            </a:pPr>
            <a:r>
              <a:rPr lang="en-US" sz="950" b="1" dirty="0">
                <a:solidFill>
                  <a:srgbClr val="2D3748"/>
                </a:solidFill>
                <a:latin typeface="Calibri" pitchFamily="34" charset="0"/>
                <a:ea typeface="Calibri" pitchFamily="34" charset="-122"/>
                <a:cs typeface="Calibri" pitchFamily="34" charset="-120"/>
              </a:rPr>
              <a:t>ERIC</a:t>
            </a:r>
            <a:endParaRPr lang="en-US" sz="950" dirty="0"/>
          </a:p>
        </p:txBody>
      </p:sp>
      <p:sp>
        <p:nvSpPr>
          <p:cNvPr id="30" name="Text 28"/>
          <p:cNvSpPr/>
          <p:nvPr/>
        </p:nvSpPr>
        <p:spPr>
          <a:xfrm>
            <a:off x="2011680" y="3913124"/>
            <a:ext cx="1097280" cy="146304"/>
          </a:xfrm>
          <a:prstGeom prst="rect">
            <a:avLst/>
          </a:prstGeom>
          <a:noFill/>
        </p:spPr>
        <p:txBody>
          <a:bodyPr wrap="square" rtlCol="0" anchor="ctr"/>
          <a:lstStyle/>
          <a:p>
            <a:pPr marL="0" indent="0">
              <a:buNone/>
            </a:pPr>
            <a:r>
              <a:rPr lang="en-US" sz="850" dirty="0">
                <a:solidFill>
                  <a:srgbClr val="2D3748"/>
                </a:solidFill>
                <a:latin typeface="Calibri" pitchFamily="34" charset="0"/>
                <a:ea typeface="Calibri" pitchFamily="34" charset="-122"/>
                <a:cs typeface="Calibri" pitchFamily="34" charset="-120"/>
              </a:rPr>
              <a:t>1.4M+ records</a:t>
            </a:r>
            <a:endParaRPr lang="en-US" sz="850" dirty="0"/>
          </a:p>
        </p:txBody>
      </p:sp>
      <p:sp>
        <p:nvSpPr>
          <p:cNvPr id="31" name="Text 29"/>
          <p:cNvSpPr/>
          <p:nvPr/>
        </p:nvSpPr>
        <p:spPr>
          <a:xfrm>
            <a:off x="3246120" y="3913124"/>
            <a:ext cx="2011680" cy="146304"/>
          </a:xfrm>
          <a:prstGeom prst="rect">
            <a:avLst/>
          </a:prstGeom>
          <a:noFill/>
        </p:spPr>
        <p:txBody>
          <a:bodyPr wrap="square" rtlCol="0" anchor="ctr"/>
          <a:lstStyle/>
          <a:p>
            <a:pPr marL="0" indent="0">
              <a:buNone/>
            </a:pPr>
            <a:r>
              <a:rPr lang="en-US" sz="850" dirty="0">
                <a:solidFill>
                  <a:srgbClr val="2D3748"/>
                </a:solidFill>
                <a:latin typeface="Calibri" pitchFamily="34" charset="0"/>
                <a:ea typeface="Calibri" pitchFamily="34" charset="-122"/>
                <a:cs typeface="Calibri" pitchFamily="34" charset="-120"/>
              </a:rPr>
              <a:t>Free, field-specific</a:t>
            </a:r>
            <a:endParaRPr lang="en-US" sz="850" dirty="0"/>
          </a:p>
        </p:txBody>
      </p:sp>
      <p:sp>
        <p:nvSpPr>
          <p:cNvPr id="32" name="Text 30"/>
          <p:cNvSpPr/>
          <p:nvPr/>
        </p:nvSpPr>
        <p:spPr>
          <a:xfrm>
            <a:off x="5394960" y="3913124"/>
            <a:ext cx="914400" cy="146304"/>
          </a:xfrm>
          <a:prstGeom prst="rect">
            <a:avLst/>
          </a:prstGeom>
          <a:noFill/>
        </p:spPr>
        <p:txBody>
          <a:bodyPr wrap="square" rtlCol="0" anchor="ctr"/>
          <a:lstStyle/>
          <a:p>
            <a:pPr marL="0" indent="0">
              <a:buNone/>
            </a:pPr>
            <a:r>
              <a:rPr lang="en-US" sz="850" b="1" dirty="0">
                <a:solidFill>
                  <a:srgbClr val="48BB78"/>
                </a:solidFill>
                <a:latin typeface="Calibri" pitchFamily="34" charset="0"/>
                <a:ea typeface="Calibri" pitchFamily="34" charset="-122"/>
                <a:cs typeface="Calibri" pitchFamily="34" charset="-120"/>
              </a:rPr>
              <a:t>FREE</a:t>
            </a:r>
            <a:endParaRPr lang="en-US" sz="850" dirty="0"/>
          </a:p>
        </p:txBody>
      </p:sp>
      <p:sp>
        <p:nvSpPr>
          <p:cNvPr id="33" name="Text 31"/>
          <p:cNvSpPr/>
          <p:nvPr/>
        </p:nvSpPr>
        <p:spPr>
          <a:xfrm>
            <a:off x="6400800" y="3913124"/>
            <a:ext cx="2743200" cy="146304"/>
          </a:xfrm>
          <a:prstGeom prst="rect">
            <a:avLst/>
          </a:prstGeom>
          <a:noFill/>
        </p:spPr>
        <p:txBody>
          <a:bodyPr wrap="square" rtlCol="0" anchor="ctr"/>
          <a:lstStyle/>
          <a:p>
            <a:pPr marL="0" indent="0">
              <a:buNone/>
            </a:pPr>
            <a:r>
              <a:rPr lang="en-US" sz="850" dirty="0">
                <a:solidFill>
                  <a:srgbClr val="718096"/>
                </a:solidFill>
                <a:latin typeface="Calibri" pitchFamily="34" charset="0"/>
                <a:ea typeface="Calibri" pitchFamily="34" charset="-122"/>
                <a:cs typeface="Calibri" pitchFamily="34" charset="-120"/>
              </a:rPr>
              <a:t>Education research</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ED8936"/>
          </a:solidFill>
        </p:spPr>
      </p:sp>
      <p:sp>
        <p:nvSpPr>
          <p:cNvPr id="3" name="Text 1"/>
          <p:cNvSpPr/>
          <p:nvPr/>
        </p:nvSpPr>
        <p:spPr>
          <a:xfrm>
            <a:off x="328295" y="164465"/>
            <a:ext cx="8496300" cy="457200"/>
          </a:xfrm>
          <a:prstGeom prst="rect">
            <a:avLst/>
          </a:prstGeom>
          <a:noFill/>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Systematic Database Search Strategy</a:t>
            </a:r>
            <a:endParaRPr lang="en-US" sz="3600" dirty="0"/>
          </a:p>
        </p:txBody>
      </p:sp>
      <p:sp>
        <p:nvSpPr>
          <p:cNvPr id="4" name="Text 2"/>
          <p:cNvSpPr/>
          <p:nvPr/>
        </p:nvSpPr>
        <p:spPr>
          <a:xfrm>
            <a:off x="548640" y="914400"/>
            <a:ext cx="8046720" cy="256032"/>
          </a:xfrm>
          <a:prstGeom prst="rect">
            <a:avLst/>
          </a:prstGeom>
          <a:noFill/>
        </p:spPr>
        <p:txBody>
          <a:bodyPr wrap="square" rtlCol="0" anchor="ctr"/>
          <a:lstStyle/>
          <a:p>
            <a:pPr marL="0" indent="0">
              <a:buNone/>
            </a:pPr>
            <a:r>
              <a:rPr lang="en-US" sz="1100" b="1" dirty="0">
                <a:solidFill>
                  <a:srgbClr val="ED8936"/>
                </a:solidFill>
                <a:latin typeface="Calibri" pitchFamily="34" charset="0"/>
                <a:ea typeface="Calibri" pitchFamily="34" charset="-122"/>
                <a:cs typeface="Calibri" pitchFamily="34" charset="-120"/>
              </a:rPr>
              <a:t>Step-by-step approach for comprehensive literature discovery</a:t>
            </a:r>
            <a:endParaRPr lang="en-US" sz="1100" dirty="0"/>
          </a:p>
        </p:txBody>
      </p:sp>
      <p:sp>
        <p:nvSpPr>
          <p:cNvPr id="5" name="Shape 3"/>
          <p:cNvSpPr/>
          <p:nvPr/>
        </p:nvSpPr>
        <p:spPr>
          <a:xfrm>
            <a:off x="548640" y="1280160"/>
            <a:ext cx="8046720" cy="3200400"/>
          </a:xfrm>
          <a:prstGeom prst="rect">
            <a:avLst/>
          </a:prstGeom>
          <a:solidFill>
            <a:srgbClr val="F7FAFC"/>
          </a:solidFill>
          <a:ln w="25400">
            <a:solidFill>
              <a:srgbClr val="ED8936"/>
            </a:solidFill>
            <a:prstDash val="solid"/>
          </a:ln>
        </p:spPr>
      </p:sp>
      <p:sp>
        <p:nvSpPr>
          <p:cNvPr id="6" name="Text 4"/>
          <p:cNvSpPr/>
          <p:nvPr/>
        </p:nvSpPr>
        <p:spPr>
          <a:xfrm>
            <a:off x="731520" y="1463040"/>
            <a:ext cx="7680960" cy="320040"/>
          </a:xfrm>
          <a:prstGeom prst="rect">
            <a:avLst/>
          </a:prstGeom>
          <a:noFill/>
        </p:spPr>
        <p:txBody>
          <a:bodyPr wrap="square" rtlCol="0" anchor="ctr"/>
          <a:lstStyle/>
          <a:p>
            <a:pPr marL="0" indent="0">
              <a:buNone/>
            </a:pPr>
            <a:r>
              <a:rPr lang="en-US" sz="1050" dirty="0">
                <a:solidFill>
                  <a:srgbClr val="2D3748"/>
                </a:solidFill>
                <a:latin typeface="Calibri" pitchFamily="34" charset="0"/>
                <a:ea typeface="Calibri" pitchFamily="34" charset="-122"/>
                <a:cs typeface="Calibri" pitchFamily="34" charset="-120"/>
              </a:rPr>
              <a:t>1.  Define Research Question: Identify key concepts, variables, populations</a:t>
            </a:r>
            <a:endParaRPr lang="en-US" sz="1050" dirty="0"/>
          </a:p>
        </p:txBody>
      </p:sp>
      <p:sp>
        <p:nvSpPr>
          <p:cNvPr id="7" name="Text 5"/>
          <p:cNvSpPr/>
          <p:nvPr/>
        </p:nvSpPr>
        <p:spPr>
          <a:xfrm>
            <a:off x="731520" y="1828800"/>
            <a:ext cx="7680960" cy="320040"/>
          </a:xfrm>
          <a:prstGeom prst="rect">
            <a:avLst/>
          </a:prstGeom>
          <a:noFill/>
        </p:spPr>
        <p:txBody>
          <a:bodyPr wrap="square" rtlCol="0" anchor="ctr"/>
          <a:lstStyle/>
          <a:p>
            <a:pPr marL="0" indent="0">
              <a:buNone/>
            </a:pPr>
            <a:r>
              <a:rPr lang="en-US" sz="1050" dirty="0">
                <a:solidFill>
                  <a:srgbClr val="2D3748"/>
                </a:solidFill>
                <a:latin typeface="Calibri" pitchFamily="34" charset="0"/>
                <a:ea typeface="Calibri" pitchFamily="34" charset="-122"/>
                <a:cs typeface="Calibri" pitchFamily="34" charset="-120"/>
              </a:rPr>
              <a:t>2.  Develop Search Terms: List keywords, synonyms, abbreviations, MeSH terms</a:t>
            </a:r>
            <a:endParaRPr lang="en-US" sz="1050" dirty="0"/>
          </a:p>
        </p:txBody>
      </p:sp>
      <p:sp>
        <p:nvSpPr>
          <p:cNvPr id="8" name="Text 6"/>
          <p:cNvSpPr/>
          <p:nvPr/>
        </p:nvSpPr>
        <p:spPr>
          <a:xfrm>
            <a:off x="731520" y="2194560"/>
            <a:ext cx="7680960" cy="320040"/>
          </a:xfrm>
          <a:prstGeom prst="rect">
            <a:avLst/>
          </a:prstGeom>
          <a:noFill/>
        </p:spPr>
        <p:txBody>
          <a:bodyPr wrap="square" rtlCol="0" anchor="ctr"/>
          <a:lstStyle/>
          <a:p>
            <a:pPr marL="0" indent="0">
              <a:buNone/>
            </a:pPr>
            <a:r>
              <a:rPr lang="en-US" sz="1050" dirty="0">
                <a:solidFill>
                  <a:srgbClr val="2D3748"/>
                </a:solidFill>
                <a:latin typeface="Calibri" pitchFamily="34" charset="0"/>
                <a:ea typeface="Calibri" pitchFamily="34" charset="-122"/>
                <a:cs typeface="Calibri" pitchFamily="34" charset="-120"/>
              </a:rPr>
              <a:t>3.  Select Databases: Choose 2-3 databases (WoS, Scopus, specialty database)</a:t>
            </a:r>
            <a:endParaRPr lang="en-US" sz="1050" dirty="0"/>
          </a:p>
        </p:txBody>
      </p:sp>
      <p:sp>
        <p:nvSpPr>
          <p:cNvPr id="9" name="Text 7"/>
          <p:cNvSpPr/>
          <p:nvPr/>
        </p:nvSpPr>
        <p:spPr>
          <a:xfrm>
            <a:off x="731520" y="2560320"/>
            <a:ext cx="7680960" cy="320040"/>
          </a:xfrm>
          <a:prstGeom prst="rect">
            <a:avLst/>
          </a:prstGeom>
          <a:noFill/>
        </p:spPr>
        <p:txBody>
          <a:bodyPr wrap="square" rtlCol="0" anchor="ctr"/>
          <a:lstStyle/>
          <a:p>
            <a:pPr marL="0" indent="0">
              <a:buNone/>
            </a:pPr>
            <a:r>
              <a:rPr lang="en-US" sz="1050" dirty="0">
                <a:solidFill>
                  <a:srgbClr val="2D3748"/>
                </a:solidFill>
                <a:latin typeface="Calibri" pitchFamily="34" charset="0"/>
                <a:ea typeface="Calibri" pitchFamily="34" charset="-122"/>
                <a:cs typeface="Calibri" pitchFamily="34" charset="-120"/>
              </a:rPr>
              <a:t>4.  Build Search Strings: Use AND/OR/NOT operators, phrase searches, field limits</a:t>
            </a:r>
            <a:endParaRPr lang="en-US" sz="1050" dirty="0"/>
          </a:p>
        </p:txBody>
      </p:sp>
      <p:sp>
        <p:nvSpPr>
          <p:cNvPr id="10" name="Text 8"/>
          <p:cNvSpPr/>
          <p:nvPr/>
        </p:nvSpPr>
        <p:spPr>
          <a:xfrm>
            <a:off x="731520" y="2926080"/>
            <a:ext cx="7680960" cy="320040"/>
          </a:xfrm>
          <a:prstGeom prst="rect">
            <a:avLst/>
          </a:prstGeom>
          <a:noFill/>
        </p:spPr>
        <p:txBody>
          <a:bodyPr wrap="square" rtlCol="0" anchor="ctr"/>
          <a:lstStyle/>
          <a:p>
            <a:pPr marL="0" indent="0">
              <a:buNone/>
            </a:pPr>
            <a:r>
              <a:rPr lang="en-US" sz="1050" dirty="0">
                <a:solidFill>
                  <a:srgbClr val="2D3748"/>
                </a:solidFill>
                <a:latin typeface="Calibri" pitchFamily="34" charset="0"/>
                <a:ea typeface="Calibri" pitchFamily="34" charset="-122"/>
                <a:cs typeface="Calibri" pitchFamily="34" charset="-120"/>
              </a:rPr>
              <a:t>5.  Set Filters: Date range, language, document type, peer-review status</a:t>
            </a:r>
            <a:endParaRPr lang="en-US" sz="1050" dirty="0"/>
          </a:p>
        </p:txBody>
      </p:sp>
      <p:sp>
        <p:nvSpPr>
          <p:cNvPr id="11" name="Text 9"/>
          <p:cNvSpPr/>
          <p:nvPr/>
        </p:nvSpPr>
        <p:spPr>
          <a:xfrm>
            <a:off x="731520" y="3291840"/>
            <a:ext cx="7680960" cy="320040"/>
          </a:xfrm>
          <a:prstGeom prst="rect">
            <a:avLst/>
          </a:prstGeom>
          <a:noFill/>
        </p:spPr>
        <p:txBody>
          <a:bodyPr wrap="square" rtlCol="0" anchor="ctr"/>
          <a:lstStyle/>
          <a:p>
            <a:pPr marL="0" indent="0">
              <a:buNone/>
            </a:pPr>
            <a:r>
              <a:rPr lang="en-US" sz="1050" dirty="0">
                <a:solidFill>
                  <a:srgbClr val="2D3748"/>
                </a:solidFill>
                <a:latin typeface="Calibri" pitchFamily="34" charset="0"/>
                <a:ea typeface="Calibri" pitchFamily="34" charset="-122"/>
                <a:cs typeface="Calibri" pitchFamily="34" charset="-120"/>
              </a:rPr>
              <a:t>6.  Execute &amp; Document: Run searches, record exact terms, note number of results</a:t>
            </a:r>
            <a:endParaRPr lang="en-US" sz="1050" dirty="0"/>
          </a:p>
        </p:txBody>
      </p:sp>
      <p:sp>
        <p:nvSpPr>
          <p:cNvPr id="12" name="Text 10"/>
          <p:cNvSpPr/>
          <p:nvPr/>
        </p:nvSpPr>
        <p:spPr>
          <a:xfrm>
            <a:off x="731520" y="3657600"/>
            <a:ext cx="7680960" cy="320040"/>
          </a:xfrm>
          <a:prstGeom prst="rect">
            <a:avLst/>
          </a:prstGeom>
          <a:noFill/>
        </p:spPr>
        <p:txBody>
          <a:bodyPr wrap="square" rtlCol="0" anchor="ctr"/>
          <a:lstStyle/>
          <a:p>
            <a:pPr marL="0" indent="0">
              <a:buNone/>
            </a:pPr>
            <a:r>
              <a:rPr lang="en-US" sz="1050" dirty="0">
                <a:solidFill>
                  <a:srgbClr val="2D3748"/>
                </a:solidFill>
                <a:latin typeface="Calibri" pitchFamily="34" charset="0"/>
                <a:ea typeface="Calibri" pitchFamily="34" charset="-122"/>
                <a:cs typeface="Calibri" pitchFamily="34" charset="-120"/>
              </a:rPr>
              <a:t>7.  Screen Results: Title → Abstract → Full-text using PRISMA flow diagram</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ECC94B"/>
          </a:solidFill>
        </p:spPr>
      </p:sp>
      <p:sp>
        <p:nvSpPr>
          <p:cNvPr id="3" name="Text 1"/>
          <p:cNvSpPr/>
          <p:nvPr/>
        </p:nvSpPr>
        <p:spPr>
          <a:xfrm>
            <a:off x="142875" y="164465"/>
            <a:ext cx="9749790" cy="457200"/>
          </a:xfrm>
          <a:prstGeom prst="rect">
            <a:avLst/>
          </a:prstGeom>
          <a:noFill/>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Boolean Operators &amp; Search Techniques</a:t>
            </a:r>
            <a:endParaRPr lang="en-US" sz="3600" dirty="0"/>
          </a:p>
        </p:txBody>
      </p:sp>
      <p:sp>
        <p:nvSpPr>
          <p:cNvPr id="4" name="Text 2"/>
          <p:cNvSpPr/>
          <p:nvPr/>
        </p:nvSpPr>
        <p:spPr>
          <a:xfrm>
            <a:off x="548640" y="914400"/>
            <a:ext cx="8046720" cy="256032"/>
          </a:xfrm>
          <a:prstGeom prst="rect">
            <a:avLst/>
          </a:prstGeom>
          <a:noFill/>
        </p:spPr>
        <p:txBody>
          <a:bodyPr wrap="square" rtlCol="0" anchor="ctr"/>
          <a:lstStyle/>
          <a:p>
            <a:pPr marL="0" indent="0">
              <a:buNone/>
            </a:pPr>
            <a:r>
              <a:rPr lang="en-US" sz="1100" b="1" dirty="0">
                <a:solidFill>
                  <a:srgbClr val="ECC94B"/>
                </a:solidFill>
                <a:latin typeface="Calibri" pitchFamily="34" charset="0"/>
                <a:ea typeface="Calibri" pitchFamily="34" charset="-122"/>
                <a:cs typeface="Calibri" pitchFamily="34" charset="-120"/>
              </a:rPr>
              <a:t>Use logical operators to refine and control your searches</a:t>
            </a:r>
            <a:endParaRPr lang="en-US" sz="1100" dirty="0"/>
          </a:p>
        </p:txBody>
      </p:sp>
      <p:sp>
        <p:nvSpPr>
          <p:cNvPr id="5" name="Shape 3"/>
          <p:cNvSpPr/>
          <p:nvPr/>
        </p:nvSpPr>
        <p:spPr>
          <a:xfrm>
            <a:off x="548640" y="1280160"/>
            <a:ext cx="8046720" cy="640080"/>
          </a:xfrm>
          <a:prstGeom prst="rect">
            <a:avLst/>
          </a:prstGeom>
          <a:solidFill>
            <a:srgbClr val="F7FAFC"/>
          </a:solidFill>
        </p:spPr>
      </p:sp>
      <p:sp>
        <p:nvSpPr>
          <p:cNvPr id="6" name="Text 4"/>
          <p:cNvSpPr/>
          <p:nvPr/>
        </p:nvSpPr>
        <p:spPr>
          <a:xfrm>
            <a:off x="685800" y="1353312"/>
            <a:ext cx="731520" cy="164592"/>
          </a:xfrm>
          <a:prstGeom prst="rect">
            <a:avLst/>
          </a:prstGeom>
          <a:noFill/>
        </p:spPr>
        <p:txBody>
          <a:bodyPr wrap="square" rtlCol="0" anchor="ctr"/>
          <a:lstStyle/>
          <a:p>
            <a:pPr marL="0" indent="0">
              <a:buNone/>
            </a:pPr>
            <a:r>
              <a:rPr lang="en-US" sz="1000" b="1" dirty="0">
                <a:solidFill>
                  <a:srgbClr val="ECC94B"/>
                </a:solidFill>
                <a:latin typeface="Calibri" pitchFamily="34" charset="0"/>
                <a:ea typeface="Calibri" pitchFamily="34" charset="-122"/>
                <a:cs typeface="Calibri" pitchFamily="34" charset="-120"/>
              </a:rPr>
              <a:t>AND</a:t>
            </a:r>
            <a:endParaRPr lang="en-US" sz="1000" dirty="0"/>
          </a:p>
        </p:txBody>
      </p:sp>
      <p:sp>
        <p:nvSpPr>
          <p:cNvPr id="7" name="Text 5"/>
          <p:cNvSpPr/>
          <p:nvPr/>
        </p:nvSpPr>
        <p:spPr>
          <a:xfrm>
            <a:off x="1554480" y="1353312"/>
            <a:ext cx="1371600" cy="16459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Narrows search</a:t>
            </a:r>
            <a:endParaRPr lang="en-US" sz="1000" dirty="0"/>
          </a:p>
        </p:txBody>
      </p:sp>
      <p:sp>
        <p:nvSpPr>
          <p:cNvPr id="8" name="Text 6"/>
          <p:cNvSpPr/>
          <p:nvPr/>
        </p:nvSpPr>
        <p:spPr>
          <a:xfrm>
            <a:off x="3108960" y="1353312"/>
            <a:ext cx="2286000" cy="164592"/>
          </a:xfrm>
          <a:prstGeom prst="rect">
            <a:avLst/>
          </a:prstGeom>
          <a:noFill/>
        </p:spPr>
        <p:txBody>
          <a:bodyPr wrap="square"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diabetes AND treatment</a:t>
            </a:r>
            <a:endParaRPr lang="en-US" sz="1000" dirty="0"/>
          </a:p>
        </p:txBody>
      </p:sp>
      <p:sp>
        <p:nvSpPr>
          <p:cNvPr id="9" name="Text 7"/>
          <p:cNvSpPr/>
          <p:nvPr/>
        </p:nvSpPr>
        <p:spPr>
          <a:xfrm>
            <a:off x="5577840" y="1353312"/>
            <a:ext cx="3566160" cy="164592"/>
          </a:xfrm>
          <a:prstGeom prst="rect">
            <a:avLst/>
          </a:prstGeom>
          <a:noFill/>
        </p:spPr>
        <p:txBody>
          <a:bodyPr wrap="square" rtlCol="0" anchor="ctr"/>
          <a:lstStyle/>
          <a:p>
            <a:pPr marL="0" indent="0">
              <a:buNone/>
            </a:pPr>
            <a:r>
              <a:rPr lang="en-US" sz="950" dirty="0">
                <a:solidFill>
                  <a:srgbClr val="718096"/>
                </a:solidFill>
                <a:latin typeface="Calibri" pitchFamily="34" charset="0"/>
                <a:ea typeface="Calibri" pitchFamily="34" charset="-122"/>
                <a:cs typeface="Calibri" pitchFamily="34" charset="-120"/>
              </a:rPr>
              <a:t>Both terms required</a:t>
            </a:r>
            <a:endParaRPr lang="en-US" sz="950" dirty="0"/>
          </a:p>
        </p:txBody>
      </p:sp>
      <p:sp>
        <p:nvSpPr>
          <p:cNvPr id="10" name="Shape 8"/>
          <p:cNvSpPr/>
          <p:nvPr/>
        </p:nvSpPr>
        <p:spPr>
          <a:xfrm>
            <a:off x="548640" y="1975104"/>
            <a:ext cx="8046720" cy="640080"/>
          </a:xfrm>
          <a:prstGeom prst="rect">
            <a:avLst/>
          </a:prstGeom>
          <a:solidFill>
            <a:srgbClr val="FFFFFF"/>
          </a:solidFill>
        </p:spPr>
      </p:sp>
      <p:sp>
        <p:nvSpPr>
          <p:cNvPr id="11" name="Text 9"/>
          <p:cNvSpPr/>
          <p:nvPr/>
        </p:nvSpPr>
        <p:spPr>
          <a:xfrm>
            <a:off x="685800" y="2048256"/>
            <a:ext cx="731520" cy="164592"/>
          </a:xfrm>
          <a:prstGeom prst="rect">
            <a:avLst/>
          </a:prstGeom>
          <a:noFill/>
        </p:spPr>
        <p:txBody>
          <a:bodyPr wrap="square" rtlCol="0" anchor="ctr"/>
          <a:lstStyle/>
          <a:p>
            <a:pPr marL="0" indent="0">
              <a:buNone/>
            </a:pPr>
            <a:r>
              <a:rPr lang="en-US" sz="1000" b="1" dirty="0">
                <a:solidFill>
                  <a:srgbClr val="ECC94B"/>
                </a:solidFill>
                <a:latin typeface="Calibri" pitchFamily="34" charset="0"/>
                <a:ea typeface="Calibri" pitchFamily="34" charset="-122"/>
                <a:cs typeface="Calibri" pitchFamily="34" charset="-120"/>
              </a:rPr>
              <a:t>OR</a:t>
            </a:r>
            <a:endParaRPr lang="en-US" sz="1000" dirty="0"/>
          </a:p>
        </p:txBody>
      </p:sp>
      <p:sp>
        <p:nvSpPr>
          <p:cNvPr id="12" name="Text 10"/>
          <p:cNvSpPr/>
          <p:nvPr/>
        </p:nvSpPr>
        <p:spPr>
          <a:xfrm>
            <a:off x="1554480" y="2048256"/>
            <a:ext cx="1371600" cy="16459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Broadens search</a:t>
            </a:r>
            <a:endParaRPr lang="en-US" sz="1000" dirty="0"/>
          </a:p>
        </p:txBody>
      </p:sp>
      <p:sp>
        <p:nvSpPr>
          <p:cNvPr id="13" name="Text 11"/>
          <p:cNvSpPr/>
          <p:nvPr/>
        </p:nvSpPr>
        <p:spPr>
          <a:xfrm>
            <a:off x="3108960" y="2048256"/>
            <a:ext cx="2286000" cy="164592"/>
          </a:xfrm>
          <a:prstGeom prst="rect">
            <a:avLst/>
          </a:prstGeom>
          <a:noFill/>
        </p:spPr>
        <p:txBody>
          <a:bodyPr wrap="square"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diabetes OR glucose</a:t>
            </a:r>
            <a:endParaRPr lang="en-US" sz="1000" dirty="0"/>
          </a:p>
        </p:txBody>
      </p:sp>
      <p:sp>
        <p:nvSpPr>
          <p:cNvPr id="14" name="Text 12"/>
          <p:cNvSpPr/>
          <p:nvPr/>
        </p:nvSpPr>
        <p:spPr>
          <a:xfrm>
            <a:off x="5577840" y="2048256"/>
            <a:ext cx="3566160" cy="164592"/>
          </a:xfrm>
          <a:prstGeom prst="rect">
            <a:avLst/>
          </a:prstGeom>
          <a:noFill/>
        </p:spPr>
        <p:txBody>
          <a:bodyPr wrap="square" rtlCol="0" anchor="ctr"/>
          <a:lstStyle/>
          <a:p>
            <a:pPr marL="0" indent="0">
              <a:buNone/>
            </a:pPr>
            <a:r>
              <a:rPr lang="en-US" sz="950" dirty="0">
                <a:solidFill>
                  <a:srgbClr val="718096"/>
                </a:solidFill>
                <a:latin typeface="Calibri" pitchFamily="34" charset="0"/>
                <a:ea typeface="Calibri" pitchFamily="34" charset="-122"/>
                <a:cs typeface="Calibri" pitchFamily="34" charset="-120"/>
              </a:rPr>
              <a:t>Either term acceptable</a:t>
            </a:r>
            <a:endParaRPr lang="en-US" sz="950" dirty="0"/>
          </a:p>
        </p:txBody>
      </p:sp>
      <p:sp>
        <p:nvSpPr>
          <p:cNvPr id="15" name="Shape 13"/>
          <p:cNvSpPr/>
          <p:nvPr/>
        </p:nvSpPr>
        <p:spPr>
          <a:xfrm>
            <a:off x="548640" y="2670048"/>
            <a:ext cx="8046720" cy="640080"/>
          </a:xfrm>
          <a:prstGeom prst="rect">
            <a:avLst/>
          </a:prstGeom>
          <a:solidFill>
            <a:srgbClr val="F7FAFC"/>
          </a:solidFill>
        </p:spPr>
      </p:sp>
      <p:sp>
        <p:nvSpPr>
          <p:cNvPr id="16" name="Text 14"/>
          <p:cNvSpPr/>
          <p:nvPr/>
        </p:nvSpPr>
        <p:spPr>
          <a:xfrm>
            <a:off x="685800" y="2743200"/>
            <a:ext cx="731520" cy="164592"/>
          </a:xfrm>
          <a:prstGeom prst="rect">
            <a:avLst/>
          </a:prstGeom>
          <a:noFill/>
        </p:spPr>
        <p:txBody>
          <a:bodyPr wrap="square" rtlCol="0" anchor="ctr"/>
          <a:lstStyle/>
          <a:p>
            <a:pPr marL="0" indent="0">
              <a:buNone/>
            </a:pPr>
            <a:r>
              <a:rPr lang="en-US" sz="1000" b="1" dirty="0">
                <a:solidFill>
                  <a:srgbClr val="ECC94B"/>
                </a:solidFill>
                <a:latin typeface="Calibri" pitchFamily="34" charset="0"/>
                <a:ea typeface="Calibri" pitchFamily="34" charset="-122"/>
                <a:cs typeface="Calibri" pitchFamily="34" charset="-120"/>
              </a:rPr>
              <a:t>NOT</a:t>
            </a:r>
            <a:endParaRPr lang="en-US" sz="1000" dirty="0"/>
          </a:p>
        </p:txBody>
      </p:sp>
      <p:sp>
        <p:nvSpPr>
          <p:cNvPr id="17" name="Text 15"/>
          <p:cNvSpPr/>
          <p:nvPr/>
        </p:nvSpPr>
        <p:spPr>
          <a:xfrm>
            <a:off x="1554480" y="2743200"/>
            <a:ext cx="1371600" cy="16459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Excludes terms</a:t>
            </a:r>
            <a:endParaRPr lang="en-US" sz="1000" dirty="0"/>
          </a:p>
        </p:txBody>
      </p:sp>
      <p:sp>
        <p:nvSpPr>
          <p:cNvPr id="18" name="Text 16"/>
          <p:cNvSpPr/>
          <p:nvPr/>
        </p:nvSpPr>
        <p:spPr>
          <a:xfrm>
            <a:off x="3108960" y="2743200"/>
            <a:ext cx="2286000" cy="164592"/>
          </a:xfrm>
          <a:prstGeom prst="rect">
            <a:avLst/>
          </a:prstGeom>
          <a:noFill/>
        </p:spPr>
        <p:txBody>
          <a:bodyPr wrap="square"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cancer NOT prostate</a:t>
            </a:r>
            <a:endParaRPr lang="en-US" sz="1000" dirty="0"/>
          </a:p>
        </p:txBody>
      </p:sp>
      <p:sp>
        <p:nvSpPr>
          <p:cNvPr id="19" name="Text 17"/>
          <p:cNvSpPr/>
          <p:nvPr/>
        </p:nvSpPr>
        <p:spPr>
          <a:xfrm>
            <a:off x="5577840" y="2743200"/>
            <a:ext cx="3566160" cy="164592"/>
          </a:xfrm>
          <a:prstGeom prst="rect">
            <a:avLst/>
          </a:prstGeom>
          <a:noFill/>
        </p:spPr>
        <p:txBody>
          <a:bodyPr wrap="square" rtlCol="0" anchor="ctr"/>
          <a:lstStyle/>
          <a:p>
            <a:pPr marL="0" indent="0">
              <a:buNone/>
            </a:pPr>
            <a:r>
              <a:rPr lang="en-US" sz="950" dirty="0">
                <a:solidFill>
                  <a:srgbClr val="718096"/>
                </a:solidFill>
                <a:latin typeface="Calibri" pitchFamily="34" charset="0"/>
                <a:ea typeface="Calibri" pitchFamily="34" charset="-122"/>
                <a:cs typeface="Calibri" pitchFamily="34" charset="-120"/>
              </a:rPr>
              <a:t>Excludes prostate cancer</a:t>
            </a:r>
            <a:endParaRPr lang="en-US" sz="950" dirty="0"/>
          </a:p>
        </p:txBody>
      </p:sp>
      <p:sp>
        <p:nvSpPr>
          <p:cNvPr id="20" name="Shape 18"/>
          <p:cNvSpPr/>
          <p:nvPr/>
        </p:nvSpPr>
        <p:spPr>
          <a:xfrm>
            <a:off x="548640" y="3364992"/>
            <a:ext cx="8046720" cy="640080"/>
          </a:xfrm>
          <a:prstGeom prst="rect">
            <a:avLst/>
          </a:prstGeom>
          <a:solidFill>
            <a:srgbClr val="FFFFFF"/>
          </a:solidFill>
        </p:spPr>
      </p:sp>
      <p:sp>
        <p:nvSpPr>
          <p:cNvPr id="21" name="Text 19"/>
          <p:cNvSpPr/>
          <p:nvPr/>
        </p:nvSpPr>
        <p:spPr>
          <a:xfrm>
            <a:off x="685800" y="3438144"/>
            <a:ext cx="731520" cy="164592"/>
          </a:xfrm>
          <a:prstGeom prst="rect">
            <a:avLst/>
          </a:prstGeom>
          <a:noFill/>
        </p:spPr>
        <p:txBody>
          <a:bodyPr wrap="square" rtlCol="0" anchor="ctr"/>
          <a:lstStyle/>
          <a:p>
            <a:pPr marL="0" indent="0">
              <a:buNone/>
            </a:pPr>
            <a:r>
              <a:rPr lang="en-US" sz="1000" b="1" dirty="0">
                <a:solidFill>
                  <a:srgbClr val="ECC94B"/>
                </a:solidFill>
                <a:latin typeface="Calibri" pitchFamily="34" charset="0"/>
                <a:ea typeface="Calibri" pitchFamily="34" charset="-122"/>
                <a:cs typeface="Calibri" pitchFamily="34" charset="-120"/>
              </a:rPr>
              <a:t>Phrase ""</a:t>
            </a:r>
            <a:endParaRPr lang="en-US" sz="1000" dirty="0"/>
          </a:p>
        </p:txBody>
      </p:sp>
      <p:sp>
        <p:nvSpPr>
          <p:cNvPr id="22" name="Text 20"/>
          <p:cNvSpPr/>
          <p:nvPr/>
        </p:nvSpPr>
        <p:spPr>
          <a:xfrm>
            <a:off x="1554480" y="3438144"/>
            <a:ext cx="1371600" cy="16459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Exact phrase</a:t>
            </a:r>
            <a:endParaRPr lang="en-US" sz="1000" dirty="0"/>
          </a:p>
        </p:txBody>
      </p:sp>
      <p:sp>
        <p:nvSpPr>
          <p:cNvPr id="23" name="Text 21"/>
          <p:cNvSpPr/>
          <p:nvPr/>
        </p:nvSpPr>
        <p:spPr>
          <a:xfrm>
            <a:off x="3108960" y="3438144"/>
            <a:ext cx="2286000" cy="164592"/>
          </a:xfrm>
          <a:prstGeom prst="rect">
            <a:avLst/>
          </a:prstGeom>
          <a:noFill/>
        </p:spPr>
        <p:txBody>
          <a:bodyPr wrap="square"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"machine learning"</a:t>
            </a:r>
            <a:endParaRPr lang="en-US" sz="1000" dirty="0"/>
          </a:p>
        </p:txBody>
      </p:sp>
      <p:sp>
        <p:nvSpPr>
          <p:cNvPr id="24" name="Text 22"/>
          <p:cNvSpPr/>
          <p:nvPr/>
        </p:nvSpPr>
        <p:spPr>
          <a:xfrm>
            <a:off x="5577840" y="3438144"/>
            <a:ext cx="3566160" cy="164592"/>
          </a:xfrm>
          <a:prstGeom prst="rect">
            <a:avLst/>
          </a:prstGeom>
          <a:noFill/>
        </p:spPr>
        <p:txBody>
          <a:bodyPr wrap="square" rtlCol="0" anchor="ctr"/>
          <a:lstStyle/>
          <a:p>
            <a:pPr marL="0" indent="0">
              <a:buNone/>
            </a:pPr>
            <a:r>
              <a:rPr lang="en-US" sz="950" dirty="0">
                <a:solidFill>
                  <a:srgbClr val="718096"/>
                </a:solidFill>
                <a:latin typeface="Calibri" pitchFamily="34" charset="0"/>
                <a:ea typeface="Calibri" pitchFamily="34" charset="-122"/>
                <a:cs typeface="Calibri" pitchFamily="34" charset="-120"/>
              </a:rPr>
              <a:t>Exact phrase only</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56565"/>
          </a:solidFill>
        </p:spPr>
      </p:sp>
      <p:sp>
        <p:nvSpPr>
          <p:cNvPr id="3" name="Text 1"/>
          <p:cNvSpPr/>
          <p:nvPr/>
        </p:nvSpPr>
        <p:spPr>
          <a:xfrm>
            <a:off x="548640" y="164592"/>
            <a:ext cx="8046720" cy="457200"/>
          </a:xfrm>
          <a:prstGeom prst="rect">
            <a:avLst/>
          </a:prstGeom>
          <a:noFill/>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Quality Assessment &amp; Red Flags</a:t>
            </a:r>
            <a:endParaRPr lang="en-US" sz="4000" dirty="0"/>
          </a:p>
        </p:txBody>
      </p:sp>
      <p:sp>
        <p:nvSpPr>
          <p:cNvPr id="4" name="Text 2"/>
          <p:cNvSpPr/>
          <p:nvPr/>
        </p:nvSpPr>
        <p:spPr>
          <a:xfrm>
            <a:off x="548640" y="914400"/>
            <a:ext cx="8046720" cy="256032"/>
          </a:xfrm>
          <a:prstGeom prst="rect">
            <a:avLst/>
          </a:prstGeom>
          <a:noFill/>
        </p:spPr>
        <p:txBody>
          <a:bodyPr wrap="square" rtlCol="0" anchor="ctr"/>
          <a:lstStyle/>
          <a:p>
            <a:pPr marL="0" indent="0">
              <a:buNone/>
            </a:pPr>
            <a:r>
              <a:rPr lang="en-US" sz="1100" b="1" dirty="0">
                <a:solidFill>
                  <a:srgbClr val="F56565"/>
                </a:solidFill>
                <a:latin typeface="Calibri" pitchFamily="34" charset="0"/>
                <a:ea typeface="Calibri" pitchFamily="34" charset="-122"/>
                <a:cs typeface="Calibri" pitchFamily="34" charset="-120"/>
              </a:rPr>
              <a:t>Identify credible sources and avoid predatory journals</a:t>
            </a:r>
            <a:endParaRPr lang="en-US" sz="1100" dirty="0"/>
          </a:p>
        </p:txBody>
      </p:sp>
      <p:sp>
        <p:nvSpPr>
          <p:cNvPr id="5" name="Shape 3"/>
          <p:cNvSpPr/>
          <p:nvPr/>
        </p:nvSpPr>
        <p:spPr>
          <a:xfrm>
            <a:off x="548640" y="1280160"/>
            <a:ext cx="3886200" cy="3200400"/>
          </a:xfrm>
          <a:prstGeom prst="rect">
            <a:avLst/>
          </a:prstGeom>
          <a:solidFill>
            <a:srgbClr val="F7FAFC"/>
          </a:solidFill>
          <a:ln w="25400">
            <a:solidFill>
              <a:srgbClr val="48BB78"/>
            </a:solidFill>
            <a:prstDash val="solid"/>
          </a:ln>
        </p:spPr>
      </p:sp>
      <p:sp>
        <p:nvSpPr>
          <p:cNvPr id="6" name="Text 4"/>
          <p:cNvSpPr/>
          <p:nvPr/>
        </p:nvSpPr>
        <p:spPr>
          <a:xfrm>
            <a:off x="685800" y="1417320"/>
            <a:ext cx="3611880" cy="228600"/>
          </a:xfrm>
          <a:prstGeom prst="rect">
            <a:avLst/>
          </a:prstGeom>
          <a:noFill/>
        </p:spPr>
        <p:txBody>
          <a:bodyPr wrap="square" rtlCol="0" anchor="ctr"/>
          <a:lstStyle/>
          <a:p>
            <a:pPr marL="0" indent="0">
              <a:buNone/>
            </a:pPr>
            <a:r>
              <a:rPr lang="en-US" sz="1100" b="1" dirty="0">
                <a:solidFill>
                  <a:srgbClr val="48BB78"/>
                </a:solidFill>
                <a:latin typeface="Calibri" pitchFamily="34" charset="0"/>
                <a:ea typeface="Calibri" pitchFamily="34" charset="-122"/>
                <a:cs typeface="Calibri" pitchFamily="34" charset="-120"/>
              </a:rPr>
              <a:t>Quality Indicators</a:t>
            </a:r>
            <a:endParaRPr lang="en-US" sz="1100" dirty="0"/>
          </a:p>
        </p:txBody>
      </p:sp>
      <p:sp>
        <p:nvSpPr>
          <p:cNvPr id="7" name="Text 5"/>
          <p:cNvSpPr/>
          <p:nvPr/>
        </p:nvSpPr>
        <p:spPr>
          <a:xfrm>
            <a:off x="777240" y="1755648"/>
            <a:ext cx="3520440" cy="256032"/>
          </a:xfrm>
          <a:prstGeom prst="rect">
            <a:avLst/>
          </a:prstGeom>
          <a:noFill/>
        </p:spPr>
        <p:txBody>
          <a:bodyPr wrap="square" rtlCol="0" anchor="ctr"/>
          <a:lstStyle/>
          <a:p>
            <a:pPr marL="0" indent="0">
              <a:buNone/>
            </a:pPr>
            <a:r>
              <a:rPr lang="en-US" sz="1000" dirty="0">
                <a:solidFill>
                  <a:srgbClr val="48BB78"/>
                </a:solidFill>
                <a:latin typeface="Calibri" pitchFamily="34" charset="0"/>
                <a:ea typeface="Calibri" pitchFamily="34" charset="-122"/>
                <a:cs typeface="Calibri" pitchFamily="34" charset="-120"/>
              </a:rPr>
              <a:t>✓ Indexed in WoS or Scopus</a:t>
            </a:r>
            <a:endParaRPr lang="en-US" sz="1000" dirty="0"/>
          </a:p>
        </p:txBody>
      </p:sp>
      <p:sp>
        <p:nvSpPr>
          <p:cNvPr id="8" name="Text 6"/>
          <p:cNvSpPr/>
          <p:nvPr/>
        </p:nvSpPr>
        <p:spPr>
          <a:xfrm>
            <a:off x="777240" y="2066544"/>
            <a:ext cx="3520440" cy="256032"/>
          </a:xfrm>
          <a:prstGeom prst="rect">
            <a:avLst/>
          </a:prstGeom>
          <a:noFill/>
        </p:spPr>
        <p:txBody>
          <a:bodyPr wrap="square" rtlCol="0" anchor="ctr"/>
          <a:lstStyle/>
          <a:p>
            <a:pPr marL="0" indent="0">
              <a:buNone/>
            </a:pPr>
            <a:r>
              <a:rPr lang="en-US" sz="1000" dirty="0">
                <a:solidFill>
                  <a:srgbClr val="48BB78"/>
                </a:solidFill>
                <a:latin typeface="Calibri" pitchFamily="34" charset="0"/>
                <a:ea typeface="Calibri" pitchFamily="34" charset="-122"/>
                <a:cs typeface="Calibri" pitchFamily="34" charset="-120"/>
              </a:rPr>
              <a:t>✓ IF/CiteScore &gt; 1.0</a:t>
            </a:r>
            <a:endParaRPr lang="en-US" sz="1000" dirty="0"/>
          </a:p>
        </p:txBody>
      </p:sp>
      <p:sp>
        <p:nvSpPr>
          <p:cNvPr id="9" name="Text 7"/>
          <p:cNvSpPr/>
          <p:nvPr/>
        </p:nvSpPr>
        <p:spPr>
          <a:xfrm>
            <a:off x="777240" y="2377440"/>
            <a:ext cx="3520440" cy="256032"/>
          </a:xfrm>
          <a:prstGeom prst="rect">
            <a:avLst/>
          </a:prstGeom>
          <a:noFill/>
        </p:spPr>
        <p:txBody>
          <a:bodyPr wrap="square" rtlCol="0" anchor="ctr"/>
          <a:lstStyle/>
          <a:p>
            <a:pPr marL="0" indent="0">
              <a:buNone/>
            </a:pPr>
            <a:r>
              <a:rPr lang="en-US" sz="1000" dirty="0">
                <a:solidFill>
                  <a:srgbClr val="48BB78"/>
                </a:solidFill>
                <a:latin typeface="Calibri" pitchFamily="34" charset="0"/>
                <a:ea typeface="Calibri" pitchFamily="34" charset="-122"/>
                <a:cs typeface="Calibri" pitchFamily="34" charset="-120"/>
              </a:rPr>
              <a:t>✓ Clear peer review process</a:t>
            </a:r>
            <a:endParaRPr lang="en-US" sz="1000" dirty="0"/>
          </a:p>
        </p:txBody>
      </p:sp>
      <p:sp>
        <p:nvSpPr>
          <p:cNvPr id="10" name="Text 8"/>
          <p:cNvSpPr/>
          <p:nvPr/>
        </p:nvSpPr>
        <p:spPr>
          <a:xfrm>
            <a:off x="777240" y="2688336"/>
            <a:ext cx="3520440" cy="256032"/>
          </a:xfrm>
          <a:prstGeom prst="rect">
            <a:avLst/>
          </a:prstGeom>
          <a:noFill/>
        </p:spPr>
        <p:txBody>
          <a:bodyPr wrap="square" rtlCol="0" anchor="ctr"/>
          <a:lstStyle/>
          <a:p>
            <a:pPr marL="0" indent="0">
              <a:buNone/>
            </a:pPr>
            <a:r>
              <a:rPr lang="en-US" sz="1000" dirty="0">
                <a:solidFill>
                  <a:srgbClr val="48BB78"/>
                </a:solidFill>
                <a:latin typeface="Calibri" pitchFamily="34" charset="0"/>
                <a:ea typeface="Calibri" pitchFamily="34" charset="-122"/>
                <a:cs typeface="Calibri" pitchFamily="34" charset="-120"/>
              </a:rPr>
              <a:t>✓ Transparent editorial board</a:t>
            </a:r>
            <a:endParaRPr lang="en-US" sz="1000" dirty="0"/>
          </a:p>
        </p:txBody>
      </p:sp>
      <p:sp>
        <p:nvSpPr>
          <p:cNvPr id="11" name="Text 9"/>
          <p:cNvSpPr/>
          <p:nvPr/>
        </p:nvSpPr>
        <p:spPr>
          <a:xfrm>
            <a:off x="777240" y="2999232"/>
            <a:ext cx="3520440" cy="256032"/>
          </a:xfrm>
          <a:prstGeom prst="rect">
            <a:avLst/>
          </a:prstGeom>
          <a:noFill/>
        </p:spPr>
        <p:txBody>
          <a:bodyPr wrap="square" rtlCol="0" anchor="ctr"/>
          <a:lstStyle/>
          <a:p>
            <a:pPr marL="0" indent="0">
              <a:buNone/>
            </a:pPr>
            <a:r>
              <a:rPr lang="en-US" sz="1000" dirty="0">
                <a:solidFill>
                  <a:srgbClr val="48BB78"/>
                </a:solidFill>
                <a:latin typeface="Calibri" pitchFamily="34" charset="0"/>
                <a:ea typeface="Calibri" pitchFamily="34" charset="-122"/>
                <a:cs typeface="Calibri" pitchFamily="34" charset="-120"/>
              </a:rPr>
              <a:t>✓ Published by reputable press</a:t>
            </a:r>
            <a:endParaRPr lang="en-US" sz="1000" dirty="0"/>
          </a:p>
        </p:txBody>
      </p:sp>
      <p:sp>
        <p:nvSpPr>
          <p:cNvPr id="12" name="Text 10"/>
          <p:cNvSpPr/>
          <p:nvPr/>
        </p:nvSpPr>
        <p:spPr>
          <a:xfrm>
            <a:off x="777240" y="3310128"/>
            <a:ext cx="3520440" cy="256032"/>
          </a:xfrm>
          <a:prstGeom prst="rect">
            <a:avLst/>
          </a:prstGeom>
          <a:noFill/>
        </p:spPr>
        <p:txBody>
          <a:bodyPr wrap="square" rtlCol="0" anchor="ctr"/>
          <a:lstStyle/>
          <a:p>
            <a:pPr marL="0" indent="0">
              <a:buNone/>
            </a:pPr>
            <a:r>
              <a:rPr lang="en-US" sz="1000" dirty="0">
                <a:solidFill>
                  <a:srgbClr val="48BB78"/>
                </a:solidFill>
                <a:latin typeface="Calibri" pitchFamily="34" charset="0"/>
                <a:ea typeface="Calibri" pitchFamily="34" charset="-122"/>
                <a:cs typeface="Calibri" pitchFamily="34" charset="-120"/>
              </a:rPr>
              <a:t>✓ Clear publication policies</a:t>
            </a:r>
            <a:endParaRPr lang="en-US" sz="1000" dirty="0"/>
          </a:p>
        </p:txBody>
      </p:sp>
      <p:sp>
        <p:nvSpPr>
          <p:cNvPr id="13" name="Shape 11"/>
          <p:cNvSpPr/>
          <p:nvPr/>
        </p:nvSpPr>
        <p:spPr>
          <a:xfrm>
            <a:off x="4709160" y="1280160"/>
            <a:ext cx="3886200" cy="3200400"/>
          </a:xfrm>
          <a:prstGeom prst="rect">
            <a:avLst/>
          </a:prstGeom>
          <a:solidFill>
            <a:srgbClr val="F7FAFC"/>
          </a:solidFill>
          <a:ln w="25400">
            <a:solidFill>
              <a:srgbClr val="F56565"/>
            </a:solidFill>
            <a:prstDash val="solid"/>
          </a:ln>
        </p:spPr>
      </p:sp>
      <p:sp>
        <p:nvSpPr>
          <p:cNvPr id="14" name="Text 12"/>
          <p:cNvSpPr/>
          <p:nvPr/>
        </p:nvSpPr>
        <p:spPr>
          <a:xfrm>
            <a:off x="4846320" y="1417320"/>
            <a:ext cx="3474720" cy="228600"/>
          </a:xfrm>
          <a:prstGeom prst="rect">
            <a:avLst/>
          </a:prstGeom>
          <a:noFill/>
        </p:spPr>
        <p:txBody>
          <a:bodyPr wrap="square" rtlCol="0" anchor="ctr"/>
          <a:lstStyle/>
          <a:p>
            <a:pPr marL="0" indent="0">
              <a:buNone/>
            </a:pPr>
            <a:r>
              <a:rPr lang="en-US" sz="1100" b="1" dirty="0">
                <a:solidFill>
                  <a:srgbClr val="F56565"/>
                </a:solidFill>
                <a:latin typeface="Calibri" pitchFamily="34" charset="0"/>
                <a:ea typeface="Calibri" pitchFamily="34" charset="-122"/>
                <a:cs typeface="Calibri" pitchFamily="34" charset="-120"/>
              </a:rPr>
              <a:t>Red Flags</a:t>
            </a:r>
            <a:endParaRPr lang="en-US" sz="1100" dirty="0"/>
          </a:p>
        </p:txBody>
      </p:sp>
      <p:sp>
        <p:nvSpPr>
          <p:cNvPr id="15" name="Text 13"/>
          <p:cNvSpPr/>
          <p:nvPr/>
        </p:nvSpPr>
        <p:spPr>
          <a:xfrm>
            <a:off x="4846320" y="1755648"/>
            <a:ext cx="3474720" cy="256032"/>
          </a:xfrm>
          <a:prstGeom prst="rect">
            <a:avLst/>
          </a:prstGeom>
          <a:noFill/>
        </p:spPr>
        <p:txBody>
          <a:bodyPr wrap="square" rtlCol="0" anchor="ctr"/>
          <a:lstStyle/>
          <a:p>
            <a:pPr marL="0" indent="0">
              <a:buNone/>
            </a:pPr>
            <a:r>
              <a:rPr lang="en-US" sz="1000" dirty="0">
                <a:solidFill>
                  <a:srgbClr val="F56565"/>
                </a:solidFill>
                <a:latin typeface="Calibri" pitchFamily="34" charset="0"/>
                <a:ea typeface="Calibri" pitchFamily="34" charset="-122"/>
                <a:cs typeface="Calibri" pitchFamily="34" charset="-120"/>
              </a:rPr>
              <a:t>✗ NOT indexed in WoS/Scopus</a:t>
            </a:r>
            <a:endParaRPr lang="en-US" sz="1000" dirty="0"/>
          </a:p>
        </p:txBody>
      </p:sp>
      <p:sp>
        <p:nvSpPr>
          <p:cNvPr id="16" name="Text 14"/>
          <p:cNvSpPr/>
          <p:nvPr/>
        </p:nvSpPr>
        <p:spPr>
          <a:xfrm>
            <a:off x="4846320" y="2066544"/>
            <a:ext cx="3474720" cy="256032"/>
          </a:xfrm>
          <a:prstGeom prst="rect">
            <a:avLst/>
          </a:prstGeom>
          <a:noFill/>
        </p:spPr>
        <p:txBody>
          <a:bodyPr wrap="square" rtlCol="0" anchor="ctr"/>
          <a:lstStyle/>
          <a:p>
            <a:pPr marL="0" indent="0">
              <a:buNone/>
            </a:pPr>
            <a:r>
              <a:rPr lang="en-US" sz="1000" dirty="0">
                <a:solidFill>
                  <a:srgbClr val="F56565"/>
                </a:solidFill>
                <a:latin typeface="Calibri" pitchFamily="34" charset="0"/>
                <a:ea typeface="Calibri" pitchFamily="34" charset="-122"/>
                <a:cs typeface="Calibri" pitchFamily="34" charset="-120"/>
              </a:rPr>
              <a:t>✗ No visible IF or very low</a:t>
            </a:r>
            <a:endParaRPr lang="en-US" sz="1000" dirty="0"/>
          </a:p>
        </p:txBody>
      </p:sp>
      <p:sp>
        <p:nvSpPr>
          <p:cNvPr id="17" name="Text 15"/>
          <p:cNvSpPr/>
          <p:nvPr/>
        </p:nvSpPr>
        <p:spPr>
          <a:xfrm>
            <a:off x="4846320" y="2377440"/>
            <a:ext cx="3474720" cy="256032"/>
          </a:xfrm>
          <a:prstGeom prst="rect">
            <a:avLst/>
          </a:prstGeom>
          <a:noFill/>
        </p:spPr>
        <p:txBody>
          <a:bodyPr wrap="square" rtlCol="0" anchor="ctr"/>
          <a:lstStyle/>
          <a:p>
            <a:pPr marL="0" indent="0">
              <a:buNone/>
            </a:pPr>
            <a:r>
              <a:rPr lang="en-US" sz="1000" dirty="0">
                <a:solidFill>
                  <a:srgbClr val="F56565"/>
                </a:solidFill>
                <a:latin typeface="Calibri" pitchFamily="34" charset="0"/>
                <a:ea typeface="Calibri" pitchFamily="34" charset="-122"/>
                <a:cs typeface="Calibri" pitchFamily="34" charset="-120"/>
              </a:rPr>
              <a:t>✗ No clear peer review</a:t>
            </a:r>
            <a:endParaRPr lang="en-US" sz="1000" dirty="0"/>
          </a:p>
        </p:txBody>
      </p:sp>
      <p:sp>
        <p:nvSpPr>
          <p:cNvPr id="18" name="Text 16"/>
          <p:cNvSpPr/>
          <p:nvPr/>
        </p:nvSpPr>
        <p:spPr>
          <a:xfrm>
            <a:off x="4846320" y="2688336"/>
            <a:ext cx="3474720" cy="256032"/>
          </a:xfrm>
          <a:prstGeom prst="rect">
            <a:avLst/>
          </a:prstGeom>
          <a:noFill/>
        </p:spPr>
        <p:txBody>
          <a:bodyPr wrap="square" rtlCol="0" anchor="ctr"/>
          <a:lstStyle/>
          <a:p>
            <a:pPr marL="0" indent="0">
              <a:buNone/>
            </a:pPr>
            <a:r>
              <a:rPr lang="en-US" sz="1000" dirty="0">
                <a:solidFill>
                  <a:srgbClr val="F56565"/>
                </a:solidFill>
                <a:latin typeface="Calibri" pitchFamily="34" charset="0"/>
                <a:ea typeface="Calibri" pitchFamily="34" charset="-122"/>
                <a:cs typeface="Calibri" pitchFamily="34" charset="-120"/>
              </a:rPr>
              <a:t>✗ No editorial board listed</a:t>
            </a:r>
            <a:endParaRPr lang="en-US" sz="1000" dirty="0"/>
          </a:p>
        </p:txBody>
      </p:sp>
      <p:sp>
        <p:nvSpPr>
          <p:cNvPr id="19" name="Text 17"/>
          <p:cNvSpPr/>
          <p:nvPr/>
        </p:nvSpPr>
        <p:spPr>
          <a:xfrm>
            <a:off x="4846320" y="2999232"/>
            <a:ext cx="3474720" cy="256032"/>
          </a:xfrm>
          <a:prstGeom prst="rect">
            <a:avLst/>
          </a:prstGeom>
          <a:noFill/>
        </p:spPr>
        <p:txBody>
          <a:bodyPr wrap="square" rtlCol="0" anchor="ctr"/>
          <a:lstStyle/>
          <a:p>
            <a:pPr marL="0" indent="0">
              <a:buNone/>
            </a:pPr>
            <a:r>
              <a:rPr lang="en-US" sz="1000" dirty="0">
                <a:solidFill>
                  <a:srgbClr val="F56565"/>
                </a:solidFill>
                <a:latin typeface="Calibri" pitchFamily="34" charset="0"/>
                <a:ea typeface="Calibri" pitchFamily="34" charset="-122"/>
                <a:cs typeface="Calibri" pitchFamily="34" charset="-120"/>
              </a:rPr>
              <a:t>✗ Rapid/no review process</a:t>
            </a:r>
            <a:endParaRPr lang="en-US" sz="1000" dirty="0"/>
          </a:p>
        </p:txBody>
      </p:sp>
      <p:sp>
        <p:nvSpPr>
          <p:cNvPr id="20" name="Text 18"/>
          <p:cNvSpPr/>
          <p:nvPr/>
        </p:nvSpPr>
        <p:spPr>
          <a:xfrm>
            <a:off x="4846320" y="3310128"/>
            <a:ext cx="3474720" cy="256032"/>
          </a:xfrm>
          <a:prstGeom prst="rect">
            <a:avLst/>
          </a:prstGeom>
          <a:noFill/>
        </p:spPr>
        <p:txBody>
          <a:bodyPr wrap="square" rtlCol="0" anchor="ctr"/>
          <a:lstStyle/>
          <a:p>
            <a:pPr marL="0" indent="0">
              <a:buNone/>
            </a:pPr>
            <a:r>
              <a:rPr lang="en-US" sz="1000" dirty="0">
                <a:solidFill>
                  <a:srgbClr val="F56565"/>
                </a:solidFill>
                <a:latin typeface="Calibri" pitchFamily="34" charset="0"/>
                <a:ea typeface="Calibri" pitchFamily="34" charset="-122"/>
                <a:cs typeface="Calibri" pitchFamily="34" charset="-120"/>
              </a:rPr>
              <a:t>✗ Aggressive publication fees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38B2AC"/>
          </a:solidFill>
        </p:spPr>
      </p:sp>
      <p:sp>
        <p:nvSpPr>
          <p:cNvPr id="3" name="Text 1"/>
          <p:cNvSpPr/>
          <p:nvPr/>
        </p:nvSpPr>
        <p:spPr>
          <a:xfrm>
            <a:off x="548640" y="164592"/>
            <a:ext cx="8046720" cy="457200"/>
          </a:xfrm>
          <a:prstGeom prst="rect">
            <a:avLst/>
          </a:prstGeom>
          <a:noFill/>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Guide to Choosing Quality Journals</a:t>
            </a:r>
            <a:endParaRPr lang="en-US" sz="3600" dirty="0"/>
          </a:p>
        </p:txBody>
      </p:sp>
      <p:sp>
        <p:nvSpPr>
          <p:cNvPr id="4" name="Text 2"/>
          <p:cNvSpPr/>
          <p:nvPr/>
        </p:nvSpPr>
        <p:spPr>
          <a:xfrm>
            <a:off x="548640" y="914400"/>
            <a:ext cx="8046720" cy="256032"/>
          </a:xfrm>
          <a:prstGeom prst="rect">
            <a:avLst/>
          </a:prstGeom>
          <a:noFill/>
        </p:spPr>
        <p:txBody>
          <a:bodyPr wrap="square" rtlCol="0" anchor="ctr"/>
          <a:lstStyle/>
          <a:p>
            <a:pPr marL="0" indent="0">
              <a:buNone/>
            </a:pPr>
            <a:r>
              <a:rPr lang="en-US" sz="1100" b="1" dirty="0">
                <a:solidFill>
                  <a:srgbClr val="38B2AC"/>
                </a:solidFill>
                <a:latin typeface="Calibri" pitchFamily="34" charset="0"/>
                <a:ea typeface="Calibri" pitchFamily="34" charset="-122"/>
                <a:cs typeface="Calibri" pitchFamily="34" charset="-120"/>
              </a:rPr>
              <a:t>Strategic approach to selecting journals for reading and publishing</a:t>
            </a:r>
            <a:endParaRPr lang="en-US" sz="1100" dirty="0"/>
          </a:p>
        </p:txBody>
      </p:sp>
      <p:sp>
        <p:nvSpPr>
          <p:cNvPr id="5" name="Shape 3"/>
          <p:cNvSpPr/>
          <p:nvPr/>
        </p:nvSpPr>
        <p:spPr>
          <a:xfrm>
            <a:off x="548640" y="1280160"/>
            <a:ext cx="8046720" cy="3200400"/>
          </a:xfrm>
          <a:prstGeom prst="rect">
            <a:avLst/>
          </a:prstGeom>
          <a:solidFill>
            <a:srgbClr val="FFFFFF"/>
          </a:solidFill>
          <a:ln w="25400">
            <a:solidFill>
              <a:srgbClr val="38B2AC"/>
            </a:solidFill>
            <a:prstDash val="solid"/>
          </a:ln>
        </p:spPr>
      </p:sp>
      <p:sp>
        <p:nvSpPr>
          <p:cNvPr id="6" name="Text 4"/>
          <p:cNvSpPr/>
          <p:nvPr/>
        </p:nvSpPr>
        <p:spPr>
          <a:xfrm>
            <a:off x="731520" y="1417320"/>
            <a:ext cx="7680960" cy="228600"/>
          </a:xfrm>
          <a:prstGeom prst="rect">
            <a:avLst/>
          </a:prstGeom>
          <a:noFill/>
        </p:spPr>
        <p:txBody>
          <a:bodyPr wrap="square" rtlCol="0" anchor="ctr"/>
          <a:lstStyle/>
          <a:p>
            <a:pPr marL="0" indent="0">
              <a:buNone/>
            </a:pPr>
            <a:r>
              <a:rPr lang="en-US" sz="1200" b="1" dirty="0">
                <a:solidFill>
                  <a:srgbClr val="38B2AC"/>
                </a:solidFill>
                <a:latin typeface="Calibri" pitchFamily="34" charset="0"/>
                <a:ea typeface="Calibri" pitchFamily="34" charset="-122"/>
                <a:cs typeface="Calibri" pitchFamily="34" charset="-120"/>
              </a:rPr>
              <a:t>Selection Criteria</a:t>
            </a:r>
            <a:endParaRPr lang="en-US" sz="1200" dirty="0"/>
          </a:p>
        </p:txBody>
      </p:sp>
      <p:sp>
        <p:nvSpPr>
          <p:cNvPr id="7" name="Text 5"/>
          <p:cNvSpPr/>
          <p:nvPr/>
        </p:nvSpPr>
        <p:spPr>
          <a:xfrm>
            <a:off x="822960" y="1755648"/>
            <a:ext cx="7498080" cy="292608"/>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Scope Match: Journal focus aligns with your research topic</a:t>
            </a:r>
            <a:endParaRPr lang="en-US" sz="1000" dirty="0"/>
          </a:p>
        </p:txBody>
      </p:sp>
      <p:sp>
        <p:nvSpPr>
          <p:cNvPr id="8" name="Text 6"/>
          <p:cNvSpPr/>
          <p:nvPr/>
        </p:nvSpPr>
        <p:spPr>
          <a:xfrm>
            <a:off x="822960" y="2093976"/>
            <a:ext cx="7498080" cy="292608"/>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Metrics: IF/CiteScore comparable to or better than peer journals</a:t>
            </a:r>
            <a:endParaRPr lang="en-US" sz="1000" dirty="0"/>
          </a:p>
        </p:txBody>
      </p:sp>
      <p:sp>
        <p:nvSpPr>
          <p:cNvPr id="9" name="Text 7"/>
          <p:cNvSpPr/>
          <p:nvPr/>
        </p:nvSpPr>
        <p:spPr>
          <a:xfrm>
            <a:off x="822960" y="2432304"/>
            <a:ext cx="7498080" cy="292608"/>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Indexing: Indexed in at least WoS and Scopus (not predatory)</a:t>
            </a:r>
            <a:endParaRPr lang="en-US" sz="1000" dirty="0"/>
          </a:p>
        </p:txBody>
      </p:sp>
      <p:sp>
        <p:nvSpPr>
          <p:cNvPr id="10" name="Text 8"/>
          <p:cNvSpPr/>
          <p:nvPr/>
        </p:nvSpPr>
        <p:spPr>
          <a:xfrm>
            <a:off x="822960" y="2770632"/>
            <a:ext cx="7498080" cy="292608"/>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Audience: Publishes for your target readers (academics, practitioners, etc.)</a:t>
            </a:r>
            <a:endParaRPr lang="en-US" sz="1000" dirty="0"/>
          </a:p>
        </p:txBody>
      </p:sp>
      <p:sp>
        <p:nvSpPr>
          <p:cNvPr id="11" name="Text 9"/>
          <p:cNvSpPr/>
          <p:nvPr/>
        </p:nvSpPr>
        <p:spPr>
          <a:xfrm>
            <a:off x="822960" y="3108960"/>
            <a:ext cx="7498080" cy="292608"/>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Peer Review: Transparent, rigorous review process (minimum 2-3 reviewers)</a:t>
            </a:r>
            <a:endParaRPr lang="en-US" sz="1000" dirty="0"/>
          </a:p>
        </p:txBody>
      </p:sp>
      <p:sp>
        <p:nvSpPr>
          <p:cNvPr id="12" name="Text 10"/>
          <p:cNvSpPr/>
          <p:nvPr/>
        </p:nvSpPr>
        <p:spPr>
          <a:xfrm>
            <a:off x="822960" y="3447288"/>
            <a:ext cx="7498080" cy="292608"/>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Reputation: Published by established house, clear editorial board</a:t>
            </a:r>
            <a:endParaRPr lang="en-US" sz="1000" dirty="0"/>
          </a:p>
        </p:txBody>
      </p:sp>
      <p:sp>
        <p:nvSpPr>
          <p:cNvPr id="13" name="Text 11"/>
          <p:cNvSpPr/>
          <p:nvPr/>
        </p:nvSpPr>
        <p:spPr>
          <a:xfrm>
            <a:off x="822960" y="3785616"/>
            <a:ext cx="7498080" cy="292608"/>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Access: Open Access preferred for broader impact, or institutional access available</a:t>
            </a:r>
            <a:endParaRPr lang="en-US" sz="1000" dirty="0"/>
          </a:p>
        </p:txBody>
      </p:sp>
      <p:sp>
        <p:nvSpPr>
          <p:cNvPr id="14" name="Text 12"/>
          <p:cNvSpPr/>
          <p:nvPr/>
        </p:nvSpPr>
        <p:spPr>
          <a:xfrm>
            <a:off x="822960" y="4123944"/>
            <a:ext cx="7498080" cy="292608"/>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Timeline: Review period (2-6 months typical; beware &lt; 2 weeks)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D3748"/>
        </a:solidFill>
        <a:effectLst/>
      </p:bgPr>
    </p:bg>
    <p:spTree>
      <p:nvGrpSpPr>
        <p:cNvPr id="1" name=""/>
        <p:cNvGrpSpPr/>
        <p:nvPr/>
      </p:nvGrpSpPr>
      <p:grpSpPr>
        <a:xfrm>
          <a:off x="0" y="0"/>
          <a:ext cx="0" cy="0"/>
          <a:chOff x="0" y="0"/>
          <a:chExt cx="0" cy="0"/>
        </a:xfrm>
      </p:grpSpPr>
      <p:sp>
        <p:nvSpPr>
          <p:cNvPr id="2" name="Text 0"/>
          <p:cNvSpPr/>
          <p:nvPr/>
        </p:nvSpPr>
        <p:spPr>
          <a:xfrm>
            <a:off x="548640" y="1371600"/>
            <a:ext cx="8046720" cy="640080"/>
          </a:xfrm>
          <a:prstGeom prst="rect">
            <a:avLst/>
          </a:prstGeom>
          <a:noFill/>
        </p:spPr>
        <p:txBody>
          <a:bodyPr wrap="square" rtlCol="0" anchor="ctr"/>
          <a:lstStyle/>
          <a:p>
            <a:pPr marL="0" indent="0" algn="ctr">
              <a:buNone/>
            </a:pPr>
            <a:r>
              <a:rPr lang="en-US" sz="5000" b="1" dirty="0">
                <a:solidFill>
                  <a:srgbClr val="FFFFFF"/>
                </a:solidFill>
                <a:latin typeface="Calibri" pitchFamily="34" charset="0"/>
                <a:ea typeface="Calibri" pitchFamily="34" charset="-122"/>
                <a:cs typeface="Calibri" pitchFamily="34" charset="-120"/>
              </a:rPr>
              <a:t>Master Metrics &amp; Databases</a:t>
            </a:r>
            <a:endParaRPr lang="en-US" sz="5000" dirty="0"/>
          </a:p>
        </p:txBody>
      </p:sp>
      <p:sp>
        <p:nvSpPr>
          <p:cNvPr id="3" name="Shape 1"/>
          <p:cNvSpPr/>
          <p:nvPr/>
        </p:nvSpPr>
        <p:spPr>
          <a:xfrm>
            <a:off x="3200400" y="2903855"/>
            <a:ext cx="2743200" cy="73152"/>
          </a:xfrm>
          <a:prstGeom prst="rect">
            <a:avLst/>
          </a:prstGeom>
          <a:solidFill>
            <a:srgbClr val="ED8936"/>
          </a:solidFill>
        </p:spPr>
      </p:sp>
      <p:sp>
        <p:nvSpPr>
          <p:cNvPr id="4" name="Text 2"/>
          <p:cNvSpPr/>
          <p:nvPr/>
        </p:nvSpPr>
        <p:spPr>
          <a:xfrm>
            <a:off x="548640" y="2514600"/>
            <a:ext cx="8046720" cy="320040"/>
          </a:xfrm>
          <a:prstGeom prst="rect">
            <a:avLst/>
          </a:prstGeom>
          <a:noFill/>
        </p:spPr>
        <p:txBody>
          <a:bodyPr wrap="square" rtlCol="0" anchor="ctr"/>
          <a:lstStyle/>
          <a:p>
            <a:pPr marL="0" indent="0" algn="ctr">
              <a:buNone/>
            </a:pPr>
            <a:r>
              <a:rPr lang="en-US" sz="1600" b="1" dirty="0">
                <a:solidFill>
                  <a:srgbClr val="ED8936"/>
                </a:solidFill>
                <a:latin typeface="Calibri" pitchFamily="34" charset="0"/>
                <a:ea typeface="Calibri" pitchFamily="34" charset="-122"/>
                <a:cs typeface="Calibri" pitchFamily="34" charset="-120"/>
              </a:rPr>
              <a:t>Use These Tools Strategically for Rigorous Research</a:t>
            </a:r>
            <a:endParaRPr lang="en-US" sz="1600" dirty="0"/>
          </a:p>
        </p:txBody>
      </p:sp>
      <p:sp>
        <p:nvSpPr>
          <p:cNvPr id="5" name="Text 3"/>
          <p:cNvSpPr/>
          <p:nvPr/>
        </p:nvSpPr>
        <p:spPr>
          <a:xfrm>
            <a:off x="548640" y="2834640"/>
            <a:ext cx="8046720" cy="1325880"/>
          </a:xfrm>
          <a:prstGeom prst="rect">
            <a:avLst/>
          </a:prstGeom>
          <a:noFill/>
        </p:spPr>
        <p:txBody>
          <a:bodyPr wrap="square"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You now understand how to evaluate journal quality through metrics (Impact Factor, CiteScore, H-Index, SJR), leverage major abstracting &amp; indexing services (WoS, Scopus, PubMed, Google Scholar), search databases systematically using Boolean operators, identify red flags for predatory journals, and choose quality sources strategically. Use these tools to build credibility in your literature review, ensure your sources are peer-reviewed and indexed, and maximize your research impact.</a:t>
            </a:r>
            <a:endParaRPr lang="en-US" sz="1100" dirty="0"/>
          </a:p>
        </p:txBody>
      </p:sp>
      <p:sp>
        <p:nvSpPr>
          <p:cNvPr id="6" name="Text 4"/>
          <p:cNvSpPr/>
          <p:nvPr/>
        </p:nvSpPr>
        <p:spPr>
          <a:xfrm>
            <a:off x="548640" y="4297680"/>
            <a:ext cx="8046720" cy="320040"/>
          </a:xfrm>
          <a:prstGeom prst="rect">
            <a:avLst/>
          </a:prstGeom>
          <a:noFill/>
        </p:spPr>
        <p:txBody>
          <a:bodyPr wrap="square" rtlCol="0" anchor="ctr"/>
          <a:lstStyle/>
          <a:p>
            <a:pPr marL="0" indent="0" algn="ctr">
              <a:buNone/>
            </a:pPr>
            <a:r>
              <a:rPr lang="en-US" sz="1600" b="1" dirty="0">
                <a:solidFill>
                  <a:srgbClr val="ED8936"/>
                </a:solidFill>
                <a:latin typeface="Calibri" pitchFamily="34" charset="0"/>
                <a:ea typeface="Calibri" pitchFamily="34" charset="-122"/>
                <a:cs typeface="Calibri" pitchFamily="34" charset="-120"/>
              </a:rPr>
              <a:t>Dr. Shailesh Sivan</a:t>
            </a:r>
            <a:endParaRPr lang="en-US" sz="1600" dirty="0"/>
          </a:p>
        </p:txBody>
      </p:sp>
      <p:sp>
        <p:nvSpPr>
          <p:cNvPr id="7" name="Text 5"/>
          <p:cNvSpPr/>
          <p:nvPr/>
        </p:nvSpPr>
        <p:spPr>
          <a:xfrm>
            <a:off x="548640" y="4663440"/>
            <a:ext cx="8046720" cy="228600"/>
          </a:xfrm>
          <a:prstGeom prst="rect">
            <a:avLst/>
          </a:prstGeom>
          <a:noFill/>
        </p:spPr>
        <p:txBody>
          <a:bodyPr wrap="square" rtlCol="0" anchor="ctr"/>
          <a:lstStyle/>
          <a:p>
            <a:pPr marL="0" indent="0" algn="ctr">
              <a:buNone/>
            </a:pPr>
            <a:r>
              <a:rPr lang="en-US" sz="1100" dirty="0">
                <a:solidFill>
                  <a:srgbClr val="A0AEC0"/>
                </a:solidFill>
                <a:latin typeface="Calibri" pitchFamily="34" charset="0"/>
                <a:ea typeface="Calibri" pitchFamily="34" charset="-122"/>
                <a:cs typeface="Calibri" pitchFamily="34" charset="-120"/>
              </a:rPr>
              <a:t>Engineering Faculty Workshop</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5785</Words>
  <Application>WPS Presentation</Application>
  <PresentationFormat>On-screen Show (16:9)</PresentationFormat>
  <Paragraphs>288</Paragraphs>
  <Slides>11</Slides>
  <Notes>11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11</vt:i4>
      </vt:variant>
    </vt:vector>
  </HeadingPairs>
  <TitlesOfParts>
    <vt:vector size="23" baseType="lpstr">
      <vt:lpstr>Arial</vt:lpstr>
      <vt:lpstr>SimSun</vt:lpstr>
      <vt:lpstr>Wingdings</vt:lpstr>
      <vt:lpstr>Calibri</vt:lpstr>
      <vt:lpstr>Helvetica Neue</vt:lpstr>
      <vt:lpstr>Calibri</vt:lpstr>
      <vt:lpstr>Calibri</vt:lpstr>
      <vt:lpstr>Microsoft YaHei</vt:lpstr>
      <vt:lpstr>汉仪旗黑</vt:lpstr>
      <vt:lpstr>Arial Unicode MS</vt:lpstr>
      <vt:lpstr>宋体-简</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Journal Metrics, Abstracting &amp; Indexing</dc:title>
  <dc:creator>Dr. Shailesh Sivan</dc:creator>
  <dc:subject>PptxGenJS Presentation</dc:subject>
  <cp:lastModifiedBy>Shailesh S</cp:lastModifiedBy>
  <cp:revision>3</cp:revision>
  <dcterms:created xsi:type="dcterms:W3CDTF">2026-06-30T03:22:50Z</dcterms:created>
  <dcterms:modified xsi:type="dcterms:W3CDTF">2026-06-30T03:22:50Z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1033-12.1.26015.26015</vt:lpwstr>
  </property>
  <property fmtid="{D5CDD505-2E9C-101B-9397-08002B2CF9AE}" pid="3" name="ICV">
    <vt:lpwstr>F4BE33B219607C2E2BEB416A76D2A163_42</vt:lpwstr>
  </property>
</Properties>
</file>