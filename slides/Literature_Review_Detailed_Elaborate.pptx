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51435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25806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979" y="0"/>
            <a:ext cx="5283200" cy="25806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4552950" y="642938"/>
            <a:ext cx="3086100" cy="1735931"/>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2475309"/>
            <a:ext cx="9753600" cy="2025253"/>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4885432"/>
            <a:ext cx="5283200" cy="25806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979" y="4885432"/>
            <a:ext cx="5283200" cy="258068"/>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0"/>
          </a:xfrm>
          <a:prstGeom prst="rect">
            <a:avLst/>
          </a:prstGeom>
          <a:solidFill>
            <a:srgbClr val="2D3748"/>
          </a:solidFill>
        </p:spPr>
      </p:sp>
      <p:sp>
        <p:nvSpPr>
          <p:cNvPr id="3" name="Shape 1"/>
          <p:cNvSpPr/>
          <p:nvPr/>
        </p:nvSpPr>
        <p:spPr>
          <a:xfrm>
            <a:off x="0" y="2651760"/>
            <a:ext cx="9144000" cy="91440"/>
          </a:xfrm>
          <a:prstGeom prst="rect">
            <a:avLst/>
          </a:prstGeom>
          <a:solidFill>
            <a:srgbClr val="ED8936"/>
          </a:solidFill>
        </p:spPr>
      </p:sp>
      <p:sp>
        <p:nvSpPr>
          <p:cNvPr id="4" name="Text 2"/>
          <p:cNvSpPr/>
          <p:nvPr/>
        </p:nvSpPr>
        <p:spPr>
          <a:xfrm>
            <a:off x="548640" y="457200"/>
            <a:ext cx="8046720" cy="685800"/>
          </a:xfrm>
          <a:prstGeom prst="rect">
            <a:avLst/>
          </a:prstGeom>
          <a:noFill/>
        </p:spPr>
        <p:txBody>
          <a:bodyPr wrap="square"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How to Write a Literature Review</a:t>
            </a:r>
            <a:endParaRPr lang="en-US" sz="5400" dirty="0"/>
          </a:p>
        </p:txBody>
      </p:sp>
      <p:sp>
        <p:nvSpPr>
          <p:cNvPr id="5" name="Text 3"/>
          <p:cNvSpPr/>
          <p:nvPr/>
        </p:nvSpPr>
        <p:spPr>
          <a:xfrm>
            <a:off x="548640" y="1642110"/>
            <a:ext cx="8046720" cy="365760"/>
          </a:xfrm>
          <a:prstGeom prst="rect">
            <a:avLst/>
          </a:prstGeom>
          <a:noFill/>
        </p:spPr>
        <p:txBody>
          <a:bodyPr wrap="square" rtlCol="0" anchor="ctr"/>
          <a:lstStyle/>
          <a:p>
            <a:pPr marL="0" indent="0">
              <a:buNone/>
            </a:pPr>
            <a:r>
              <a:rPr lang="en-US" sz="2000" dirty="0">
                <a:solidFill>
                  <a:srgbClr val="ED8936"/>
                </a:solidFill>
                <a:latin typeface="Calibri" pitchFamily="34" charset="0"/>
                <a:ea typeface="Calibri" pitchFamily="34" charset="-122"/>
                <a:cs typeface="Calibri" pitchFamily="34" charset="-120"/>
              </a:rPr>
              <a:t>Detailed Guide: 12 Models Explained with Examples</a:t>
            </a:r>
            <a:endParaRPr lang="en-US" sz="2000" dirty="0"/>
          </a:p>
        </p:txBody>
      </p:sp>
      <p:sp>
        <p:nvSpPr>
          <p:cNvPr id="6" name="Text 4"/>
          <p:cNvSpPr/>
          <p:nvPr/>
        </p:nvSpPr>
        <p:spPr>
          <a:xfrm>
            <a:off x="548640" y="3017520"/>
            <a:ext cx="8046720" cy="411480"/>
          </a:xfrm>
          <a:prstGeom prst="rect">
            <a:avLst/>
          </a:prstGeom>
          <a:noFill/>
        </p:spPr>
        <p:txBody>
          <a:bodyPr wrap="square" rtlCol="0" anchor="ctr"/>
          <a:lstStyle/>
          <a:p>
            <a:pPr marL="0" indent="0">
              <a:buNone/>
            </a:pPr>
            <a:r>
              <a:rPr lang="en-US" sz="3000" b="1" dirty="0">
                <a:solidFill>
                  <a:srgbClr val="ED8936"/>
                </a:solidFill>
                <a:latin typeface="Calibri" pitchFamily="34" charset="0"/>
                <a:ea typeface="Calibri" pitchFamily="34" charset="-122"/>
                <a:cs typeface="Calibri" pitchFamily="34" charset="-120"/>
              </a:rPr>
              <a:t>Dr. Shailesh Sivan</a:t>
            </a:r>
            <a:endParaRPr lang="en-US" sz="3000" dirty="0"/>
          </a:p>
        </p:txBody>
      </p:sp>
      <p:sp>
        <p:nvSpPr>
          <p:cNvPr id="7" name="Text 5"/>
          <p:cNvSpPr/>
          <p:nvPr/>
        </p:nvSpPr>
        <p:spPr>
          <a:xfrm>
            <a:off x="548640" y="3520440"/>
            <a:ext cx="8046720" cy="274320"/>
          </a:xfrm>
          <a:prstGeom prst="rect">
            <a:avLst/>
          </a:prstGeom>
          <a:noFill/>
        </p:spPr>
        <p:txBody>
          <a:bodyPr wrap="square" rtlCol="0" anchor="ctr"/>
          <a:lstStyle/>
          <a:p>
            <a:pPr marL="0" indent="0">
              <a:buNone/>
            </a:pPr>
            <a:r>
              <a:rPr lang="en-US" sz="1200" dirty="0">
                <a:solidFill>
                  <a:srgbClr val="718096"/>
                </a:solidFill>
                <a:latin typeface="Calibri" pitchFamily="34" charset="0"/>
                <a:ea typeface="Calibri" pitchFamily="34" charset="-122"/>
                <a:cs typeface="Calibri" pitchFamily="34" charset="-120"/>
              </a:rPr>
              <a:t>Engineering Faculty Workshop  •  Research Writing Series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38B2AC"/>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What is a Literature Review?</a:t>
            </a:r>
            <a:endParaRPr lang="en-US" sz="4000" dirty="0"/>
          </a:p>
        </p:txBody>
      </p:sp>
      <p:sp>
        <p:nvSpPr>
          <p:cNvPr id="4" name="Shape 2"/>
          <p:cNvSpPr/>
          <p:nvPr/>
        </p:nvSpPr>
        <p:spPr>
          <a:xfrm>
            <a:off x="548640" y="914400"/>
            <a:ext cx="8046720" cy="365760"/>
          </a:xfrm>
          <a:prstGeom prst="rect">
            <a:avLst/>
          </a:prstGeom>
          <a:solidFill>
            <a:srgbClr val="F7FAFC"/>
          </a:solidFill>
        </p:spPr>
      </p:sp>
      <p:sp>
        <p:nvSpPr>
          <p:cNvPr id="5" name="Text 3"/>
          <p:cNvSpPr/>
          <p:nvPr/>
        </p:nvSpPr>
        <p:spPr>
          <a:xfrm>
            <a:off x="685800" y="987552"/>
            <a:ext cx="7772400" cy="219456"/>
          </a:xfrm>
          <a:prstGeom prst="rect">
            <a:avLst/>
          </a:prstGeom>
          <a:noFill/>
        </p:spPr>
        <p:txBody>
          <a:bodyPr wrap="square" rtlCol="0" anchor="ctr"/>
          <a:lstStyle/>
          <a:p>
            <a:pPr marL="0" indent="0">
              <a:buNone/>
            </a:pPr>
            <a:r>
              <a:rPr lang="en-US" sz="1100" b="1" dirty="0">
                <a:solidFill>
                  <a:srgbClr val="38B2AC"/>
                </a:solidFill>
                <a:latin typeface="Calibri" pitchFamily="34" charset="0"/>
                <a:ea typeface="Calibri" pitchFamily="34" charset="-122"/>
                <a:cs typeface="Calibri" pitchFamily="34" charset="-120"/>
              </a:rPr>
              <a:t>Essential Metrics: 3-5 pages  •  20-50+ citations  •  2-3 weeks typical research time</a:t>
            </a:r>
            <a:endParaRPr lang="en-US" sz="1100" dirty="0"/>
          </a:p>
        </p:txBody>
      </p:sp>
      <p:sp>
        <p:nvSpPr>
          <p:cNvPr id="6" name="Shape 4"/>
          <p:cNvSpPr/>
          <p:nvPr/>
        </p:nvSpPr>
        <p:spPr>
          <a:xfrm>
            <a:off x="548640" y="1417320"/>
            <a:ext cx="8046720" cy="3063240"/>
          </a:xfrm>
          <a:prstGeom prst="rect">
            <a:avLst/>
          </a:prstGeom>
          <a:solidFill>
            <a:srgbClr val="F7FAFC"/>
          </a:solidFill>
          <a:ln w="25400">
            <a:solidFill>
              <a:srgbClr val="38B2AC"/>
            </a:solidFill>
            <a:prstDash val="solid"/>
          </a:ln>
        </p:spPr>
      </p:sp>
      <p:sp>
        <p:nvSpPr>
          <p:cNvPr id="7" name="Text 5"/>
          <p:cNvSpPr/>
          <p:nvPr/>
        </p:nvSpPr>
        <p:spPr>
          <a:xfrm>
            <a:off x="731520" y="1554480"/>
            <a:ext cx="7680960" cy="256032"/>
          </a:xfrm>
          <a:prstGeom prst="rect">
            <a:avLst/>
          </a:prstGeom>
          <a:noFill/>
        </p:spPr>
        <p:txBody>
          <a:bodyPr wrap="square" rtlCol="0" anchor="ctr"/>
          <a:lstStyle/>
          <a:p>
            <a:pPr marL="0" indent="0">
              <a:buNone/>
            </a:pPr>
            <a:r>
              <a:rPr lang="en-US" sz="1300" b="1" dirty="0">
                <a:solidFill>
                  <a:srgbClr val="38B2AC"/>
                </a:solidFill>
                <a:latin typeface="Calibri" pitchFamily="34" charset="0"/>
                <a:ea typeface="Calibri" pitchFamily="34" charset="-122"/>
                <a:cs typeface="Calibri" pitchFamily="34" charset="-120"/>
              </a:rPr>
              <a:t>Core Purpose</a:t>
            </a:r>
            <a:endParaRPr lang="en-US" sz="1300" dirty="0"/>
          </a:p>
        </p:txBody>
      </p:sp>
      <p:sp>
        <p:nvSpPr>
          <p:cNvPr id="8" name="Text 6"/>
          <p:cNvSpPr/>
          <p:nvPr/>
        </p:nvSpPr>
        <p:spPr>
          <a:xfrm>
            <a:off x="822960" y="1901952"/>
            <a:ext cx="7498080" cy="292608"/>
          </a:xfrm>
          <a:prstGeom prst="rect">
            <a:avLst/>
          </a:prstGeom>
          <a:noFill/>
        </p:spPr>
        <p:txBody>
          <a:bodyPr wrap="square" rtlCol="0" anchor="ctr"/>
          <a:lstStyle/>
          <a:p>
            <a:pPr marL="0" indent="0">
              <a:buNone/>
            </a:pPr>
            <a:r>
              <a:rPr lang="en-US" sz="1200" b="1" dirty="0">
                <a:solidFill>
                  <a:srgbClr val="2D3748"/>
                </a:solidFill>
                <a:latin typeface="Calibri" pitchFamily="34" charset="0"/>
                <a:ea typeface="Calibri" pitchFamily="34" charset="-122"/>
                <a:cs typeface="Calibri" pitchFamily="34" charset="-120"/>
              </a:rPr>
              <a:t>▪  Critical and comprehensive summary of all relevant research in your field</a:t>
            </a:r>
            <a:endParaRPr lang="en-US" sz="1200" b="1" dirty="0">
              <a:solidFill>
                <a:srgbClr val="2D3748"/>
              </a:solidFill>
              <a:latin typeface="Calibri" pitchFamily="34" charset="0"/>
              <a:ea typeface="Calibri" pitchFamily="34" charset="-122"/>
              <a:cs typeface="Calibri" pitchFamily="34" charset="-120"/>
            </a:endParaRPr>
          </a:p>
        </p:txBody>
      </p:sp>
      <p:sp>
        <p:nvSpPr>
          <p:cNvPr id="9" name="Text 7"/>
          <p:cNvSpPr/>
          <p:nvPr/>
        </p:nvSpPr>
        <p:spPr>
          <a:xfrm>
            <a:off x="822960" y="2267712"/>
            <a:ext cx="7498080" cy="292608"/>
          </a:xfrm>
          <a:prstGeom prst="rect">
            <a:avLst/>
          </a:prstGeom>
          <a:noFill/>
        </p:spPr>
        <p:txBody>
          <a:bodyPr wrap="square" rtlCol="0" anchor="ctr"/>
          <a:lstStyle/>
          <a:p>
            <a:pPr marL="0" indent="0">
              <a:buNone/>
            </a:pPr>
            <a:r>
              <a:rPr lang="en-US" sz="1200" b="1" dirty="0">
                <a:solidFill>
                  <a:srgbClr val="2D3748"/>
                </a:solidFill>
                <a:latin typeface="Calibri" pitchFamily="34" charset="0"/>
                <a:ea typeface="Calibri" pitchFamily="34" charset="-122"/>
                <a:cs typeface="Calibri" pitchFamily="34" charset="-120"/>
              </a:rPr>
              <a:t>▪  Demonstrates your deep knowledge and mastery of the research landscape</a:t>
            </a:r>
            <a:endParaRPr lang="en-US" sz="1200" b="1" dirty="0">
              <a:solidFill>
                <a:srgbClr val="2D3748"/>
              </a:solidFill>
              <a:latin typeface="Calibri" pitchFamily="34" charset="0"/>
              <a:ea typeface="Calibri" pitchFamily="34" charset="-122"/>
              <a:cs typeface="Calibri" pitchFamily="34" charset="-120"/>
            </a:endParaRPr>
          </a:p>
        </p:txBody>
      </p:sp>
      <p:sp>
        <p:nvSpPr>
          <p:cNvPr id="10" name="Text 8"/>
          <p:cNvSpPr/>
          <p:nvPr/>
        </p:nvSpPr>
        <p:spPr>
          <a:xfrm>
            <a:off x="822960" y="2633472"/>
            <a:ext cx="7498080" cy="292608"/>
          </a:xfrm>
          <a:prstGeom prst="rect">
            <a:avLst/>
          </a:prstGeom>
          <a:noFill/>
        </p:spPr>
        <p:txBody>
          <a:bodyPr wrap="square" rtlCol="0" anchor="ctr"/>
          <a:lstStyle/>
          <a:p>
            <a:pPr marL="0" indent="0">
              <a:buNone/>
            </a:pPr>
            <a:r>
              <a:rPr lang="en-US" sz="1200" b="1" dirty="0">
                <a:solidFill>
                  <a:srgbClr val="2D3748"/>
                </a:solidFill>
                <a:latin typeface="Calibri" pitchFamily="34" charset="0"/>
                <a:ea typeface="Calibri" pitchFamily="34" charset="-122"/>
                <a:cs typeface="Calibri" pitchFamily="34" charset="-120"/>
              </a:rPr>
              <a:t>▪  Identifies gaps, contradictions, controversies, and unsolved problems</a:t>
            </a:r>
            <a:endParaRPr lang="en-US" sz="1200" b="1" dirty="0">
              <a:solidFill>
                <a:srgbClr val="2D3748"/>
              </a:solidFill>
              <a:latin typeface="Calibri" pitchFamily="34" charset="0"/>
              <a:ea typeface="Calibri" pitchFamily="34" charset="-122"/>
              <a:cs typeface="Calibri" pitchFamily="34" charset="-120"/>
            </a:endParaRPr>
          </a:p>
        </p:txBody>
      </p:sp>
      <p:sp>
        <p:nvSpPr>
          <p:cNvPr id="11" name="Text 9"/>
          <p:cNvSpPr/>
          <p:nvPr/>
        </p:nvSpPr>
        <p:spPr>
          <a:xfrm>
            <a:off x="822960" y="2999232"/>
            <a:ext cx="7498080" cy="292608"/>
          </a:xfrm>
          <a:prstGeom prst="rect">
            <a:avLst/>
          </a:prstGeom>
          <a:noFill/>
        </p:spPr>
        <p:txBody>
          <a:bodyPr wrap="square" rtlCol="0" anchor="ctr"/>
          <a:lstStyle/>
          <a:p>
            <a:pPr marL="0" indent="0">
              <a:buNone/>
            </a:pPr>
            <a:r>
              <a:rPr lang="en-US" sz="1200" b="1" dirty="0">
                <a:solidFill>
                  <a:srgbClr val="2D3748"/>
                </a:solidFill>
                <a:latin typeface="Calibri" pitchFamily="34" charset="0"/>
                <a:ea typeface="Calibri" pitchFamily="34" charset="-122"/>
                <a:cs typeface="Calibri" pitchFamily="34" charset="-120"/>
              </a:rPr>
              <a:t>▪  Shows precisely how your research fits within and contributes to existing knowledge</a:t>
            </a:r>
            <a:endParaRPr lang="en-US" sz="1200" b="1" dirty="0">
              <a:solidFill>
                <a:srgbClr val="2D3748"/>
              </a:solidFill>
              <a:latin typeface="Calibri" pitchFamily="34" charset="0"/>
              <a:ea typeface="Calibri" pitchFamily="34" charset="-122"/>
              <a:cs typeface="Calibri" pitchFamily="34" charset="-120"/>
            </a:endParaRPr>
          </a:p>
        </p:txBody>
      </p:sp>
      <p:sp>
        <p:nvSpPr>
          <p:cNvPr id="12" name="Text 10"/>
          <p:cNvSpPr/>
          <p:nvPr/>
        </p:nvSpPr>
        <p:spPr>
          <a:xfrm>
            <a:off x="822960" y="3364992"/>
            <a:ext cx="7498080" cy="292608"/>
          </a:xfrm>
          <a:prstGeom prst="rect">
            <a:avLst/>
          </a:prstGeom>
          <a:noFill/>
        </p:spPr>
        <p:txBody>
          <a:bodyPr wrap="square" rtlCol="0" anchor="ctr"/>
          <a:lstStyle/>
          <a:p>
            <a:pPr marL="0" indent="0">
              <a:buNone/>
            </a:pPr>
            <a:r>
              <a:rPr lang="en-US" sz="1200" b="1" dirty="0">
                <a:solidFill>
                  <a:srgbClr val="2D3748"/>
                </a:solidFill>
                <a:latin typeface="Calibri" pitchFamily="34" charset="0"/>
                <a:ea typeface="Calibri" pitchFamily="34" charset="-122"/>
                <a:cs typeface="Calibri" pitchFamily="34" charset="-120"/>
              </a:rPr>
              <a:t>▪  Synthesizes and evaluates findings from multiple independent sources</a:t>
            </a:r>
            <a:endParaRPr lang="en-US" sz="1200" b="1" dirty="0">
              <a:solidFill>
                <a:srgbClr val="2D3748"/>
              </a:solidFill>
              <a:latin typeface="Calibri" pitchFamily="34" charset="0"/>
              <a:ea typeface="Calibri" pitchFamily="34" charset="-122"/>
              <a:cs typeface="Calibri" pitchFamily="34" charset="-120"/>
            </a:endParaRPr>
          </a:p>
        </p:txBody>
      </p:sp>
      <p:sp>
        <p:nvSpPr>
          <p:cNvPr id="13" name="Text 11"/>
          <p:cNvSpPr/>
          <p:nvPr/>
        </p:nvSpPr>
        <p:spPr>
          <a:xfrm>
            <a:off x="822960" y="3730752"/>
            <a:ext cx="7498080" cy="292608"/>
          </a:xfrm>
          <a:prstGeom prst="rect">
            <a:avLst/>
          </a:prstGeom>
          <a:noFill/>
        </p:spPr>
        <p:txBody>
          <a:bodyPr wrap="square" rtlCol="0" anchor="ctr"/>
          <a:lstStyle/>
          <a:p>
            <a:pPr marL="0" indent="0">
              <a:buNone/>
            </a:pPr>
            <a:r>
              <a:rPr lang="en-US" sz="1200" b="1" dirty="0">
                <a:solidFill>
                  <a:srgbClr val="2D3748"/>
                </a:solidFill>
                <a:latin typeface="Calibri" pitchFamily="34" charset="0"/>
                <a:ea typeface="Calibri" pitchFamily="34" charset="-122"/>
                <a:cs typeface="Calibri" pitchFamily="34" charset="-120"/>
              </a:rPr>
              <a:t>▪  Establishes clear, compelling context for why your research is needed</a:t>
            </a:r>
            <a:endParaRPr lang="en-US" sz="1200" b="1" dirty="0">
              <a:solidFill>
                <a:srgbClr val="2D3748"/>
              </a:solidFill>
              <a:latin typeface="Calibri" pitchFamily="34" charset="0"/>
              <a:ea typeface="Calibri" pitchFamily="34" charset="-122"/>
              <a:cs typeface="Calibri"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D8936"/>
          </a:solidFill>
        </p:spPr>
      </p:sp>
      <p:sp>
        <p:nvSpPr>
          <p:cNvPr id="3" name="Text 1"/>
          <p:cNvSpPr/>
          <p:nvPr/>
        </p:nvSpPr>
        <p:spPr>
          <a:xfrm>
            <a:off x="548640" y="164465"/>
            <a:ext cx="8615680" cy="457200"/>
          </a:xfrm>
          <a:prstGeom prst="rect">
            <a:avLst/>
          </a:prstGeom>
          <a:noFill/>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Model 1: Chronological Approach</a:t>
            </a:r>
            <a:endParaRPr lang="en-US" sz="36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ED8936"/>
                </a:solidFill>
                <a:latin typeface="Calibri" pitchFamily="34" charset="0"/>
                <a:ea typeface="Calibri" pitchFamily="34" charset="-122"/>
                <a:cs typeface="Calibri" pitchFamily="34" charset="-120"/>
              </a:rPr>
              <a:t>Trace research evolution over time | Shows how ideas developed</a:t>
            </a:r>
            <a:endParaRPr lang="en-US" sz="1100" dirty="0"/>
          </a:p>
        </p:txBody>
      </p:sp>
      <p:sp>
        <p:nvSpPr>
          <p:cNvPr id="5" name="Shape 3"/>
          <p:cNvSpPr/>
          <p:nvPr/>
        </p:nvSpPr>
        <p:spPr>
          <a:xfrm>
            <a:off x="548640" y="1280160"/>
            <a:ext cx="3886200" cy="274320"/>
          </a:xfrm>
          <a:prstGeom prst="rect">
            <a:avLst/>
          </a:prstGeom>
          <a:solidFill>
            <a:srgbClr val="ED8936"/>
          </a:solidFill>
        </p:spPr>
      </p:sp>
      <p:sp>
        <p:nvSpPr>
          <p:cNvPr id="6" name="Text 4"/>
          <p:cNvSpPr/>
          <p:nvPr/>
        </p:nvSpPr>
        <p:spPr>
          <a:xfrm>
            <a:off x="640080" y="1316736"/>
            <a:ext cx="3749040" cy="201168"/>
          </a:xfrm>
          <a:prstGeom prst="rect">
            <a:avLst/>
          </a:prstGeom>
          <a:noFill/>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When to Use</a:t>
            </a:r>
            <a:endParaRPr lang="en-US" sz="1100" dirty="0"/>
          </a:p>
        </p:txBody>
      </p:sp>
      <p:sp>
        <p:nvSpPr>
          <p:cNvPr id="7" name="Shape 5"/>
          <p:cNvSpPr/>
          <p:nvPr/>
        </p:nvSpPr>
        <p:spPr>
          <a:xfrm>
            <a:off x="4709160" y="1280160"/>
            <a:ext cx="3886200" cy="274320"/>
          </a:xfrm>
          <a:prstGeom prst="rect">
            <a:avLst/>
          </a:prstGeom>
          <a:solidFill>
            <a:srgbClr val="ED8936"/>
          </a:solidFill>
        </p:spPr>
      </p:sp>
      <p:sp>
        <p:nvSpPr>
          <p:cNvPr id="8" name="Text 6"/>
          <p:cNvSpPr/>
          <p:nvPr/>
        </p:nvSpPr>
        <p:spPr>
          <a:xfrm>
            <a:off x="4800600" y="1316736"/>
            <a:ext cx="3749040" cy="201168"/>
          </a:xfrm>
          <a:prstGeom prst="rect">
            <a:avLst/>
          </a:prstGeom>
          <a:noFill/>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Structure</a:t>
            </a:r>
            <a:endParaRPr lang="en-US" sz="1100" dirty="0"/>
          </a:p>
        </p:txBody>
      </p:sp>
      <p:sp>
        <p:nvSpPr>
          <p:cNvPr id="9" name="Shape 7"/>
          <p:cNvSpPr/>
          <p:nvPr/>
        </p:nvSpPr>
        <p:spPr>
          <a:xfrm>
            <a:off x="548640" y="1600200"/>
            <a:ext cx="3886200" cy="1965960"/>
          </a:xfrm>
          <a:prstGeom prst="rect">
            <a:avLst/>
          </a:prstGeom>
          <a:solidFill>
            <a:srgbClr val="F7FAFC"/>
          </a:solidFill>
          <a:ln w="12700">
            <a:solidFill>
              <a:srgbClr val="ED8936"/>
            </a:solidFill>
            <a:prstDash val="solid"/>
          </a:ln>
        </p:spPr>
      </p:sp>
      <p:sp>
        <p:nvSpPr>
          <p:cNvPr id="10" name="Text 8"/>
          <p:cNvSpPr/>
          <p:nvPr/>
        </p:nvSpPr>
        <p:spPr>
          <a:xfrm>
            <a:off x="685800" y="175564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Field has clear historical milestones</a:t>
            </a:r>
            <a:endParaRPr lang="en-US" sz="1000" dirty="0"/>
          </a:p>
        </p:txBody>
      </p:sp>
      <p:sp>
        <p:nvSpPr>
          <p:cNvPr id="11" name="Text 9"/>
          <p:cNvSpPr/>
          <p:nvPr/>
        </p:nvSpPr>
        <p:spPr>
          <a:xfrm>
            <a:off x="685800" y="2048256"/>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Evolution of methodology important</a:t>
            </a:r>
            <a:endParaRPr lang="en-US" sz="1000" dirty="0"/>
          </a:p>
        </p:txBody>
      </p:sp>
      <p:sp>
        <p:nvSpPr>
          <p:cNvPr id="12" name="Text 10"/>
          <p:cNvSpPr/>
          <p:nvPr/>
        </p:nvSpPr>
        <p:spPr>
          <a:xfrm>
            <a:off x="685800" y="2340864"/>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Paradigm shifts evident over time</a:t>
            </a:r>
            <a:endParaRPr lang="en-US" sz="1000" dirty="0"/>
          </a:p>
        </p:txBody>
      </p:sp>
      <p:sp>
        <p:nvSpPr>
          <p:cNvPr id="13" name="Text 11"/>
          <p:cNvSpPr/>
          <p:nvPr/>
        </p:nvSpPr>
        <p:spPr>
          <a:xfrm>
            <a:off x="685800" y="2633472"/>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Technology/tools changed significantly</a:t>
            </a:r>
            <a:endParaRPr lang="en-US" sz="1000" dirty="0"/>
          </a:p>
        </p:txBody>
      </p:sp>
      <p:sp>
        <p:nvSpPr>
          <p:cNvPr id="14" name="Text 12"/>
          <p:cNvSpPr/>
          <p:nvPr/>
        </p:nvSpPr>
        <p:spPr>
          <a:xfrm>
            <a:off x="685800" y="2926080"/>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Theories refined progressively</a:t>
            </a:r>
            <a:endParaRPr lang="en-US" sz="1000" dirty="0"/>
          </a:p>
        </p:txBody>
      </p:sp>
      <p:sp>
        <p:nvSpPr>
          <p:cNvPr id="15" name="Text 13"/>
          <p:cNvSpPr/>
          <p:nvPr/>
        </p:nvSpPr>
        <p:spPr>
          <a:xfrm>
            <a:off x="685800" y="321868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Reader needs historical context</a:t>
            </a:r>
            <a:endParaRPr lang="en-US" sz="1000" dirty="0"/>
          </a:p>
        </p:txBody>
      </p:sp>
      <p:sp>
        <p:nvSpPr>
          <p:cNvPr id="16" name="Shape 14"/>
          <p:cNvSpPr/>
          <p:nvPr/>
        </p:nvSpPr>
        <p:spPr>
          <a:xfrm>
            <a:off x="4709160" y="1600200"/>
            <a:ext cx="3886200" cy="1965960"/>
          </a:xfrm>
          <a:prstGeom prst="rect">
            <a:avLst/>
          </a:prstGeom>
          <a:solidFill>
            <a:srgbClr val="F7FAFC"/>
          </a:solidFill>
          <a:ln w="12700">
            <a:solidFill>
              <a:srgbClr val="ED8936"/>
            </a:solidFill>
            <a:prstDash val="solid"/>
          </a:ln>
        </p:spPr>
      </p:sp>
      <p:sp>
        <p:nvSpPr>
          <p:cNvPr id="17" name="Text 15"/>
          <p:cNvSpPr/>
          <p:nvPr/>
        </p:nvSpPr>
        <p:spPr>
          <a:xfrm>
            <a:off x="4846320" y="175564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Early foundational work (1980s-1990s)</a:t>
            </a:r>
            <a:endParaRPr lang="en-US" sz="1000" dirty="0"/>
          </a:p>
        </p:txBody>
      </p:sp>
      <p:sp>
        <p:nvSpPr>
          <p:cNvPr id="18" name="Text 16"/>
          <p:cNvSpPr/>
          <p:nvPr/>
        </p:nvSpPr>
        <p:spPr>
          <a:xfrm>
            <a:off x="4846320" y="2048256"/>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Middle development period (2000s-2010s)</a:t>
            </a:r>
            <a:endParaRPr lang="en-US" sz="1000" dirty="0"/>
          </a:p>
        </p:txBody>
      </p:sp>
      <p:sp>
        <p:nvSpPr>
          <p:cNvPr id="19" name="Text 17"/>
          <p:cNvSpPr/>
          <p:nvPr/>
        </p:nvSpPr>
        <p:spPr>
          <a:xfrm>
            <a:off x="4846320" y="2340864"/>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Recent advances (2015-present)</a:t>
            </a:r>
            <a:endParaRPr lang="en-US" sz="1000" dirty="0"/>
          </a:p>
        </p:txBody>
      </p:sp>
      <p:sp>
        <p:nvSpPr>
          <p:cNvPr id="20" name="Text 18"/>
          <p:cNvSpPr/>
          <p:nvPr/>
        </p:nvSpPr>
        <p:spPr>
          <a:xfrm>
            <a:off x="4846320" y="2633472"/>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Highlight paradigm shifts</a:t>
            </a:r>
            <a:endParaRPr lang="en-US" sz="1000" dirty="0"/>
          </a:p>
        </p:txBody>
      </p:sp>
      <p:sp>
        <p:nvSpPr>
          <p:cNvPr id="21" name="Text 19"/>
          <p:cNvSpPr/>
          <p:nvPr/>
        </p:nvSpPr>
        <p:spPr>
          <a:xfrm>
            <a:off x="4846320" y="2926080"/>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Note methodological improvements</a:t>
            </a:r>
            <a:endParaRPr lang="en-US" sz="1000" dirty="0"/>
          </a:p>
        </p:txBody>
      </p:sp>
      <p:sp>
        <p:nvSpPr>
          <p:cNvPr id="22" name="Text 20"/>
          <p:cNvSpPr/>
          <p:nvPr/>
        </p:nvSpPr>
        <p:spPr>
          <a:xfrm>
            <a:off x="4846320" y="321868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Show concept evolution</a:t>
            </a:r>
            <a:endParaRPr lang="en-US" sz="1000" dirty="0"/>
          </a:p>
        </p:txBody>
      </p:sp>
      <p:sp>
        <p:nvSpPr>
          <p:cNvPr id="23" name="Shape 21"/>
          <p:cNvSpPr/>
          <p:nvPr/>
        </p:nvSpPr>
        <p:spPr>
          <a:xfrm>
            <a:off x="548640" y="3657600"/>
            <a:ext cx="8046720" cy="822960"/>
          </a:xfrm>
          <a:prstGeom prst="rect">
            <a:avLst/>
          </a:prstGeom>
          <a:solidFill>
            <a:srgbClr val="F7FAFC"/>
          </a:solidFill>
          <a:ln w="12700">
            <a:solidFill>
              <a:srgbClr val="ED8936"/>
            </a:solidFill>
            <a:prstDash val="solid"/>
          </a:ln>
        </p:spPr>
      </p:sp>
      <p:sp>
        <p:nvSpPr>
          <p:cNvPr id="24" name="Text 22"/>
          <p:cNvSpPr/>
          <p:nvPr/>
        </p:nvSpPr>
        <p:spPr>
          <a:xfrm>
            <a:off x="685800" y="3730752"/>
            <a:ext cx="7772400" cy="201168"/>
          </a:xfrm>
          <a:prstGeom prst="rect">
            <a:avLst/>
          </a:prstGeom>
          <a:noFill/>
        </p:spPr>
        <p:txBody>
          <a:bodyPr wrap="square" rtlCol="0" anchor="ctr"/>
          <a:lstStyle/>
          <a:p>
            <a:pPr marL="0" indent="0">
              <a:buNone/>
            </a:pPr>
            <a:r>
              <a:rPr lang="en-US" sz="1100" b="1" dirty="0">
                <a:solidFill>
                  <a:srgbClr val="ED8936"/>
                </a:solidFill>
                <a:latin typeface="Calibri" pitchFamily="34" charset="0"/>
                <a:ea typeface="Calibri" pitchFamily="34" charset="-122"/>
                <a:cs typeface="Calibri" pitchFamily="34" charset="-120"/>
              </a:rPr>
              <a:t>Example: Artificial Intelligence Development</a:t>
            </a:r>
            <a:endParaRPr lang="en-US" sz="1100" dirty="0"/>
          </a:p>
        </p:txBody>
      </p:sp>
      <p:sp>
        <p:nvSpPr>
          <p:cNvPr id="25" name="Text 23"/>
          <p:cNvSpPr/>
          <p:nvPr/>
        </p:nvSpPr>
        <p:spPr>
          <a:xfrm>
            <a:off x="685800" y="3977640"/>
            <a:ext cx="7772400" cy="411480"/>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1980s: Expert systems &amp; symbolic AI  •  2000s: Machine learning emergence  •  2012: Deep learning revolution (AlexNet)  •  2017+: Transformers &amp; large language models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48BB78"/>
          </a:solidFill>
        </p:spPr>
      </p:sp>
      <p:sp>
        <p:nvSpPr>
          <p:cNvPr id="3" name="Text 1"/>
          <p:cNvSpPr/>
          <p:nvPr/>
        </p:nvSpPr>
        <p:spPr>
          <a:xfrm>
            <a:off x="548640" y="164465"/>
            <a:ext cx="9302750" cy="457200"/>
          </a:xfrm>
          <a:prstGeom prst="rect">
            <a:avLst/>
          </a:prstGeom>
          <a:noFill/>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Model 2: Thematic Approach ⭐ </a:t>
            </a:r>
            <a:endParaRPr lang="en-US" sz="36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48BB78"/>
                </a:solidFill>
                <a:latin typeface="Calibri" pitchFamily="34" charset="0"/>
                <a:ea typeface="Calibri" pitchFamily="34" charset="-122"/>
                <a:cs typeface="Calibri" pitchFamily="34" charset="-120"/>
              </a:rPr>
              <a:t>Organize research by main topics and key themes | Flexible and widely applicable</a:t>
            </a:r>
            <a:endParaRPr lang="en-US" sz="1100" dirty="0"/>
          </a:p>
        </p:txBody>
      </p:sp>
      <p:sp>
        <p:nvSpPr>
          <p:cNvPr id="5" name="Shape 3"/>
          <p:cNvSpPr/>
          <p:nvPr/>
        </p:nvSpPr>
        <p:spPr>
          <a:xfrm>
            <a:off x="548640" y="1280160"/>
            <a:ext cx="3886200" cy="274320"/>
          </a:xfrm>
          <a:prstGeom prst="rect">
            <a:avLst/>
          </a:prstGeom>
          <a:solidFill>
            <a:srgbClr val="48BB78"/>
          </a:solidFill>
        </p:spPr>
      </p:sp>
      <p:sp>
        <p:nvSpPr>
          <p:cNvPr id="6" name="Text 4"/>
          <p:cNvSpPr/>
          <p:nvPr/>
        </p:nvSpPr>
        <p:spPr>
          <a:xfrm>
            <a:off x="640080" y="1316736"/>
            <a:ext cx="3749040" cy="201168"/>
          </a:xfrm>
          <a:prstGeom prst="rect">
            <a:avLst/>
          </a:prstGeom>
          <a:noFill/>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When to Use</a:t>
            </a:r>
            <a:endParaRPr lang="en-US" sz="1100" dirty="0"/>
          </a:p>
        </p:txBody>
      </p:sp>
      <p:sp>
        <p:nvSpPr>
          <p:cNvPr id="7" name="Shape 5"/>
          <p:cNvSpPr/>
          <p:nvPr/>
        </p:nvSpPr>
        <p:spPr>
          <a:xfrm>
            <a:off x="4709160" y="1280160"/>
            <a:ext cx="3886200" cy="274320"/>
          </a:xfrm>
          <a:prstGeom prst="rect">
            <a:avLst/>
          </a:prstGeom>
          <a:solidFill>
            <a:srgbClr val="48BB78"/>
          </a:solidFill>
        </p:spPr>
      </p:sp>
      <p:sp>
        <p:nvSpPr>
          <p:cNvPr id="8" name="Text 6"/>
          <p:cNvSpPr/>
          <p:nvPr/>
        </p:nvSpPr>
        <p:spPr>
          <a:xfrm>
            <a:off x="4800600" y="1316736"/>
            <a:ext cx="3749040" cy="201168"/>
          </a:xfrm>
          <a:prstGeom prst="rect">
            <a:avLst/>
          </a:prstGeom>
          <a:noFill/>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Structure</a:t>
            </a:r>
            <a:endParaRPr lang="en-US" sz="1100" dirty="0"/>
          </a:p>
        </p:txBody>
      </p:sp>
      <p:sp>
        <p:nvSpPr>
          <p:cNvPr id="9" name="Shape 7"/>
          <p:cNvSpPr/>
          <p:nvPr/>
        </p:nvSpPr>
        <p:spPr>
          <a:xfrm>
            <a:off x="548640" y="1600200"/>
            <a:ext cx="3886200" cy="1965960"/>
          </a:xfrm>
          <a:prstGeom prst="rect">
            <a:avLst/>
          </a:prstGeom>
          <a:solidFill>
            <a:srgbClr val="F7FAFC"/>
          </a:solidFill>
          <a:ln w="12700">
            <a:solidFill>
              <a:srgbClr val="48BB78"/>
            </a:solidFill>
            <a:prstDash val="solid"/>
          </a:ln>
        </p:spPr>
      </p:sp>
      <p:sp>
        <p:nvSpPr>
          <p:cNvPr id="10" name="Text 8"/>
          <p:cNvSpPr/>
          <p:nvPr/>
        </p:nvSpPr>
        <p:spPr>
          <a:xfrm>
            <a:off x="685800" y="175564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Multiple distinct topics in field</a:t>
            </a:r>
            <a:endParaRPr lang="en-US" sz="1000" dirty="0"/>
          </a:p>
        </p:txBody>
      </p:sp>
      <p:sp>
        <p:nvSpPr>
          <p:cNvPr id="11" name="Text 9"/>
          <p:cNvSpPr/>
          <p:nvPr/>
        </p:nvSpPr>
        <p:spPr>
          <a:xfrm>
            <a:off x="685800" y="2048256"/>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Complex interdisciplinary research</a:t>
            </a:r>
            <a:endParaRPr lang="en-US" sz="1000" dirty="0"/>
          </a:p>
        </p:txBody>
      </p:sp>
      <p:sp>
        <p:nvSpPr>
          <p:cNvPr id="12" name="Text 10"/>
          <p:cNvSpPr/>
          <p:nvPr/>
        </p:nvSpPr>
        <p:spPr>
          <a:xfrm>
            <a:off x="685800" y="2340864"/>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No clear chronological pattern</a:t>
            </a:r>
            <a:endParaRPr lang="en-US" sz="1000" dirty="0"/>
          </a:p>
        </p:txBody>
      </p:sp>
      <p:sp>
        <p:nvSpPr>
          <p:cNvPr id="13" name="Text 11"/>
          <p:cNvSpPr/>
          <p:nvPr/>
        </p:nvSpPr>
        <p:spPr>
          <a:xfrm>
            <a:off x="685800" y="2633472"/>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Need logical topic flow</a:t>
            </a:r>
            <a:endParaRPr lang="en-US" sz="1000" dirty="0"/>
          </a:p>
        </p:txBody>
      </p:sp>
      <p:sp>
        <p:nvSpPr>
          <p:cNvPr id="14" name="Text 12"/>
          <p:cNvSpPr/>
          <p:nvPr/>
        </p:nvSpPr>
        <p:spPr>
          <a:xfrm>
            <a:off x="685800" y="2926080"/>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Mixing qualitative &amp; quantitative</a:t>
            </a:r>
            <a:endParaRPr lang="en-US" sz="1000" dirty="0"/>
          </a:p>
        </p:txBody>
      </p:sp>
      <p:sp>
        <p:nvSpPr>
          <p:cNvPr id="15" name="Text 13"/>
          <p:cNvSpPr/>
          <p:nvPr/>
        </p:nvSpPr>
        <p:spPr>
          <a:xfrm>
            <a:off x="685800" y="321868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Most research contexts</a:t>
            </a:r>
            <a:endParaRPr lang="en-US" sz="1000" dirty="0"/>
          </a:p>
        </p:txBody>
      </p:sp>
      <p:sp>
        <p:nvSpPr>
          <p:cNvPr id="16" name="Shape 14"/>
          <p:cNvSpPr/>
          <p:nvPr/>
        </p:nvSpPr>
        <p:spPr>
          <a:xfrm>
            <a:off x="4709160" y="1600200"/>
            <a:ext cx="3886200" cy="1965960"/>
          </a:xfrm>
          <a:prstGeom prst="rect">
            <a:avLst/>
          </a:prstGeom>
          <a:solidFill>
            <a:srgbClr val="F7FAFC"/>
          </a:solidFill>
          <a:ln w="12700">
            <a:solidFill>
              <a:srgbClr val="48BB78"/>
            </a:solidFill>
            <a:prstDash val="solid"/>
          </a:ln>
        </p:spPr>
      </p:sp>
      <p:sp>
        <p:nvSpPr>
          <p:cNvPr id="17" name="Text 15"/>
          <p:cNvSpPr/>
          <p:nvPr/>
        </p:nvSpPr>
        <p:spPr>
          <a:xfrm>
            <a:off x="4846320" y="175564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Theme 1: Core/main topic</a:t>
            </a:r>
            <a:endParaRPr lang="en-US" sz="1000" dirty="0"/>
          </a:p>
        </p:txBody>
      </p:sp>
      <p:sp>
        <p:nvSpPr>
          <p:cNvPr id="18" name="Text 16"/>
          <p:cNvSpPr/>
          <p:nvPr/>
        </p:nvSpPr>
        <p:spPr>
          <a:xfrm>
            <a:off x="4846320" y="2048256"/>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Theme 2: Key supporting aspect</a:t>
            </a:r>
            <a:endParaRPr lang="en-US" sz="1000" dirty="0"/>
          </a:p>
        </p:txBody>
      </p:sp>
      <p:sp>
        <p:nvSpPr>
          <p:cNvPr id="19" name="Text 17"/>
          <p:cNvSpPr/>
          <p:nvPr/>
        </p:nvSpPr>
        <p:spPr>
          <a:xfrm>
            <a:off x="4846320" y="2340864"/>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Theme 3: Related perspectives</a:t>
            </a:r>
            <a:endParaRPr lang="en-US" sz="1000" dirty="0"/>
          </a:p>
        </p:txBody>
      </p:sp>
      <p:sp>
        <p:nvSpPr>
          <p:cNvPr id="20" name="Text 18"/>
          <p:cNvSpPr/>
          <p:nvPr/>
        </p:nvSpPr>
        <p:spPr>
          <a:xfrm>
            <a:off x="4846320" y="2633472"/>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Theme 4: Methodological approaches</a:t>
            </a:r>
            <a:endParaRPr lang="en-US" sz="1000" dirty="0"/>
          </a:p>
        </p:txBody>
      </p:sp>
      <p:sp>
        <p:nvSpPr>
          <p:cNvPr id="21" name="Text 19"/>
          <p:cNvSpPr/>
          <p:nvPr/>
        </p:nvSpPr>
        <p:spPr>
          <a:xfrm>
            <a:off x="4846320" y="2926080"/>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Synthesize across themes</a:t>
            </a:r>
            <a:endParaRPr lang="en-US" sz="1000" dirty="0"/>
          </a:p>
        </p:txBody>
      </p:sp>
      <p:sp>
        <p:nvSpPr>
          <p:cNvPr id="22" name="Text 20"/>
          <p:cNvSpPr/>
          <p:nvPr/>
        </p:nvSpPr>
        <p:spPr>
          <a:xfrm>
            <a:off x="4846320" y="321868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Note contradictions &amp; gaps</a:t>
            </a:r>
            <a:endParaRPr lang="en-US" sz="1000" dirty="0"/>
          </a:p>
        </p:txBody>
      </p:sp>
      <p:sp>
        <p:nvSpPr>
          <p:cNvPr id="23" name="Shape 21"/>
          <p:cNvSpPr/>
          <p:nvPr/>
        </p:nvSpPr>
        <p:spPr>
          <a:xfrm>
            <a:off x="548640" y="3657600"/>
            <a:ext cx="8046720" cy="822960"/>
          </a:xfrm>
          <a:prstGeom prst="rect">
            <a:avLst/>
          </a:prstGeom>
          <a:solidFill>
            <a:srgbClr val="F7FAFC"/>
          </a:solidFill>
          <a:ln w="12700">
            <a:solidFill>
              <a:srgbClr val="48BB78"/>
            </a:solidFill>
            <a:prstDash val="solid"/>
          </a:ln>
        </p:spPr>
      </p:sp>
      <p:sp>
        <p:nvSpPr>
          <p:cNvPr id="24" name="Text 22"/>
          <p:cNvSpPr/>
          <p:nvPr/>
        </p:nvSpPr>
        <p:spPr>
          <a:xfrm>
            <a:off x="685800" y="3730752"/>
            <a:ext cx="7772400" cy="201168"/>
          </a:xfrm>
          <a:prstGeom prst="rect">
            <a:avLst/>
          </a:prstGeom>
          <a:noFill/>
        </p:spPr>
        <p:txBody>
          <a:bodyPr wrap="square" rtlCol="0" anchor="ctr"/>
          <a:lstStyle/>
          <a:p>
            <a:pPr marL="0" indent="0">
              <a:buNone/>
            </a:pPr>
            <a:r>
              <a:rPr lang="en-US" sz="1100" b="1" dirty="0">
                <a:solidFill>
                  <a:srgbClr val="48BB78"/>
                </a:solidFill>
                <a:latin typeface="Calibri" pitchFamily="34" charset="0"/>
                <a:ea typeface="Calibri" pitchFamily="34" charset="-122"/>
                <a:cs typeface="Calibri" pitchFamily="34" charset="-120"/>
              </a:rPr>
              <a:t>Example: Climate Change Impact Research</a:t>
            </a:r>
            <a:endParaRPr lang="en-US" sz="1100" dirty="0"/>
          </a:p>
        </p:txBody>
      </p:sp>
      <p:sp>
        <p:nvSpPr>
          <p:cNvPr id="25" name="Text 23"/>
          <p:cNvSpPr/>
          <p:nvPr/>
        </p:nvSpPr>
        <p:spPr>
          <a:xfrm>
            <a:off x="685800" y="3977640"/>
            <a:ext cx="7772400" cy="411480"/>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Theme 1: CO₂ emissions &amp; sources  •  Theme 2: Atmospheric temperature rise  •  Theme 3: Sea level &amp; coastal impacts  •  Theme 4: Mitigation &amp; adaptation strategies  •  Theme 5: Socioeconomic consequences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38B2AC"/>
          </a:solidFill>
        </p:spPr>
      </p:sp>
      <p:sp>
        <p:nvSpPr>
          <p:cNvPr id="3" name="Text 1"/>
          <p:cNvSpPr/>
          <p:nvPr/>
        </p:nvSpPr>
        <p:spPr>
          <a:xfrm>
            <a:off x="220345" y="164465"/>
            <a:ext cx="9074785"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Model 3: Methodological Approach</a:t>
            </a:r>
            <a:endParaRPr lang="en-US" sz="40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38B2AC"/>
                </a:solidFill>
                <a:latin typeface="Calibri" pitchFamily="34" charset="0"/>
                <a:ea typeface="Calibri" pitchFamily="34" charset="-122"/>
                <a:cs typeface="Calibri" pitchFamily="34" charset="-120"/>
              </a:rPr>
              <a:t>Compare and contrast research by methods used | Analyze methodological strengths/weaknesses</a:t>
            </a:r>
            <a:endParaRPr lang="en-US" sz="1100" dirty="0"/>
          </a:p>
        </p:txBody>
      </p:sp>
      <p:sp>
        <p:nvSpPr>
          <p:cNvPr id="5" name="Shape 3"/>
          <p:cNvSpPr/>
          <p:nvPr/>
        </p:nvSpPr>
        <p:spPr>
          <a:xfrm>
            <a:off x="548640" y="1280160"/>
            <a:ext cx="3886200" cy="274320"/>
          </a:xfrm>
          <a:prstGeom prst="rect">
            <a:avLst/>
          </a:prstGeom>
          <a:solidFill>
            <a:srgbClr val="38B2AC"/>
          </a:solidFill>
        </p:spPr>
      </p:sp>
      <p:sp>
        <p:nvSpPr>
          <p:cNvPr id="6" name="Text 4"/>
          <p:cNvSpPr/>
          <p:nvPr/>
        </p:nvSpPr>
        <p:spPr>
          <a:xfrm>
            <a:off x="640080" y="1316736"/>
            <a:ext cx="3749040" cy="201168"/>
          </a:xfrm>
          <a:prstGeom prst="rect">
            <a:avLst/>
          </a:prstGeom>
          <a:noFill/>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When to Use</a:t>
            </a:r>
            <a:endParaRPr lang="en-US" sz="1100" dirty="0"/>
          </a:p>
        </p:txBody>
      </p:sp>
      <p:sp>
        <p:nvSpPr>
          <p:cNvPr id="7" name="Shape 5"/>
          <p:cNvSpPr/>
          <p:nvPr/>
        </p:nvSpPr>
        <p:spPr>
          <a:xfrm>
            <a:off x="4709160" y="1280160"/>
            <a:ext cx="3886200" cy="274320"/>
          </a:xfrm>
          <a:prstGeom prst="rect">
            <a:avLst/>
          </a:prstGeom>
          <a:solidFill>
            <a:srgbClr val="38B2AC"/>
          </a:solidFill>
        </p:spPr>
      </p:sp>
      <p:sp>
        <p:nvSpPr>
          <p:cNvPr id="8" name="Text 6"/>
          <p:cNvSpPr/>
          <p:nvPr/>
        </p:nvSpPr>
        <p:spPr>
          <a:xfrm>
            <a:off x="4800600" y="1316736"/>
            <a:ext cx="3749040" cy="201168"/>
          </a:xfrm>
          <a:prstGeom prst="rect">
            <a:avLst/>
          </a:prstGeom>
          <a:noFill/>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Structure</a:t>
            </a:r>
            <a:endParaRPr lang="en-US" sz="1100" dirty="0"/>
          </a:p>
        </p:txBody>
      </p:sp>
      <p:sp>
        <p:nvSpPr>
          <p:cNvPr id="9" name="Shape 7"/>
          <p:cNvSpPr/>
          <p:nvPr/>
        </p:nvSpPr>
        <p:spPr>
          <a:xfrm>
            <a:off x="548640" y="1600200"/>
            <a:ext cx="3886200" cy="1965960"/>
          </a:xfrm>
          <a:prstGeom prst="rect">
            <a:avLst/>
          </a:prstGeom>
          <a:solidFill>
            <a:srgbClr val="F7FAFC"/>
          </a:solidFill>
          <a:ln w="12700">
            <a:solidFill>
              <a:srgbClr val="38B2AC"/>
            </a:solidFill>
            <a:prstDash val="solid"/>
          </a:ln>
        </p:spPr>
      </p:sp>
      <p:sp>
        <p:nvSpPr>
          <p:cNvPr id="10" name="Text 8"/>
          <p:cNvSpPr/>
          <p:nvPr/>
        </p:nvSpPr>
        <p:spPr>
          <a:xfrm>
            <a:off x="685800" y="175564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Multiple methodologies in field</a:t>
            </a:r>
            <a:endParaRPr lang="en-US" sz="1000" dirty="0"/>
          </a:p>
        </p:txBody>
      </p:sp>
      <p:sp>
        <p:nvSpPr>
          <p:cNvPr id="11" name="Text 9"/>
          <p:cNvSpPr/>
          <p:nvPr/>
        </p:nvSpPr>
        <p:spPr>
          <a:xfrm>
            <a:off x="685800" y="2048256"/>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Comparing quantitative vs qualitative</a:t>
            </a:r>
            <a:endParaRPr lang="en-US" sz="1000" dirty="0"/>
          </a:p>
        </p:txBody>
      </p:sp>
      <p:sp>
        <p:nvSpPr>
          <p:cNvPr id="12" name="Text 10"/>
          <p:cNvSpPr/>
          <p:nvPr/>
        </p:nvSpPr>
        <p:spPr>
          <a:xfrm>
            <a:off x="685800" y="2340864"/>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Evaluating research reliability</a:t>
            </a:r>
            <a:endParaRPr lang="en-US" sz="1000" dirty="0"/>
          </a:p>
        </p:txBody>
      </p:sp>
      <p:sp>
        <p:nvSpPr>
          <p:cNvPr id="13" name="Text 11"/>
          <p:cNvSpPr/>
          <p:nvPr/>
        </p:nvSpPr>
        <p:spPr>
          <a:xfrm>
            <a:off x="685800" y="2633472"/>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Assessing experimental designs</a:t>
            </a:r>
            <a:endParaRPr lang="en-US" sz="1000" dirty="0"/>
          </a:p>
        </p:txBody>
      </p:sp>
      <p:sp>
        <p:nvSpPr>
          <p:cNvPr id="14" name="Text 12"/>
          <p:cNvSpPr/>
          <p:nvPr/>
        </p:nvSpPr>
        <p:spPr>
          <a:xfrm>
            <a:off x="685800" y="2926080"/>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Need methodological critique</a:t>
            </a:r>
            <a:endParaRPr lang="en-US" sz="1000" dirty="0"/>
          </a:p>
        </p:txBody>
      </p:sp>
      <p:sp>
        <p:nvSpPr>
          <p:cNvPr id="15" name="Text 13"/>
          <p:cNvSpPr/>
          <p:nvPr/>
        </p:nvSpPr>
        <p:spPr>
          <a:xfrm>
            <a:off x="685800" y="321868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Field has method debates</a:t>
            </a:r>
            <a:endParaRPr lang="en-US" sz="1000" dirty="0"/>
          </a:p>
        </p:txBody>
      </p:sp>
      <p:sp>
        <p:nvSpPr>
          <p:cNvPr id="16" name="Shape 14"/>
          <p:cNvSpPr/>
          <p:nvPr/>
        </p:nvSpPr>
        <p:spPr>
          <a:xfrm>
            <a:off x="4709160" y="1600200"/>
            <a:ext cx="3886200" cy="1965960"/>
          </a:xfrm>
          <a:prstGeom prst="rect">
            <a:avLst/>
          </a:prstGeom>
          <a:solidFill>
            <a:srgbClr val="F7FAFC"/>
          </a:solidFill>
          <a:ln w="12700">
            <a:solidFill>
              <a:srgbClr val="38B2AC"/>
            </a:solidFill>
            <a:prstDash val="solid"/>
          </a:ln>
        </p:spPr>
      </p:sp>
      <p:sp>
        <p:nvSpPr>
          <p:cNvPr id="17" name="Text 15"/>
          <p:cNvSpPr/>
          <p:nvPr/>
        </p:nvSpPr>
        <p:spPr>
          <a:xfrm>
            <a:off x="4846320" y="175564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Quantitative studies section</a:t>
            </a:r>
            <a:endParaRPr lang="en-US" sz="1000" dirty="0"/>
          </a:p>
        </p:txBody>
      </p:sp>
      <p:sp>
        <p:nvSpPr>
          <p:cNvPr id="18" name="Text 16"/>
          <p:cNvSpPr/>
          <p:nvPr/>
        </p:nvSpPr>
        <p:spPr>
          <a:xfrm>
            <a:off x="4846320" y="2048256"/>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Qualitative studies section</a:t>
            </a:r>
            <a:endParaRPr lang="en-US" sz="1000" dirty="0"/>
          </a:p>
        </p:txBody>
      </p:sp>
      <p:sp>
        <p:nvSpPr>
          <p:cNvPr id="19" name="Text 17"/>
          <p:cNvSpPr/>
          <p:nvPr/>
        </p:nvSpPr>
        <p:spPr>
          <a:xfrm>
            <a:off x="4846320" y="2340864"/>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Mixed-methods studies section</a:t>
            </a:r>
            <a:endParaRPr lang="en-US" sz="1000" dirty="0"/>
          </a:p>
        </p:txBody>
      </p:sp>
      <p:sp>
        <p:nvSpPr>
          <p:cNvPr id="20" name="Text 18"/>
          <p:cNvSpPr/>
          <p:nvPr/>
        </p:nvSpPr>
        <p:spPr>
          <a:xfrm>
            <a:off x="4846320" y="2633472"/>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Comparative analysis</a:t>
            </a:r>
            <a:endParaRPr lang="en-US" sz="1000" dirty="0"/>
          </a:p>
        </p:txBody>
      </p:sp>
      <p:sp>
        <p:nvSpPr>
          <p:cNvPr id="21" name="Text 19"/>
          <p:cNvSpPr/>
          <p:nvPr/>
        </p:nvSpPr>
        <p:spPr>
          <a:xfrm>
            <a:off x="4846320" y="2926080"/>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Strengths of each approach</a:t>
            </a:r>
            <a:endParaRPr lang="en-US" sz="1000" dirty="0"/>
          </a:p>
        </p:txBody>
      </p:sp>
      <p:sp>
        <p:nvSpPr>
          <p:cNvPr id="22" name="Text 20"/>
          <p:cNvSpPr/>
          <p:nvPr/>
        </p:nvSpPr>
        <p:spPr>
          <a:xfrm>
            <a:off x="4846320" y="321868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Limitations &amp; trade-offs</a:t>
            </a:r>
            <a:endParaRPr lang="en-US" sz="1000" dirty="0"/>
          </a:p>
        </p:txBody>
      </p:sp>
      <p:sp>
        <p:nvSpPr>
          <p:cNvPr id="23" name="Shape 21"/>
          <p:cNvSpPr/>
          <p:nvPr/>
        </p:nvSpPr>
        <p:spPr>
          <a:xfrm>
            <a:off x="548640" y="3657600"/>
            <a:ext cx="8046720" cy="822960"/>
          </a:xfrm>
          <a:prstGeom prst="rect">
            <a:avLst/>
          </a:prstGeom>
          <a:solidFill>
            <a:srgbClr val="F7FAFC"/>
          </a:solidFill>
          <a:ln w="12700">
            <a:solidFill>
              <a:srgbClr val="38B2AC"/>
            </a:solidFill>
            <a:prstDash val="solid"/>
          </a:ln>
        </p:spPr>
      </p:sp>
      <p:sp>
        <p:nvSpPr>
          <p:cNvPr id="24" name="Text 22"/>
          <p:cNvSpPr/>
          <p:nvPr/>
        </p:nvSpPr>
        <p:spPr>
          <a:xfrm>
            <a:off x="685800" y="3730752"/>
            <a:ext cx="7772400" cy="201168"/>
          </a:xfrm>
          <a:prstGeom prst="rect">
            <a:avLst/>
          </a:prstGeom>
          <a:noFill/>
        </p:spPr>
        <p:txBody>
          <a:bodyPr wrap="square" rtlCol="0" anchor="ctr"/>
          <a:lstStyle/>
          <a:p>
            <a:pPr marL="0" indent="0">
              <a:buNone/>
            </a:pPr>
            <a:r>
              <a:rPr lang="en-US" sz="1100" b="1" dirty="0">
                <a:solidFill>
                  <a:srgbClr val="38B2AC"/>
                </a:solidFill>
                <a:latin typeface="Calibri" pitchFamily="34" charset="0"/>
                <a:ea typeface="Calibri" pitchFamily="34" charset="-122"/>
                <a:cs typeface="Calibri" pitchFamily="34" charset="-120"/>
              </a:rPr>
              <a:t>Example: User Experience Research Methods</a:t>
            </a:r>
            <a:endParaRPr lang="en-US" sz="1100" dirty="0"/>
          </a:p>
        </p:txBody>
      </p:sp>
      <p:sp>
        <p:nvSpPr>
          <p:cNvPr id="25" name="Text 23"/>
          <p:cNvSpPr/>
          <p:nvPr/>
        </p:nvSpPr>
        <p:spPr>
          <a:xfrm>
            <a:off x="685800" y="3977640"/>
            <a:ext cx="7772400" cy="411480"/>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Quantitative: Large-scale surveys, metrics analysis, A/B testing  •  Qualitative: Interviews, focus groups, usability testing  •  Mixed: Surveys + follow-up interviews, ethnography + metrics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CC94B"/>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Model 4: Theoretical Framework</a:t>
            </a:r>
            <a:endParaRPr lang="en-US" sz="40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ECC94B"/>
                </a:solidFill>
                <a:latin typeface="Calibri" pitchFamily="34" charset="0"/>
                <a:ea typeface="Calibri" pitchFamily="34" charset="-122"/>
                <a:cs typeface="Calibri" pitchFamily="34" charset="-120"/>
              </a:rPr>
              <a:t>Organize by competing theories or conceptual frameworks | Analyze theoretical approaches</a:t>
            </a:r>
            <a:endParaRPr lang="en-US" sz="1100" dirty="0"/>
          </a:p>
        </p:txBody>
      </p:sp>
      <p:sp>
        <p:nvSpPr>
          <p:cNvPr id="5" name="Shape 3"/>
          <p:cNvSpPr/>
          <p:nvPr/>
        </p:nvSpPr>
        <p:spPr>
          <a:xfrm>
            <a:off x="548640" y="1280160"/>
            <a:ext cx="3886200" cy="274320"/>
          </a:xfrm>
          <a:prstGeom prst="rect">
            <a:avLst/>
          </a:prstGeom>
          <a:solidFill>
            <a:srgbClr val="ECC94B"/>
          </a:solidFill>
        </p:spPr>
      </p:sp>
      <p:sp>
        <p:nvSpPr>
          <p:cNvPr id="6" name="Text 4"/>
          <p:cNvSpPr/>
          <p:nvPr/>
        </p:nvSpPr>
        <p:spPr>
          <a:xfrm>
            <a:off x="640080" y="1316736"/>
            <a:ext cx="3749040" cy="201168"/>
          </a:xfrm>
          <a:prstGeom prst="rect">
            <a:avLst/>
          </a:prstGeom>
          <a:noFill/>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When to Use</a:t>
            </a:r>
            <a:endParaRPr lang="en-US" sz="1100" dirty="0"/>
          </a:p>
        </p:txBody>
      </p:sp>
      <p:sp>
        <p:nvSpPr>
          <p:cNvPr id="7" name="Shape 5"/>
          <p:cNvSpPr/>
          <p:nvPr/>
        </p:nvSpPr>
        <p:spPr>
          <a:xfrm>
            <a:off x="4709160" y="1280160"/>
            <a:ext cx="3886200" cy="274320"/>
          </a:xfrm>
          <a:prstGeom prst="rect">
            <a:avLst/>
          </a:prstGeom>
          <a:solidFill>
            <a:srgbClr val="ECC94B"/>
          </a:solidFill>
        </p:spPr>
      </p:sp>
      <p:sp>
        <p:nvSpPr>
          <p:cNvPr id="8" name="Text 6"/>
          <p:cNvSpPr/>
          <p:nvPr/>
        </p:nvSpPr>
        <p:spPr>
          <a:xfrm>
            <a:off x="4800600" y="1316736"/>
            <a:ext cx="3749040" cy="201168"/>
          </a:xfrm>
          <a:prstGeom prst="rect">
            <a:avLst/>
          </a:prstGeom>
          <a:noFill/>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Structure</a:t>
            </a:r>
            <a:endParaRPr lang="en-US" sz="1100" dirty="0"/>
          </a:p>
        </p:txBody>
      </p:sp>
      <p:sp>
        <p:nvSpPr>
          <p:cNvPr id="9" name="Shape 7"/>
          <p:cNvSpPr/>
          <p:nvPr/>
        </p:nvSpPr>
        <p:spPr>
          <a:xfrm>
            <a:off x="548640" y="1600200"/>
            <a:ext cx="3886200" cy="1965960"/>
          </a:xfrm>
          <a:prstGeom prst="rect">
            <a:avLst/>
          </a:prstGeom>
          <a:solidFill>
            <a:srgbClr val="F7FAFC"/>
          </a:solidFill>
          <a:ln w="12700">
            <a:solidFill>
              <a:srgbClr val="ECC94B"/>
            </a:solidFill>
            <a:prstDash val="solid"/>
          </a:ln>
        </p:spPr>
      </p:sp>
      <p:sp>
        <p:nvSpPr>
          <p:cNvPr id="10" name="Text 8"/>
          <p:cNvSpPr/>
          <p:nvPr/>
        </p:nvSpPr>
        <p:spPr>
          <a:xfrm>
            <a:off x="685800" y="175564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Multiple theoretical perspectives</a:t>
            </a:r>
            <a:endParaRPr lang="en-US" sz="1000" dirty="0"/>
          </a:p>
        </p:txBody>
      </p:sp>
      <p:sp>
        <p:nvSpPr>
          <p:cNvPr id="11" name="Text 9"/>
          <p:cNvSpPr/>
          <p:nvPr/>
        </p:nvSpPr>
        <p:spPr>
          <a:xfrm>
            <a:off x="685800" y="2048256"/>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Competing frameworks available</a:t>
            </a:r>
            <a:endParaRPr lang="en-US" sz="1000" dirty="0"/>
          </a:p>
        </p:txBody>
      </p:sp>
      <p:sp>
        <p:nvSpPr>
          <p:cNvPr id="12" name="Text 10"/>
          <p:cNvSpPr/>
          <p:nvPr/>
        </p:nvSpPr>
        <p:spPr>
          <a:xfrm>
            <a:off x="685800" y="2340864"/>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Need theoretical comparison</a:t>
            </a:r>
            <a:endParaRPr lang="en-US" sz="1000" dirty="0"/>
          </a:p>
        </p:txBody>
      </p:sp>
      <p:sp>
        <p:nvSpPr>
          <p:cNvPr id="13" name="Text 11"/>
          <p:cNvSpPr/>
          <p:nvPr/>
        </p:nvSpPr>
        <p:spPr>
          <a:xfrm>
            <a:off x="685800" y="2633472"/>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Debating conceptual models</a:t>
            </a:r>
            <a:endParaRPr lang="en-US" sz="1000" dirty="0"/>
          </a:p>
        </p:txBody>
      </p:sp>
      <p:sp>
        <p:nvSpPr>
          <p:cNvPr id="14" name="Text 12"/>
          <p:cNvSpPr/>
          <p:nvPr/>
        </p:nvSpPr>
        <p:spPr>
          <a:xfrm>
            <a:off x="685800" y="2926080"/>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Need to critique theories</a:t>
            </a:r>
            <a:endParaRPr lang="en-US" sz="1000" dirty="0"/>
          </a:p>
        </p:txBody>
      </p:sp>
      <p:sp>
        <p:nvSpPr>
          <p:cNvPr id="15" name="Text 13"/>
          <p:cNvSpPr/>
          <p:nvPr/>
        </p:nvSpPr>
        <p:spPr>
          <a:xfrm>
            <a:off x="685800" y="321868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Theoretical foundations important</a:t>
            </a:r>
            <a:endParaRPr lang="en-US" sz="1000" dirty="0"/>
          </a:p>
        </p:txBody>
      </p:sp>
      <p:sp>
        <p:nvSpPr>
          <p:cNvPr id="16" name="Shape 14"/>
          <p:cNvSpPr/>
          <p:nvPr/>
        </p:nvSpPr>
        <p:spPr>
          <a:xfrm>
            <a:off x="4709160" y="1600200"/>
            <a:ext cx="3886200" cy="1965960"/>
          </a:xfrm>
          <a:prstGeom prst="rect">
            <a:avLst/>
          </a:prstGeom>
          <a:solidFill>
            <a:srgbClr val="F7FAFC"/>
          </a:solidFill>
          <a:ln w="12700">
            <a:solidFill>
              <a:srgbClr val="ECC94B"/>
            </a:solidFill>
            <a:prstDash val="solid"/>
          </a:ln>
        </p:spPr>
      </p:sp>
      <p:sp>
        <p:nvSpPr>
          <p:cNvPr id="17" name="Text 15"/>
          <p:cNvSpPr/>
          <p:nvPr/>
        </p:nvSpPr>
        <p:spPr>
          <a:xfrm>
            <a:off x="4846320" y="175564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Framework A: Explain approach</a:t>
            </a:r>
            <a:endParaRPr lang="en-US" sz="1000" dirty="0"/>
          </a:p>
        </p:txBody>
      </p:sp>
      <p:sp>
        <p:nvSpPr>
          <p:cNvPr id="18" name="Text 16"/>
          <p:cNvSpPr/>
          <p:nvPr/>
        </p:nvSpPr>
        <p:spPr>
          <a:xfrm>
            <a:off x="4846320" y="2048256"/>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Framework B: Explain approach</a:t>
            </a:r>
            <a:endParaRPr lang="en-US" sz="1000" dirty="0"/>
          </a:p>
        </p:txBody>
      </p:sp>
      <p:sp>
        <p:nvSpPr>
          <p:cNvPr id="19" name="Text 17"/>
          <p:cNvSpPr/>
          <p:nvPr/>
        </p:nvSpPr>
        <p:spPr>
          <a:xfrm>
            <a:off x="4846320" y="2340864"/>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Framework C: Explain approach</a:t>
            </a:r>
            <a:endParaRPr lang="en-US" sz="1000" dirty="0"/>
          </a:p>
        </p:txBody>
      </p:sp>
      <p:sp>
        <p:nvSpPr>
          <p:cNvPr id="20" name="Text 18"/>
          <p:cNvSpPr/>
          <p:nvPr/>
        </p:nvSpPr>
        <p:spPr>
          <a:xfrm>
            <a:off x="4846320" y="2633472"/>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Comparative strengths</a:t>
            </a:r>
            <a:endParaRPr lang="en-US" sz="1000" dirty="0"/>
          </a:p>
        </p:txBody>
      </p:sp>
      <p:sp>
        <p:nvSpPr>
          <p:cNvPr id="21" name="Text 19"/>
          <p:cNvSpPr/>
          <p:nvPr/>
        </p:nvSpPr>
        <p:spPr>
          <a:xfrm>
            <a:off x="4846320" y="2926080"/>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Theoretical gaps identified</a:t>
            </a:r>
            <a:endParaRPr lang="en-US" sz="1000" dirty="0"/>
          </a:p>
        </p:txBody>
      </p:sp>
      <p:sp>
        <p:nvSpPr>
          <p:cNvPr id="22" name="Text 20"/>
          <p:cNvSpPr/>
          <p:nvPr/>
        </p:nvSpPr>
        <p:spPr>
          <a:xfrm>
            <a:off x="4846320" y="321868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Synthesis of best elements</a:t>
            </a:r>
            <a:endParaRPr lang="en-US" sz="1000" dirty="0"/>
          </a:p>
        </p:txBody>
      </p:sp>
      <p:sp>
        <p:nvSpPr>
          <p:cNvPr id="23" name="Shape 21"/>
          <p:cNvSpPr/>
          <p:nvPr/>
        </p:nvSpPr>
        <p:spPr>
          <a:xfrm>
            <a:off x="548640" y="3657600"/>
            <a:ext cx="8046720" cy="822960"/>
          </a:xfrm>
          <a:prstGeom prst="rect">
            <a:avLst/>
          </a:prstGeom>
          <a:solidFill>
            <a:srgbClr val="F7FAFC"/>
          </a:solidFill>
          <a:ln w="12700">
            <a:solidFill>
              <a:srgbClr val="ECC94B"/>
            </a:solidFill>
            <a:prstDash val="solid"/>
          </a:ln>
        </p:spPr>
      </p:sp>
      <p:sp>
        <p:nvSpPr>
          <p:cNvPr id="24" name="Text 22"/>
          <p:cNvSpPr/>
          <p:nvPr/>
        </p:nvSpPr>
        <p:spPr>
          <a:xfrm>
            <a:off x="685800" y="3730752"/>
            <a:ext cx="7772400" cy="201168"/>
          </a:xfrm>
          <a:prstGeom prst="rect">
            <a:avLst/>
          </a:prstGeom>
          <a:noFill/>
        </p:spPr>
        <p:txBody>
          <a:bodyPr wrap="square" rtlCol="0" anchor="ctr"/>
          <a:lstStyle/>
          <a:p>
            <a:pPr marL="0" indent="0">
              <a:buNone/>
            </a:pPr>
            <a:r>
              <a:rPr lang="en-US" sz="1100" b="1" dirty="0">
                <a:solidFill>
                  <a:srgbClr val="ECC94B"/>
                </a:solidFill>
                <a:latin typeface="Calibri" pitchFamily="34" charset="0"/>
                <a:ea typeface="Calibri" pitchFamily="34" charset="-122"/>
                <a:cs typeface="Calibri" pitchFamily="34" charset="-120"/>
              </a:rPr>
              <a:t>Example: Learning Theory Approaches</a:t>
            </a:r>
            <a:endParaRPr lang="en-US" sz="1100" dirty="0"/>
          </a:p>
        </p:txBody>
      </p:sp>
      <p:sp>
        <p:nvSpPr>
          <p:cNvPr id="25" name="Text 23"/>
          <p:cNvSpPr/>
          <p:nvPr/>
        </p:nvSpPr>
        <p:spPr>
          <a:xfrm>
            <a:off x="685800" y="3977640"/>
            <a:ext cx="7772400" cy="411480"/>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Behaviorism: Stimulus-response, reinforcement, observable behavior  •  Constructivism: Active learning, knowledge building, social interaction  •  Cognitivism: Information processing, mental models, schema theory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56565"/>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Model 5: Narrative Synthesis</a:t>
            </a:r>
            <a:endParaRPr lang="en-US" sz="40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F56565"/>
                </a:solidFill>
                <a:latin typeface="Calibri" pitchFamily="34" charset="0"/>
                <a:ea typeface="Calibri" pitchFamily="34" charset="-122"/>
                <a:cs typeface="Calibri" pitchFamily="34" charset="-120"/>
              </a:rPr>
              <a:t>Tell a coherent story about research | Blend multiple dimensions naturally</a:t>
            </a:r>
            <a:endParaRPr lang="en-US" sz="1100" dirty="0"/>
          </a:p>
        </p:txBody>
      </p:sp>
      <p:sp>
        <p:nvSpPr>
          <p:cNvPr id="5" name="Shape 3"/>
          <p:cNvSpPr/>
          <p:nvPr/>
        </p:nvSpPr>
        <p:spPr>
          <a:xfrm>
            <a:off x="548640" y="1280160"/>
            <a:ext cx="3886200" cy="274320"/>
          </a:xfrm>
          <a:prstGeom prst="rect">
            <a:avLst/>
          </a:prstGeom>
          <a:solidFill>
            <a:srgbClr val="F56565"/>
          </a:solidFill>
        </p:spPr>
      </p:sp>
      <p:sp>
        <p:nvSpPr>
          <p:cNvPr id="6" name="Text 4"/>
          <p:cNvSpPr/>
          <p:nvPr/>
        </p:nvSpPr>
        <p:spPr>
          <a:xfrm>
            <a:off x="640080" y="1316736"/>
            <a:ext cx="3749040" cy="201168"/>
          </a:xfrm>
          <a:prstGeom prst="rect">
            <a:avLst/>
          </a:prstGeom>
          <a:noFill/>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When to Use</a:t>
            </a:r>
            <a:endParaRPr lang="en-US" sz="1100" dirty="0"/>
          </a:p>
        </p:txBody>
      </p:sp>
      <p:sp>
        <p:nvSpPr>
          <p:cNvPr id="7" name="Shape 5"/>
          <p:cNvSpPr/>
          <p:nvPr/>
        </p:nvSpPr>
        <p:spPr>
          <a:xfrm>
            <a:off x="4709160" y="1280160"/>
            <a:ext cx="3886200" cy="274320"/>
          </a:xfrm>
          <a:prstGeom prst="rect">
            <a:avLst/>
          </a:prstGeom>
          <a:solidFill>
            <a:srgbClr val="F56565"/>
          </a:solidFill>
        </p:spPr>
      </p:sp>
      <p:sp>
        <p:nvSpPr>
          <p:cNvPr id="8" name="Text 6"/>
          <p:cNvSpPr/>
          <p:nvPr/>
        </p:nvSpPr>
        <p:spPr>
          <a:xfrm>
            <a:off x="4800600" y="1316736"/>
            <a:ext cx="3749040" cy="201168"/>
          </a:xfrm>
          <a:prstGeom prst="rect">
            <a:avLst/>
          </a:prstGeom>
          <a:noFill/>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Characteristics</a:t>
            </a:r>
            <a:endParaRPr lang="en-US" sz="1100" dirty="0"/>
          </a:p>
        </p:txBody>
      </p:sp>
      <p:sp>
        <p:nvSpPr>
          <p:cNvPr id="9" name="Shape 7"/>
          <p:cNvSpPr/>
          <p:nvPr/>
        </p:nvSpPr>
        <p:spPr>
          <a:xfrm>
            <a:off x="548640" y="1600200"/>
            <a:ext cx="3886200" cy="1965960"/>
          </a:xfrm>
          <a:prstGeom prst="rect">
            <a:avLst/>
          </a:prstGeom>
          <a:solidFill>
            <a:srgbClr val="F7FAFC"/>
          </a:solidFill>
          <a:ln w="12700">
            <a:solidFill>
              <a:srgbClr val="F56565"/>
            </a:solidFill>
            <a:prstDash val="solid"/>
          </a:ln>
        </p:spPr>
      </p:sp>
      <p:sp>
        <p:nvSpPr>
          <p:cNvPr id="10" name="Text 8"/>
          <p:cNvSpPr/>
          <p:nvPr/>
        </p:nvSpPr>
        <p:spPr>
          <a:xfrm>
            <a:off x="685800" y="175564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Complex, multifaceted topics</a:t>
            </a:r>
            <a:endParaRPr lang="en-US" sz="1000" dirty="0"/>
          </a:p>
        </p:txBody>
      </p:sp>
      <p:sp>
        <p:nvSpPr>
          <p:cNvPr id="11" name="Text 9"/>
          <p:cNvSpPr/>
          <p:nvPr/>
        </p:nvSpPr>
        <p:spPr>
          <a:xfrm>
            <a:off x="685800" y="2048256"/>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Need flexible, flowing approach</a:t>
            </a:r>
            <a:endParaRPr lang="en-US" sz="1000" dirty="0"/>
          </a:p>
        </p:txBody>
      </p:sp>
      <p:sp>
        <p:nvSpPr>
          <p:cNvPr id="12" name="Text 10"/>
          <p:cNvSpPr/>
          <p:nvPr/>
        </p:nvSpPr>
        <p:spPr>
          <a:xfrm>
            <a:off x="685800" y="2340864"/>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Mixing time, methods, theory</a:t>
            </a:r>
            <a:endParaRPr lang="en-US" sz="1000" dirty="0"/>
          </a:p>
        </p:txBody>
      </p:sp>
      <p:sp>
        <p:nvSpPr>
          <p:cNvPr id="13" name="Text 11"/>
          <p:cNvSpPr/>
          <p:nvPr/>
        </p:nvSpPr>
        <p:spPr>
          <a:xfrm>
            <a:off x="685800" y="2633472"/>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Engaging reader storytelling</a:t>
            </a:r>
            <a:endParaRPr lang="en-US" sz="1000" dirty="0"/>
          </a:p>
        </p:txBody>
      </p:sp>
      <p:sp>
        <p:nvSpPr>
          <p:cNvPr id="14" name="Text 12"/>
          <p:cNvSpPr/>
          <p:nvPr/>
        </p:nvSpPr>
        <p:spPr>
          <a:xfrm>
            <a:off x="685800" y="2926080"/>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Natural topic transitions</a:t>
            </a:r>
            <a:endParaRPr lang="en-US" sz="1000" dirty="0"/>
          </a:p>
        </p:txBody>
      </p:sp>
      <p:sp>
        <p:nvSpPr>
          <p:cNvPr id="15" name="Text 13"/>
          <p:cNvSpPr/>
          <p:nvPr/>
        </p:nvSpPr>
        <p:spPr>
          <a:xfrm>
            <a:off x="685800" y="321868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No rigid structure needed</a:t>
            </a:r>
            <a:endParaRPr lang="en-US" sz="1000" dirty="0"/>
          </a:p>
        </p:txBody>
      </p:sp>
      <p:sp>
        <p:nvSpPr>
          <p:cNvPr id="16" name="Shape 14"/>
          <p:cNvSpPr/>
          <p:nvPr/>
        </p:nvSpPr>
        <p:spPr>
          <a:xfrm>
            <a:off x="4709160" y="1600200"/>
            <a:ext cx="3886200" cy="1965960"/>
          </a:xfrm>
          <a:prstGeom prst="rect">
            <a:avLst/>
          </a:prstGeom>
          <a:solidFill>
            <a:srgbClr val="F7FAFC"/>
          </a:solidFill>
          <a:ln w="12700">
            <a:solidFill>
              <a:srgbClr val="F56565"/>
            </a:solidFill>
            <a:prstDash val="solid"/>
          </a:ln>
        </p:spPr>
      </p:sp>
      <p:sp>
        <p:nvSpPr>
          <p:cNvPr id="17" name="Text 15"/>
          <p:cNvSpPr/>
          <p:nvPr/>
        </p:nvSpPr>
        <p:spPr>
          <a:xfrm>
            <a:off x="4846320" y="175564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Coherent, natural flow</a:t>
            </a:r>
            <a:endParaRPr lang="en-US" sz="1000" dirty="0"/>
          </a:p>
        </p:txBody>
      </p:sp>
      <p:sp>
        <p:nvSpPr>
          <p:cNvPr id="18" name="Text 16"/>
          <p:cNvSpPr/>
          <p:nvPr/>
        </p:nvSpPr>
        <p:spPr>
          <a:xfrm>
            <a:off x="4846320" y="2048256"/>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Thematic transitions built-in</a:t>
            </a:r>
            <a:endParaRPr lang="en-US" sz="1000" dirty="0"/>
          </a:p>
        </p:txBody>
      </p:sp>
      <p:sp>
        <p:nvSpPr>
          <p:cNvPr id="19" name="Text 17"/>
          <p:cNvSpPr/>
          <p:nvPr/>
        </p:nvSpPr>
        <p:spPr>
          <a:xfrm>
            <a:off x="4846320" y="2340864"/>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Chronological within themes</a:t>
            </a:r>
            <a:endParaRPr lang="en-US" sz="1000" dirty="0"/>
          </a:p>
        </p:txBody>
      </p:sp>
      <p:sp>
        <p:nvSpPr>
          <p:cNvPr id="20" name="Text 18"/>
          <p:cNvSpPr/>
          <p:nvPr/>
        </p:nvSpPr>
        <p:spPr>
          <a:xfrm>
            <a:off x="4846320" y="2633472"/>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Reader engagement focus</a:t>
            </a:r>
            <a:endParaRPr lang="en-US" sz="1000" dirty="0"/>
          </a:p>
        </p:txBody>
      </p:sp>
      <p:sp>
        <p:nvSpPr>
          <p:cNvPr id="21" name="Text 19"/>
          <p:cNvSpPr/>
          <p:nvPr/>
        </p:nvSpPr>
        <p:spPr>
          <a:xfrm>
            <a:off x="4846320" y="2926080"/>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Less rigid organization</a:t>
            </a:r>
            <a:endParaRPr lang="en-US" sz="1000" dirty="0"/>
          </a:p>
        </p:txBody>
      </p:sp>
      <p:sp>
        <p:nvSpPr>
          <p:cNvPr id="22" name="Text 20"/>
          <p:cNvSpPr/>
          <p:nvPr/>
        </p:nvSpPr>
        <p:spPr>
          <a:xfrm>
            <a:off x="4846320" y="3218688"/>
            <a:ext cx="361188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Blends dimensions seamlessly</a:t>
            </a:r>
            <a:endParaRPr lang="en-US" sz="1000" dirty="0"/>
          </a:p>
        </p:txBody>
      </p:sp>
      <p:sp>
        <p:nvSpPr>
          <p:cNvPr id="23" name="Shape 21"/>
          <p:cNvSpPr/>
          <p:nvPr/>
        </p:nvSpPr>
        <p:spPr>
          <a:xfrm>
            <a:off x="548640" y="3657600"/>
            <a:ext cx="8046720" cy="822960"/>
          </a:xfrm>
          <a:prstGeom prst="rect">
            <a:avLst/>
          </a:prstGeom>
          <a:solidFill>
            <a:srgbClr val="F7FAFC"/>
          </a:solidFill>
          <a:ln w="12700">
            <a:solidFill>
              <a:srgbClr val="F56565"/>
            </a:solidFill>
            <a:prstDash val="solid"/>
          </a:ln>
        </p:spPr>
      </p:sp>
      <p:sp>
        <p:nvSpPr>
          <p:cNvPr id="24" name="Text 22"/>
          <p:cNvSpPr/>
          <p:nvPr/>
        </p:nvSpPr>
        <p:spPr>
          <a:xfrm>
            <a:off x="685800" y="3730752"/>
            <a:ext cx="7772400" cy="201168"/>
          </a:xfrm>
          <a:prstGeom prst="rect">
            <a:avLst/>
          </a:prstGeom>
          <a:noFill/>
        </p:spPr>
        <p:txBody>
          <a:bodyPr wrap="square" rtlCol="0" anchor="ctr"/>
          <a:lstStyle/>
          <a:p>
            <a:pPr marL="0" indent="0">
              <a:buNone/>
            </a:pPr>
            <a:r>
              <a:rPr lang="en-US" sz="1100" b="1" dirty="0">
                <a:solidFill>
                  <a:srgbClr val="F56565"/>
                </a:solidFill>
                <a:latin typeface="Calibri" pitchFamily="34" charset="0"/>
                <a:ea typeface="Calibri" pitchFamily="34" charset="-122"/>
                <a:cs typeface="Calibri" pitchFamily="34" charset="-120"/>
              </a:rPr>
              <a:t>Example: AI in Healthcare Evolution</a:t>
            </a:r>
            <a:endParaRPr lang="en-US" sz="1100" dirty="0"/>
          </a:p>
        </p:txBody>
      </p:sp>
      <p:sp>
        <p:nvSpPr>
          <p:cNvPr id="25" name="Text 23"/>
          <p:cNvSpPr/>
          <p:nvPr/>
        </p:nvSpPr>
        <p:spPr>
          <a:xfrm>
            <a:off x="685800" y="3977640"/>
            <a:ext cx="7772400" cy="411480"/>
          </a:xfrm>
          <a:prstGeom prst="rect">
            <a:avLst/>
          </a:prstGeom>
          <a:noFill/>
        </p:spPr>
        <p:txBody>
          <a:bodyPr wrap="square"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"Early promise of AI in diagnostics... Current challenges with validation... Breakthrough in image recognition... Integration challenges in workflows... Future potential with explainability..."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56565"/>
          </a:solidFill>
        </p:spPr>
      </p:sp>
      <p:sp>
        <p:nvSpPr>
          <p:cNvPr id="3" name="Text 1"/>
          <p:cNvSpPr/>
          <p:nvPr/>
        </p:nvSpPr>
        <p:spPr>
          <a:xfrm>
            <a:off x="548640" y="164465"/>
            <a:ext cx="8633460" cy="457200"/>
          </a:xfrm>
          <a:prstGeom prst="rect">
            <a:avLst/>
          </a:prstGeom>
          <a:noFill/>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Model 6: PRISMA ⭐GOLD STANDARD</a:t>
            </a:r>
            <a:endParaRPr lang="en-US" sz="3600" dirty="0"/>
          </a:p>
        </p:txBody>
      </p:sp>
      <p:sp>
        <p:nvSpPr>
          <p:cNvPr id="4" name="Text 2"/>
          <p:cNvSpPr/>
          <p:nvPr/>
        </p:nvSpPr>
        <p:spPr>
          <a:xfrm>
            <a:off x="548640" y="914400"/>
            <a:ext cx="8046720" cy="274320"/>
          </a:xfrm>
          <a:prstGeom prst="rect">
            <a:avLst/>
          </a:prstGeom>
          <a:noFill/>
        </p:spPr>
        <p:txBody>
          <a:bodyPr wrap="square" rtlCol="0" anchor="ctr"/>
          <a:lstStyle/>
          <a:p>
            <a:pPr marL="0" indent="0">
              <a:buNone/>
            </a:pPr>
            <a:r>
              <a:rPr lang="en-US" sz="1100" b="1" dirty="0">
                <a:solidFill>
                  <a:srgbClr val="F56565"/>
                </a:solidFill>
                <a:latin typeface="Calibri" pitchFamily="34" charset="0"/>
                <a:ea typeface="Calibri" pitchFamily="34" charset="-122"/>
                <a:cs typeface="Calibri" pitchFamily="34" charset="-120"/>
              </a:rPr>
              <a:t>Preferred Reporting Items for Systematic Reviews &amp; Meta-Analyses | Industry standard for rigorous reviews</a:t>
            </a:r>
            <a:endParaRPr lang="en-US" sz="1100" dirty="0"/>
          </a:p>
        </p:txBody>
      </p:sp>
      <p:sp>
        <p:nvSpPr>
          <p:cNvPr id="5" name="Shape 3"/>
          <p:cNvSpPr/>
          <p:nvPr/>
        </p:nvSpPr>
        <p:spPr>
          <a:xfrm>
            <a:off x="548640" y="1280160"/>
            <a:ext cx="8046720" cy="3200400"/>
          </a:xfrm>
          <a:prstGeom prst="rect">
            <a:avLst/>
          </a:prstGeom>
          <a:solidFill>
            <a:srgbClr val="F7FAFC"/>
          </a:solidFill>
          <a:ln w="25400">
            <a:solidFill>
              <a:srgbClr val="F56565"/>
            </a:solidFill>
            <a:prstDash val="solid"/>
          </a:ln>
        </p:spPr>
      </p:sp>
      <p:sp>
        <p:nvSpPr>
          <p:cNvPr id="6" name="Text 4"/>
          <p:cNvSpPr/>
          <p:nvPr/>
        </p:nvSpPr>
        <p:spPr>
          <a:xfrm>
            <a:off x="731520" y="1417320"/>
            <a:ext cx="7680960" cy="228600"/>
          </a:xfrm>
          <a:prstGeom prst="rect">
            <a:avLst/>
          </a:prstGeom>
          <a:noFill/>
        </p:spPr>
        <p:txBody>
          <a:bodyPr wrap="square" rtlCol="0" anchor="ctr"/>
          <a:lstStyle/>
          <a:p>
            <a:pPr marL="0" indent="0">
              <a:buNone/>
            </a:pPr>
            <a:r>
              <a:rPr lang="en-US" sz="1200" b="1" dirty="0">
                <a:solidFill>
                  <a:srgbClr val="F56565"/>
                </a:solidFill>
                <a:latin typeface="Calibri" pitchFamily="34" charset="0"/>
                <a:ea typeface="Calibri" pitchFamily="34" charset="-122"/>
                <a:cs typeface="Calibri" pitchFamily="34" charset="-120"/>
              </a:rPr>
              <a:t>6-Phase Systematic Process</a:t>
            </a:r>
            <a:endParaRPr lang="en-US" sz="1200" dirty="0"/>
          </a:p>
        </p:txBody>
      </p:sp>
      <p:sp>
        <p:nvSpPr>
          <p:cNvPr id="7" name="Text 5"/>
          <p:cNvSpPr/>
          <p:nvPr/>
        </p:nvSpPr>
        <p:spPr>
          <a:xfrm>
            <a:off x="822960" y="1737360"/>
            <a:ext cx="7498080" cy="347472"/>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Identification: Develop comprehensive search strategy across 3+ databases, define search terms, register protocol</a:t>
            </a:r>
            <a:endParaRPr lang="en-US" sz="950" dirty="0"/>
          </a:p>
        </p:txBody>
      </p:sp>
      <p:sp>
        <p:nvSpPr>
          <p:cNvPr id="8" name="Text 6"/>
          <p:cNvSpPr/>
          <p:nvPr/>
        </p:nvSpPr>
        <p:spPr>
          <a:xfrm>
            <a:off x="822960" y="2121408"/>
            <a:ext cx="7498080" cy="347472"/>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Screening: Apply inclusion/exclusion criteria to abstracts/titles, use standardized screening tool, track decisions</a:t>
            </a:r>
            <a:endParaRPr lang="en-US" sz="950" dirty="0"/>
          </a:p>
        </p:txBody>
      </p:sp>
      <p:sp>
        <p:nvSpPr>
          <p:cNvPr id="9" name="Text 7"/>
          <p:cNvSpPr/>
          <p:nvPr/>
        </p:nvSpPr>
        <p:spPr>
          <a:xfrm>
            <a:off x="822960" y="2505456"/>
            <a:ext cx="7498080" cy="347472"/>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Eligibility: Detailed full-text assessment against criteria, track reasons for exclusion, resolve disagreements</a:t>
            </a:r>
            <a:endParaRPr lang="en-US" sz="950" dirty="0"/>
          </a:p>
        </p:txBody>
      </p:sp>
      <p:sp>
        <p:nvSpPr>
          <p:cNvPr id="10" name="Text 8"/>
          <p:cNvSpPr/>
          <p:nvPr/>
        </p:nvSpPr>
        <p:spPr>
          <a:xfrm>
            <a:off x="822960" y="2889504"/>
            <a:ext cx="7498080" cy="347472"/>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Inclusion: Final study selection, extract data systematically, assess quality using validated tools (JADAD, etc.)</a:t>
            </a:r>
            <a:endParaRPr lang="en-US" sz="950" dirty="0"/>
          </a:p>
        </p:txBody>
      </p:sp>
      <p:sp>
        <p:nvSpPr>
          <p:cNvPr id="11" name="Text 9"/>
          <p:cNvSpPr/>
          <p:nvPr/>
        </p:nvSpPr>
        <p:spPr>
          <a:xfrm>
            <a:off x="822960" y="3273552"/>
            <a:ext cx="7498080" cy="347472"/>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Synthesis: Combine findings, assess heterogeneity, qualitative or quantitative synthesis depending on data</a:t>
            </a:r>
            <a:endParaRPr lang="en-US" sz="950" dirty="0"/>
          </a:p>
        </p:txBody>
      </p:sp>
      <p:sp>
        <p:nvSpPr>
          <p:cNvPr id="12" name="Text 10"/>
          <p:cNvSpPr/>
          <p:nvPr/>
        </p:nvSpPr>
        <p:spPr>
          <a:xfrm>
            <a:off x="822960" y="3657600"/>
            <a:ext cx="7498080" cy="347472"/>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Meta-analysis: Statistical pooling if appropriate, create forest plots, assess publication bias with funnel plots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48BB78"/>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Model 7: Scoping Review</a:t>
            </a:r>
            <a:endParaRPr lang="en-US" sz="40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48BB78"/>
                </a:solidFill>
                <a:latin typeface="Calibri" pitchFamily="34" charset="0"/>
                <a:ea typeface="Calibri" pitchFamily="34" charset="-122"/>
                <a:cs typeface="Calibri" pitchFamily="34" charset="-120"/>
              </a:rPr>
              <a:t>Exploratory overview of research landscape | Maps field breadth before detailed analysis</a:t>
            </a:r>
            <a:endParaRPr lang="en-US" sz="1100" dirty="0"/>
          </a:p>
        </p:txBody>
      </p:sp>
      <p:sp>
        <p:nvSpPr>
          <p:cNvPr id="5" name="Shape 3"/>
          <p:cNvSpPr/>
          <p:nvPr/>
        </p:nvSpPr>
        <p:spPr>
          <a:xfrm>
            <a:off x="548640" y="1280160"/>
            <a:ext cx="3886200" cy="3200400"/>
          </a:xfrm>
          <a:prstGeom prst="rect">
            <a:avLst/>
          </a:prstGeom>
          <a:solidFill>
            <a:srgbClr val="F7FAFC"/>
          </a:solidFill>
          <a:ln w="25400">
            <a:solidFill>
              <a:srgbClr val="48BB78"/>
            </a:solidFill>
            <a:prstDash val="solid"/>
          </a:ln>
        </p:spPr>
      </p:sp>
      <p:sp>
        <p:nvSpPr>
          <p:cNvPr id="6" name="Text 4"/>
          <p:cNvSpPr/>
          <p:nvPr/>
        </p:nvSpPr>
        <p:spPr>
          <a:xfrm>
            <a:off x="685800" y="1417320"/>
            <a:ext cx="3611880" cy="228600"/>
          </a:xfrm>
          <a:prstGeom prst="rect">
            <a:avLst/>
          </a:prstGeom>
          <a:noFill/>
        </p:spPr>
        <p:txBody>
          <a:bodyPr wrap="square" rtlCol="0" anchor="ctr"/>
          <a:lstStyle/>
          <a:p>
            <a:pPr marL="0" indent="0">
              <a:buNone/>
            </a:pPr>
            <a:r>
              <a:rPr lang="en-US" sz="1100" b="1" dirty="0">
                <a:solidFill>
                  <a:srgbClr val="48BB78"/>
                </a:solidFill>
                <a:latin typeface="Calibri" pitchFamily="34" charset="0"/>
                <a:ea typeface="Calibri" pitchFamily="34" charset="-122"/>
                <a:cs typeface="Calibri" pitchFamily="34" charset="-120"/>
              </a:rPr>
              <a:t>Purpose &amp; Use Cases</a:t>
            </a:r>
            <a:endParaRPr lang="en-US" sz="1100" dirty="0"/>
          </a:p>
        </p:txBody>
      </p:sp>
      <p:sp>
        <p:nvSpPr>
          <p:cNvPr id="7" name="Text 5"/>
          <p:cNvSpPr/>
          <p:nvPr/>
        </p:nvSpPr>
        <p:spPr>
          <a:xfrm>
            <a:off x="777240" y="1755648"/>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Preliminary landscape mapping</a:t>
            </a:r>
            <a:endParaRPr lang="en-US" sz="1000" dirty="0"/>
          </a:p>
        </p:txBody>
      </p:sp>
      <p:sp>
        <p:nvSpPr>
          <p:cNvPr id="8" name="Text 6"/>
          <p:cNvSpPr/>
          <p:nvPr/>
        </p:nvSpPr>
        <p:spPr>
          <a:xfrm>
            <a:off x="777240" y="2066544"/>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Identify research gaps quickly</a:t>
            </a:r>
            <a:endParaRPr lang="en-US" sz="1000" dirty="0"/>
          </a:p>
        </p:txBody>
      </p:sp>
      <p:sp>
        <p:nvSpPr>
          <p:cNvPr id="9" name="Text 7"/>
          <p:cNvSpPr/>
          <p:nvPr/>
        </p:nvSpPr>
        <p:spPr>
          <a:xfrm>
            <a:off x="777240" y="2377440"/>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Plan future systematic reviews</a:t>
            </a:r>
            <a:endParaRPr lang="en-US" sz="1000" dirty="0"/>
          </a:p>
        </p:txBody>
      </p:sp>
      <p:sp>
        <p:nvSpPr>
          <p:cNvPr id="10" name="Text 8"/>
          <p:cNvSpPr/>
          <p:nvPr/>
        </p:nvSpPr>
        <p:spPr>
          <a:xfrm>
            <a:off x="777240" y="2688336"/>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Explore emerging topics</a:t>
            </a:r>
            <a:endParaRPr lang="en-US" sz="1000" dirty="0"/>
          </a:p>
        </p:txBody>
      </p:sp>
      <p:sp>
        <p:nvSpPr>
          <p:cNvPr id="11" name="Text 9"/>
          <p:cNvSpPr/>
          <p:nvPr/>
        </p:nvSpPr>
        <p:spPr>
          <a:xfrm>
            <a:off x="777240" y="2999232"/>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Assess breadth of literature</a:t>
            </a:r>
            <a:endParaRPr lang="en-US" sz="1000" dirty="0"/>
          </a:p>
        </p:txBody>
      </p:sp>
      <p:sp>
        <p:nvSpPr>
          <p:cNvPr id="12" name="Text 10"/>
          <p:cNvSpPr/>
          <p:nvPr/>
        </p:nvSpPr>
        <p:spPr>
          <a:xfrm>
            <a:off x="777240" y="3310128"/>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Inform research questions</a:t>
            </a:r>
            <a:endParaRPr lang="en-US" sz="1000" dirty="0"/>
          </a:p>
        </p:txBody>
      </p:sp>
      <p:sp>
        <p:nvSpPr>
          <p:cNvPr id="13" name="Shape 11"/>
          <p:cNvSpPr/>
          <p:nvPr/>
        </p:nvSpPr>
        <p:spPr>
          <a:xfrm>
            <a:off x="4709160" y="1280160"/>
            <a:ext cx="3886200" cy="3200400"/>
          </a:xfrm>
          <a:prstGeom prst="rect">
            <a:avLst/>
          </a:prstGeom>
          <a:solidFill>
            <a:srgbClr val="F7FAFC"/>
          </a:solidFill>
          <a:ln w="25400">
            <a:solidFill>
              <a:srgbClr val="48BB78"/>
            </a:solidFill>
            <a:prstDash val="solid"/>
          </a:ln>
        </p:spPr>
      </p:sp>
      <p:sp>
        <p:nvSpPr>
          <p:cNvPr id="14" name="Text 12"/>
          <p:cNvSpPr/>
          <p:nvPr/>
        </p:nvSpPr>
        <p:spPr>
          <a:xfrm>
            <a:off x="4846320" y="1417320"/>
            <a:ext cx="3474720" cy="228600"/>
          </a:xfrm>
          <a:prstGeom prst="rect">
            <a:avLst/>
          </a:prstGeom>
          <a:noFill/>
        </p:spPr>
        <p:txBody>
          <a:bodyPr wrap="square" rtlCol="0" anchor="ctr"/>
          <a:lstStyle/>
          <a:p>
            <a:pPr marL="0" indent="0">
              <a:buNone/>
            </a:pPr>
            <a:r>
              <a:rPr lang="en-US" sz="1100" b="1" dirty="0">
                <a:solidFill>
                  <a:srgbClr val="48BB78"/>
                </a:solidFill>
                <a:latin typeface="Calibri" pitchFamily="34" charset="0"/>
                <a:ea typeface="Calibri" pitchFamily="34" charset="-122"/>
                <a:cs typeface="Calibri" pitchFamily="34" charset="-120"/>
              </a:rPr>
              <a:t>Key Features</a:t>
            </a:r>
            <a:endParaRPr lang="en-US" sz="1100" dirty="0"/>
          </a:p>
        </p:txBody>
      </p:sp>
      <p:sp>
        <p:nvSpPr>
          <p:cNvPr id="15" name="Text 13"/>
          <p:cNvSpPr/>
          <p:nvPr/>
        </p:nvSpPr>
        <p:spPr>
          <a:xfrm>
            <a:off x="4846320" y="1755648"/>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Broader inclusion criteria</a:t>
            </a:r>
            <a:endParaRPr lang="en-US" sz="1000" dirty="0"/>
          </a:p>
        </p:txBody>
      </p:sp>
      <p:sp>
        <p:nvSpPr>
          <p:cNvPr id="16" name="Text 14"/>
          <p:cNvSpPr/>
          <p:nvPr/>
        </p:nvSpPr>
        <p:spPr>
          <a:xfrm>
            <a:off x="4846320" y="2066544"/>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Less rigorous quality assessment</a:t>
            </a:r>
            <a:endParaRPr lang="en-US" sz="1000" dirty="0"/>
          </a:p>
        </p:txBody>
      </p:sp>
      <p:sp>
        <p:nvSpPr>
          <p:cNvPr id="17" name="Text 15"/>
          <p:cNvSpPr/>
          <p:nvPr/>
        </p:nvSpPr>
        <p:spPr>
          <a:xfrm>
            <a:off x="4846320" y="2377440"/>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Rapid completion (3-6 months)</a:t>
            </a:r>
            <a:endParaRPr lang="en-US" sz="1000" dirty="0"/>
          </a:p>
        </p:txBody>
      </p:sp>
      <p:sp>
        <p:nvSpPr>
          <p:cNvPr id="18" name="Text 16"/>
          <p:cNvSpPr/>
          <p:nvPr/>
        </p:nvSpPr>
        <p:spPr>
          <a:xfrm>
            <a:off x="4846320" y="2688336"/>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Diverse source types accepted</a:t>
            </a:r>
            <a:endParaRPr lang="en-US" sz="1000" dirty="0"/>
          </a:p>
        </p:txBody>
      </p:sp>
      <p:sp>
        <p:nvSpPr>
          <p:cNvPr id="19" name="Text 17"/>
          <p:cNvSpPr/>
          <p:nvPr/>
        </p:nvSpPr>
        <p:spPr>
          <a:xfrm>
            <a:off x="4846320" y="2999232"/>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Consultation with stakeholders</a:t>
            </a:r>
            <a:endParaRPr lang="en-US" sz="1000" dirty="0"/>
          </a:p>
        </p:txBody>
      </p:sp>
      <p:sp>
        <p:nvSpPr>
          <p:cNvPr id="20" name="Text 18"/>
          <p:cNvSpPr/>
          <p:nvPr/>
        </p:nvSpPr>
        <p:spPr>
          <a:xfrm>
            <a:off x="4846320" y="3310128"/>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Iterative search refinement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38B2AC"/>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Model 8: Integrative Review</a:t>
            </a:r>
            <a:endParaRPr lang="en-US" sz="40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38B2AC"/>
                </a:solidFill>
                <a:latin typeface="Calibri" pitchFamily="34" charset="0"/>
                <a:ea typeface="Calibri" pitchFamily="34" charset="-122"/>
                <a:cs typeface="Calibri" pitchFamily="34" charset="-120"/>
              </a:rPr>
              <a:t>Combine multiple study types into comprehensive analysis | Bridges empirical research with theory</a:t>
            </a:r>
            <a:endParaRPr lang="en-US" sz="1100" dirty="0"/>
          </a:p>
        </p:txBody>
      </p:sp>
      <p:sp>
        <p:nvSpPr>
          <p:cNvPr id="5" name="Shape 3"/>
          <p:cNvSpPr/>
          <p:nvPr/>
        </p:nvSpPr>
        <p:spPr>
          <a:xfrm>
            <a:off x="548640" y="1280160"/>
            <a:ext cx="3886200" cy="3200400"/>
          </a:xfrm>
          <a:prstGeom prst="rect">
            <a:avLst/>
          </a:prstGeom>
          <a:solidFill>
            <a:srgbClr val="F7FAFC"/>
          </a:solidFill>
          <a:ln w="25400">
            <a:solidFill>
              <a:srgbClr val="38B2AC"/>
            </a:solidFill>
            <a:prstDash val="solid"/>
          </a:ln>
        </p:spPr>
      </p:sp>
      <p:sp>
        <p:nvSpPr>
          <p:cNvPr id="6" name="Text 4"/>
          <p:cNvSpPr/>
          <p:nvPr/>
        </p:nvSpPr>
        <p:spPr>
          <a:xfrm>
            <a:off x="685800" y="1417320"/>
            <a:ext cx="3611880" cy="228600"/>
          </a:xfrm>
          <a:prstGeom prst="rect">
            <a:avLst/>
          </a:prstGeom>
          <a:noFill/>
        </p:spPr>
        <p:txBody>
          <a:bodyPr wrap="square" rtlCol="0" anchor="ctr"/>
          <a:lstStyle/>
          <a:p>
            <a:pPr marL="0" indent="0">
              <a:buNone/>
            </a:pPr>
            <a:r>
              <a:rPr lang="en-US" sz="1100" b="1" dirty="0">
                <a:solidFill>
                  <a:srgbClr val="38B2AC"/>
                </a:solidFill>
                <a:latin typeface="Calibri" pitchFamily="34" charset="0"/>
                <a:ea typeface="Calibri" pitchFamily="34" charset="-122"/>
                <a:cs typeface="Calibri" pitchFamily="34" charset="-120"/>
              </a:rPr>
              <a:t>What It Includes</a:t>
            </a:r>
            <a:endParaRPr lang="en-US" sz="1100" dirty="0"/>
          </a:p>
        </p:txBody>
      </p:sp>
      <p:sp>
        <p:nvSpPr>
          <p:cNvPr id="7" name="Text 5"/>
          <p:cNvSpPr/>
          <p:nvPr/>
        </p:nvSpPr>
        <p:spPr>
          <a:xfrm>
            <a:off x="777240" y="1755648"/>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Empirical research studies</a:t>
            </a:r>
            <a:endParaRPr lang="en-US" sz="1000" dirty="0"/>
          </a:p>
        </p:txBody>
      </p:sp>
      <p:sp>
        <p:nvSpPr>
          <p:cNvPr id="8" name="Text 6"/>
          <p:cNvSpPr/>
          <p:nvPr/>
        </p:nvSpPr>
        <p:spPr>
          <a:xfrm>
            <a:off x="777240" y="2066544"/>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Theoretical articles</a:t>
            </a:r>
            <a:endParaRPr lang="en-US" sz="1000" dirty="0"/>
          </a:p>
        </p:txBody>
      </p:sp>
      <p:sp>
        <p:nvSpPr>
          <p:cNvPr id="9" name="Text 7"/>
          <p:cNvSpPr/>
          <p:nvPr/>
        </p:nvSpPr>
        <p:spPr>
          <a:xfrm>
            <a:off x="777240" y="2377440"/>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Opinion pieces &amp; essays</a:t>
            </a:r>
            <a:endParaRPr lang="en-US" sz="1000" dirty="0"/>
          </a:p>
        </p:txBody>
      </p:sp>
      <p:sp>
        <p:nvSpPr>
          <p:cNvPr id="10" name="Text 8"/>
          <p:cNvSpPr/>
          <p:nvPr/>
        </p:nvSpPr>
        <p:spPr>
          <a:xfrm>
            <a:off x="777240" y="2688336"/>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Clinical practice guidelines</a:t>
            </a:r>
            <a:endParaRPr lang="en-US" sz="1000" dirty="0"/>
          </a:p>
        </p:txBody>
      </p:sp>
      <p:sp>
        <p:nvSpPr>
          <p:cNvPr id="11" name="Text 9"/>
          <p:cNvSpPr/>
          <p:nvPr/>
        </p:nvSpPr>
        <p:spPr>
          <a:xfrm>
            <a:off x="777240" y="2999232"/>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Case studies &amp; reports</a:t>
            </a:r>
            <a:endParaRPr lang="en-US" sz="1000" dirty="0"/>
          </a:p>
        </p:txBody>
      </p:sp>
      <p:sp>
        <p:nvSpPr>
          <p:cNvPr id="12" name="Text 10"/>
          <p:cNvSpPr/>
          <p:nvPr/>
        </p:nvSpPr>
        <p:spPr>
          <a:xfrm>
            <a:off x="777240" y="3310128"/>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All relevant source types</a:t>
            </a:r>
            <a:endParaRPr lang="en-US" sz="1000" dirty="0"/>
          </a:p>
        </p:txBody>
      </p:sp>
      <p:sp>
        <p:nvSpPr>
          <p:cNvPr id="13" name="Shape 11"/>
          <p:cNvSpPr/>
          <p:nvPr/>
        </p:nvSpPr>
        <p:spPr>
          <a:xfrm>
            <a:off x="4709160" y="1280160"/>
            <a:ext cx="3886200" cy="3200400"/>
          </a:xfrm>
          <a:prstGeom prst="rect">
            <a:avLst/>
          </a:prstGeom>
          <a:solidFill>
            <a:srgbClr val="F7FAFC"/>
          </a:solidFill>
          <a:ln w="25400">
            <a:solidFill>
              <a:srgbClr val="38B2AC"/>
            </a:solidFill>
            <a:prstDash val="solid"/>
          </a:ln>
        </p:spPr>
      </p:sp>
      <p:sp>
        <p:nvSpPr>
          <p:cNvPr id="14" name="Text 12"/>
          <p:cNvSpPr/>
          <p:nvPr/>
        </p:nvSpPr>
        <p:spPr>
          <a:xfrm>
            <a:off x="4846320" y="1417320"/>
            <a:ext cx="3474720" cy="228600"/>
          </a:xfrm>
          <a:prstGeom prst="rect">
            <a:avLst/>
          </a:prstGeom>
          <a:noFill/>
        </p:spPr>
        <p:txBody>
          <a:bodyPr wrap="square" rtlCol="0" anchor="ctr"/>
          <a:lstStyle/>
          <a:p>
            <a:pPr marL="0" indent="0">
              <a:buNone/>
            </a:pPr>
            <a:r>
              <a:rPr lang="en-US" sz="1100" b="1" dirty="0">
                <a:solidFill>
                  <a:srgbClr val="38B2AC"/>
                </a:solidFill>
                <a:latin typeface="Calibri" pitchFamily="34" charset="0"/>
                <a:ea typeface="Calibri" pitchFamily="34" charset="-122"/>
                <a:cs typeface="Calibri" pitchFamily="34" charset="-120"/>
              </a:rPr>
              <a:t>Strengths &amp; Benefits</a:t>
            </a:r>
            <a:endParaRPr lang="en-US" sz="1100" dirty="0"/>
          </a:p>
        </p:txBody>
      </p:sp>
      <p:sp>
        <p:nvSpPr>
          <p:cNvPr id="15" name="Text 13"/>
          <p:cNvSpPr/>
          <p:nvPr/>
        </p:nvSpPr>
        <p:spPr>
          <a:xfrm>
            <a:off x="4846320" y="1755648"/>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Comprehensive, holistic view</a:t>
            </a:r>
            <a:endParaRPr lang="en-US" sz="1000" dirty="0"/>
          </a:p>
        </p:txBody>
      </p:sp>
      <p:sp>
        <p:nvSpPr>
          <p:cNvPr id="16" name="Text 14"/>
          <p:cNvSpPr/>
          <p:nvPr/>
        </p:nvSpPr>
        <p:spPr>
          <a:xfrm>
            <a:off x="4846320" y="2066544"/>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Bridges theory and practice</a:t>
            </a:r>
            <a:endParaRPr lang="en-US" sz="1000" dirty="0"/>
          </a:p>
        </p:txBody>
      </p:sp>
      <p:sp>
        <p:nvSpPr>
          <p:cNvPr id="17" name="Text 15"/>
          <p:cNvSpPr/>
          <p:nvPr/>
        </p:nvSpPr>
        <p:spPr>
          <a:xfrm>
            <a:off x="4846320" y="2377440"/>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Flexible, adaptable method</a:t>
            </a:r>
            <a:endParaRPr lang="en-US" sz="1000" dirty="0"/>
          </a:p>
        </p:txBody>
      </p:sp>
      <p:sp>
        <p:nvSpPr>
          <p:cNvPr id="18" name="Text 16"/>
          <p:cNvSpPr/>
          <p:nvPr/>
        </p:nvSpPr>
        <p:spPr>
          <a:xfrm>
            <a:off x="4846320" y="2688336"/>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Practical, applied focus</a:t>
            </a:r>
            <a:endParaRPr lang="en-US" sz="1000" dirty="0"/>
          </a:p>
        </p:txBody>
      </p:sp>
      <p:sp>
        <p:nvSpPr>
          <p:cNvPr id="19" name="Text 17"/>
          <p:cNvSpPr/>
          <p:nvPr/>
        </p:nvSpPr>
        <p:spPr>
          <a:xfrm>
            <a:off x="4846320" y="2999232"/>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Accommodates complexity</a:t>
            </a:r>
            <a:endParaRPr lang="en-US" sz="1000" dirty="0"/>
          </a:p>
        </p:txBody>
      </p:sp>
      <p:sp>
        <p:nvSpPr>
          <p:cNvPr id="20" name="Text 18"/>
          <p:cNvSpPr/>
          <p:nvPr/>
        </p:nvSpPr>
        <p:spPr>
          <a:xfrm>
            <a:off x="4846320" y="3310128"/>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Suitable for practice areas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CC94B"/>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Model 9: Rapid Review</a:t>
            </a:r>
            <a:endParaRPr lang="en-US" sz="40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ECC94B"/>
                </a:solidFill>
                <a:latin typeface="Calibri" pitchFamily="34" charset="0"/>
                <a:ea typeface="Calibri" pitchFamily="34" charset="-122"/>
                <a:cs typeface="Calibri" pitchFamily="34" charset="-120"/>
              </a:rPr>
              <a:t>Systematic but streamlined | Faster timeline for time-sensitive decisions</a:t>
            </a:r>
            <a:endParaRPr lang="en-US" sz="1100" dirty="0"/>
          </a:p>
        </p:txBody>
      </p:sp>
      <p:sp>
        <p:nvSpPr>
          <p:cNvPr id="5" name="Shape 3"/>
          <p:cNvSpPr/>
          <p:nvPr/>
        </p:nvSpPr>
        <p:spPr>
          <a:xfrm>
            <a:off x="548640" y="1280160"/>
            <a:ext cx="3886200" cy="3200400"/>
          </a:xfrm>
          <a:prstGeom prst="rect">
            <a:avLst/>
          </a:prstGeom>
          <a:solidFill>
            <a:srgbClr val="F7FAFC"/>
          </a:solidFill>
          <a:ln w="25400">
            <a:solidFill>
              <a:srgbClr val="ECC94B"/>
            </a:solidFill>
            <a:prstDash val="solid"/>
          </a:ln>
        </p:spPr>
      </p:sp>
      <p:sp>
        <p:nvSpPr>
          <p:cNvPr id="6" name="Text 4"/>
          <p:cNvSpPr/>
          <p:nvPr/>
        </p:nvSpPr>
        <p:spPr>
          <a:xfrm>
            <a:off x="685800" y="1417320"/>
            <a:ext cx="3611880" cy="228600"/>
          </a:xfrm>
          <a:prstGeom prst="rect">
            <a:avLst/>
          </a:prstGeom>
          <a:noFill/>
        </p:spPr>
        <p:txBody>
          <a:bodyPr wrap="square" rtlCol="0" anchor="ctr"/>
          <a:lstStyle/>
          <a:p>
            <a:pPr marL="0" indent="0">
              <a:buNone/>
            </a:pPr>
            <a:r>
              <a:rPr lang="en-US" sz="1100" b="1" dirty="0">
                <a:solidFill>
                  <a:srgbClr val="ECC94B"/>
                </a:solidFill>
                <a:latin typeface="Calibri" pitchFamily="34" charset="0"/>
                <a:ea typeface="Calibri" pitchFamily="34" charset="-122"/>
                <a:cs typeface="Calibri" pitchFamily="34" charset="-120"/>
              </a:rPr>
              <a:t>Speed Techniques</a:t>
            </a:r>
            <a:endParaRPr lang="en-US" sz="1100" dirty="0"/>
          </a:p>
        </p:txBody>
      </p:sp>
      <p:sp>
        <p:nvSpPr>
          <p:cNvPr id="7" name="Text 5"/>
          <p:cNvSpPr/>
          <p:nvPr/>
        </p:nvSpPr>
        <p:spPr>
          <a:xfrm>
            <a:off x="777240" y="1755648"/>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Limited database searches (2-3 main)</a:t>
            </a:r>
            <a:endParaRPr lang="en-US" sz="1000" dirty="0"/>
          </a:p>
        </p:txBody>
      </p:sp>
      <p:sp>
        <p:nvSpPr>
          <p:cNvPr id="8" name="Text 6"/>
          <p:cNvSpPr/>
          <p:nvPr/>
        </p:nvSpPr>
        <p:spPr>
          <a:xfrm>
            <a:off x="777240" y="2066544"/>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Focused search strategies</a:t>
            </a:r>
            <a:endParaRPr lang="en-US" sz="1000" dirty="0"/>
          </a:p>
        </p:txBody>
      </p:sp>
      <p:sp>
        <p:nvSpPr>
          <p:cNvPr id="9" name="Text 7"/>
          <p:cNvSpPr/>
          <p:nvPr/>
        </p:nvSpPr>
        <p:spPr>
          <a:xfrm>
            <a:off x="777240" y="2377440"/>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Simplified screening process</a:t>
            </a:r>
            <a:endParaRPr lang="en-US" sz="1000" dirty="0"/>
          </a:p>
        </p:txBody>
      </p:sp>
      <p:sp>
        <p:nvSpPr>
          <p:cNvPr id="10" name="Text 8"/>
          <p:cNvSpPr/>
          <p:nvPr/>
        </p:nvSpPr>
        <p:spPr>
          <a:xfrm>
            <a:off x="777240" y="2688336"/>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Abbreviated quality assessment</a:t>
            </a:r>
            <a:endParaRPr lang="en-US" sz="1000" dirty="0"/>
          </a:p>
        </p:txBody>
      </p:sp>
      <p:sp>
        <p:nvSpPr>
          <p:cNvPr id="11" name="Text 9"/>
          <p:cNvSpPr/>
          <p:nvPr/>
        </p:nvSpPr>
        <p:spPr>
          <a:xfrm>
            <a:off x="777240" y="2999232"/>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Single-screener option</a:t>
            </a:r>
            <a:endParaRPr lang="en-US" sz="1000" dirty="0"/>
          </a:p>
        </p:txBody>
      </p:sp>
      <p:sp>
        <p:nvSpPr>
          <p:cNvPr id="12" name="Text 10"/>
          <p:cNvSpPr/>
          <p:nvPr/>
        </p:nvSpPr>
        <p:spPr>
          <a:xfrm>
            <a:off x="777240" y="3310128"/>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Streamlined data extraction</a:t>
            </a:r>
            <a:endParaRPr lang="en-US" sz="1000" dirty="0"/>
          </a:p>
        </p:txBody>
      </p:sp>
      <p:sp>
        <p:nvSpPr>
          <p:cNvPr id="13" name="Shape 11"/>
          <p:cNvSpPr/>
          <p:nvPr/>
        </p:nvSpPr>
        <p:spPr>
          <a:xfrm>
            <a:off x="4709160" y="1280160"/>
            <a:ext cx="3886200" cy="3200400"/>
          </a:xfrm>
          <a:prstGeom prst="rect">
            <a:avLst/>
          </a:prstGeom>
          <a:solidFill>
            <a:srgbClr val="F7FAFC"/>
          </a:solidFill>
          <a:ln w="25400">
            <a:solidFill>
              <a:srgbClr val="ECC94B"/>
            </a:solidFill>
            <a:prstDash val="solid"/>
          </a:ln>
        </p:spPr>
      </p:sp>
      <p:sp>
        <p:nvSpPr>
          <p:cNvPr id="14" name="Text 12"/>
          <p:cNvSpPr/>
          <p:nvPr/>
        </p:nvSpPr>
        <p:spPr>
          <a:xfrm>
            <a:off x="4846320" y="1417320"/>
            <a:ext cx="3474720" cy="228600"/>
          </a:xfrm>
          <a:prstGeom prst="rect">
            <a:avLst/>
          </a:prstGeom>
          <a:noFill/>
        </p:spPr>
        <p:txBody>
          <a:bodyPr wrap="square" rtlCol="0" anchor="ctr"/>
          <a:lstStyle/>
          <a:p>
            <a:pPr marL="0" indent="0">
              <a:buNone/>
            </a:pPr>
            <a:r>
              <a:rPr lang="en-US" sz="1100" b="1" dirty="0">
                <a:solidFill>
                  <a:srgbClr val="ECC94B"/>
                </a:solidFill>
                <a:latin typeface="Calibri" pitchFamily="34" charset="0"/>
                <a:ea typeface="Calibri" pitchFamily="34" charset="-122"/>
                <a:cs typeface="Calibri" pitchFamily="34" charset="-120"/>
              </a:rPr>
              <a:t>Timeline &amp; Applications</a:t>
            </a:r>
            <a:endParaRPr lang="en-US" sz="1100" dirty="0"/>
          </a:p>
        </p:txBody>
      </p:sp>
      <p:sp>
        <p:nvSpPr>
          <p:cNvPr id="15" name="Text 13"/>
          <p:cNvSpPr/>
          <p:nvPr/>
        </p:nvSpPr>
        <p:spPr>
          <a:xfrm>
            <a:off x="4846320" y="1755648"/>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Typical: 1-3 months</a:t>
            </a:r>
            <a:endParaRPr lang="en-US" sz="1000" dirty="0"/>
          </a:p>
        </p:txBody>
      </p:sp>
      <p:sp>
        <p:nvSpPr>
          <p:cNvPr id="16" name="Text 14"/>
          <p:cNvSpPr/>
          <p:nvPr/>
        </p:nvSpPr>
        <p:spPr>
          <a:xfrm>
            <a:off x="4846320" y="2066544"/>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vs 12+ for systematic</a:t>
            </a:r>
            <a:endParaRPr lang="en-US" sz="1000" dirty="0"/>
          </a:p>
        </p:txBody>
      </p:sp>
      <p:sp>
        <p:nvSpPr>
          <p:cNvPr id="17" name="Text 15"/>
          <p:cNvSpPr/>
          <p:nvPr/>
        </p:nvSpPr>
        <p:spPr>
          <a:xfrm>
            <a:off x="4846320" y="2377440"/>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Policy decisions</a:t>
            </a:r>
            <a:endParaRPr lang="en-US" sz="1000" dirty="0"/>
          </a:p>
        </p:txBody>
      </p:sp>
      <p:sp>
        <p:nvSpPr>
          <p:cNvPr id="18" name="Text 16"/>
          <p:cNvSpPr/>
          <p:nvPr/>
        </p:nvSpPr>
        <p:spPr>
          <a:xfrm>
            <a:off x="4846320" y="2688336"/>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Clinical urgency</a:t>
            </a:r>
            <a:endParaRPr lang="en-US" sz="1000" dirty="0"/>
          </a:p>
        </p:txBody>
      </p:sp>
      <p:sp>
        <p:nvSpPr>
          <p:cNvPr id="19" name="Text 17"/>
          <p:cNvSpPr/>
          <p:nvPr/>
        </p:nvSpPr>
        <p:spPr>
          <a:xfrm>
            <a:off x="4846320" y="2999232"/>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Fast-moving fields</a:t>
            </a:r>
            <a:endParaRPr lang="en-US" sz="1000" dirty="0"/>
          </a:p>
        </p:txBody>
      </p:sp>
      <p:sp>
        <p:nvSpPr>
          <p:cNvPr id="20" name="Text 18"/>
          <p:cNvSpPr/>
          <p:nvPr/>
        </p:nvSpPr>
        <p:spPr>
          <a:xfrm>
            <a:off x="4846320" y="3310128"/>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Resource constraints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56565"/>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Model 10: Systematic Review</a:t>
            </a:r>
            <a:endParaRPr lang="en-US" sz="4000" dirty="0"/>
          </a:p>
        </p:txBody>
      </p:sp>
      <p:sp>
        <p:nvSpPr>
          <p:cNvPr id="4" name="Text 2"/>
          <p:cNvSpPr/>
          <p:nvPr/>
        </p:nvSpPr>
        <p:spPr>
          <a:xfrm>
            <a:off x="548640" y="914400"/>
            <a:ext cx="8046720" cy="274320"/>
          </a:xfrm>
          <a:prstGeom prst="rect">
            <a:avLst/>
          </a:prstGeom>
          <a:noFill/>
        </p:spPr>
        <p:txBody>
          <a:bodyPr wrap="square" rtlCol="0" anchor="ctr"/>
          <a:lstStyle/>
          <a:p>
            <a:pPr marL="0" indent="0">
              <a:buNone/>
            </a:pPr>
            <a:r>
              <a:rPr lang="en-US" sz="1100" b="1" dirty="0">
                <a:solidFill>
                  <a:srgbClr val="F56565"/>
                </a:solidFill>
                <a:latin typeface="Calibri" pitchFamily="34" charset="0"/>
                <a:ea typeface="Calibri" pitchFamily="34" charset="-122"/>
                <a:cs typeface="Calibri" pitchFamily="34" charset="-120"/>
              </a:rPr>
              <a:t>Rigorous protocol-based review | Highest level of evidence | Most demanding approach</a:t>
            </a:r>
            <a:endParaRPr lang="en-US" sz="1100" dirty="0"/>
          </a:p>
        </p:txBody>
      </p:sp>
      <p:sp>
        <p:nvSpPr>
          <p:cNvPr id="5" name="Shape 3"/>
          <p:cNvSpPr/>
          <p:nvPr/>
        </p:nvSpPr>
        <p:spPr>
          <a:xfrm>
            <a:off x="548640" y="1280160"/>
            <a:ext cx="8046720" cy="3200400"/>
          </a:xfrm>
          <a:prstGeom prst="rect">
            <a:avLst/>
          </a:prstGeom>
          <a:solidFill>
            <a:srgbClr val="F7FAFC"/>
          </a:solidFill>
          <a:ln w="25400">
            <a:solidFill>
              <a:srgbClr val="F56565"/>
            </a:solidFill>
            <a:prstDash val="solid"/>
          </a:ln>
        </p:spPr>
      </p:sp>
      <p:sp>
        <p:nvSpPr>
          <p:cNvPr id="6" name="Text 4"/>
          <p:cNvSpPr/>
          <p:nvPr/>
        </p:nvSpPr>
        <p:spPr>
          <a:xfrm>
            <a:off x="731520" y="1417320"/>
            <a:ext cx="7680960" cy="228600"/>
          </a:xfrm>
          <a:prstGeom prst="rect">
            <a:avLst/>
          </a:prstGeom>
          <a:noFill/>
        </p:spPr>
        <p:txBody>
          <a:bodyPr wrap="square" rtlCol="0" anchor="ctr"/>
          <a:lstStyle/>
          <a:p>
            <a:pPr marL="0" indent="0">
              <a:buNone/>
            </a:pPr>
            <a:r>
              <a:rPr lang="en-US" sz="1200" b="1" dirty="0">
                <a:solidFill>
                  <a:srgbClr val="F56565"/>
                </a:solidFill>
                <a:latin typeface="Calibri" pitchFamily="34" charset="0"/>
                <a:ea typeface="Calibri" pitchFamily="34" charset="-122"/>
                <a:cs typeface="Calibri" pitchFamily="34" charset="-120"/>
              </a:rPr>
              <a:t>Key Requirements &amp; Characteristics</a:t>
            </a:r>
            <a:endParaRPr lang="en-US" sz="1200" dirty="0"/>
          </a:p>
        </p:txBody>
      </p:sp>
      <p:sp>
        <p:nvSpPr>
          <p:cNvPr id="7" name="Text 5"/>
          <p:cNvSpPr/>
          <p:nvPr/>
        </p:nvSpPr>
        <p:spPr>
          <a:xfrm>
            <a:off x="822960" y="1755648"/>
            <a:ext cx="7498080" cy="292608"/>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Pre-registered protocol (with PROSPERO or equivalent registry)</a:t>
            </a:r>
            <a:endParaRPr lang="en-US" sz="950" dirty="0"/>
          </a:p>
        </p:txBody>
      </p:sp>
      <p:sp>
        <p:nvSpPr>
          <p:cNvPr id="8" name="Text 6"/>
          <p:cNvSpPr/>
          <p:nvPr/>
        </p:nvSpPr>
        <p:spPr>
          <a:xfrm>
            <a:off x="822960" y="2093976"/>
            <a:ext cx="7498080" cy="292608"/>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Comprehensive search of 3+ major databases + grey literature</a:t>
            </a:r>
            <a:endParaRPr lang="en-US" sz="950" dirty="0"/>
          </a:p>
        </p:txBody>
      </p:sp>
      <p:sp>
        <p:nvSpPr>
          <p:cNvPr id="9" name="Text 7"/>
          <p:cNvSpPr/>
          <p:nvPr/>
        </p:nvSpPr>
        <p:spPr>
          <a:xfrm>
            <a:off x="822960" y="2432304"/>
            <a:ext cx="7498080" cy="292608"/>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Explicit inclusion/exclusion criteria developed &amp; piloted a priori</a:t>
            </a:r>
            <a:endParaRPr lang="en-US" sz="950" dirty="0"/>
          </a:p>
        </p:txBody>
      </p:sp>
      <p:sp>
        <p:nvSpPr>
          <p:cNvPr id="10" name="Text 8"/>
          <p:cNvSpPr/>
          <p:nvPr/>
        </p:nvSpPr>
        <p:spPr>
          <a:xfrm>
            <a:off x="822960" y="2770632"/>
            <a:ext cx="7498080" cy="292608"/>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Quality assessment using validated tools (JADAD, Cochrane Risk of Bias, etc.)</a:t>
            </a:r>
            <a:endParaRPr lang="en-US" sz="950" dirty="0"/>
          </a:p>
        </p:txBody>
      </p:sp>
      <p:sp>
        <p:nvSpPr>
          <p:cNvPr id="11" name="Text 9"/>
          <p:cNvSpPr/>
          <p:nvPr/>
        </p:nvSpPr>
        <p:spPr>
          <a:xfrm>
            <a:off x="822960" y="3108960"/>
            <a:ext cx="7498080" cy="292608"/>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Meta-analysis when studies are homogeneous enough</a:t>
            </a:r>
            <a:endParaRPr lang="en-US" sz="950" dirty="0"/>
          </a:p>
        </p:txBody>
      </p:sp>
      <p:sp>
        <p:nvSpPr>
          <p:cNvPr id="12" name="Text 10"/>
          <p:cNvSpPr/>
          <p:nvPr/>
        </p:nvSpPr>
        <p:spPr>
          <a:xfrm>
            <a:off x="822960" y="3447288"/>
            <a:ext cx="7498080" cy="292608"/>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PRISMA checklist compliance &amp; transparent reporting (Preferred Reporting Items for Systematic Reviews &amp; Meta-Analyses)</a:t>
            </a:r>
            <a:endParaRPr lang="en-US" sz="950" dirty="0"/>
          </a:p>
        </p:txBody>
      </p:sp>
      <p:sp>
        <p:nvSpPr>
          <p:cNvPr id="13" name="Text 11"/>
          <p:cNvSpPr/>
          <p:nvPr/>
        </p:nvSpPr>
        <p:spPr>
          <a:xfrm>
            <a:off x="822960" y="3785616"/>
            <a:ext cx="7498080" cy="292608"/>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Assessment of publication bias (funnel plots, trim &amp; fill, Egger test)</a:t>
            </a:r>
            <a:endParaRPr lang="en-US" sz="950" dirty="0"/>
          </a:p>
        </p:txBody>
      </p:sp>
      <p:sp>
        <p:nvSpPr>
          <p:cNvPr id="14" name="Text 12"/>
          <p:cNvSpPr/>
          <p:nvPr/>
        </p:nvSpPr>
        <p:spPr>
          <a:xfrm>
            <a:off x="822960" y="4123944"/>
            <a:ext cx="7498080" cy="292608"/>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Team-based screening &amp; extraction (minimum 2 independent reviewers for key decisions)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D8936"/>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Model 11: Critical Review</a:t>
            </a:r>
            <a:endParaRPr lang="en-US" sz="40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ED8936"/>
                </a:solidFill>
                <a:latin typeface="Calibri" pitchFamily="34" charset="0"/>
                <a:ea typeface="Calibri" pitchFamily="34" charset="-122"/>
                <a:cs typeface="Calibri" pitchFamily="34" charset="-120"/>
              </a:rPr>
              <a:t>In-depth evaluation of quality | Assesses credibility &amp; validity of research</a:t>
            </a:r>
            <a:endParaRPr lang="en-US" sz="1100" dirty="0"/>
          </a:p>
        </p:txBody>
      </p:sp>
      <p:sp>
        <p:nvSpPr>
          <p:cNvPr id="5" name="Shape 3"/>
          <p:cNvSpPr/>
          <p:nvPr/>
        </p:nvSpPr>
        <p:spPr>
          <a:xfrm>
            <a:off x="548640" y="1280160"/>
            <a:ext cx="3886200" cy="3200400"/>
          </a:xfrm>
          <a:prstGeom prst="rect">
            <a:avLst/>
          </a:prstGeom>
          <a:solidFill>
            <a:srgbClr val="F7FAFC"/>
          </a:solidFill>
          <a:ln w="25400">
            <a:solidFill>
              <a:srgbClr val="ED8936"/>
            </a:solidFill>
            <a:prstDash val="solid"/>
          </a:ln>
        </p:spPr>
      </p:sp>
      <p:sp>
        <p:nvSpPr>
          <p:cNvPr id="6" name="Text 4"/>
          <p:cNvSpPr/>
          <p:nvPr/>
        </p:nvSpPr>
        <p:spPr>
          <a:xfrm>
            <a:off x="685800" y="1417320"/>
            <a:ext cx="3611880" cy="228600"/>
          </a:xfrm>
          <a:prstGeom prst="rect">
            <a:avLst/>
          </a:prstGeom>
          <a:noFill/>
        </p:spPr>
        <p:txBody>
          <a:bodyPr wrap="square" rtlCol="0" anchor="ctr"/>
          <a:lstStyle/>
          <a:p>
            <a:pPr marL="0" indent="0">
              <a:buNone/>
            </a:pPr>
            <a:r>
              <a:rPr lang="en-US" sz="1100" b="1" dirty="0">
                <a:solidFill>
                  <a:srgbClr val="ED8936"/>
                </a:solidFill>
                <a:latin typeface="Calibri" pitchFamily="34" charset="0"/>
                <a:ea typeface="Calibri" pitchFamily="34" charset="-122"/>
                <a:cs typeface="Calibri" pitchFamily="34" charset="-120"/>
              </a:rPr>
              <a:t>Evaluation Focus</a:t>
            </a:r>
            <a:endParaRPr lang="en-US" sz="1100" dirty="0"/>
          </a:p>
        </p:txBody>
      </p:sp>
      <p:sp>
        <p:nvSpPr>
          <p:cNvPr id="7" name="Text 5"/>
          <p:cNvSpPr/>
          <p:nvPr/>
        </p:nvSpPr>
        <p:spPr>
          <a:xfrm>
            <a:off x="777240" y="1755648"/>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Research design soundness</a:t>
            </a:r>
            <a:endParaRPr lang="en-US" sz="1000" dirty="0"/>
          </a:p>
        </p:txBody>
      </p:sp>
      <p:sp>
        <p:nvSpPr>
          <p:cNvPr id="8" name="Text 6"/>
          <p:cNvSpPr/>
          <p:nvPr/>
        </p:nvSpPr>
        <p:spPr>
          <a:xfrm>
            <a:off x="777240" y="2066544"/>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Methodology appropriateness</a:t>
            </a:r>
            <a:endParaRPr lang="en-US" sz="1000" dirty="0"/>
          </a:p>
        </p:txBody>
      </p:sp>
      <p:sp>
        <p:nvSpPr>
          <p:cNvPr id="9" name="Text 7"/>
          <p:cNvSpPr/>
          <p:nvPr/>
        </p:nvSpPr>
        <p:spPr>
          <a:xfrm>
            <a:off x="777240" y="2377440"/>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Sample size &amp; selection</a:t>
            </a:r>
            <a:endParaRPr lang="en-US" sz="1000" dirty="0"/>
          </a:p>
        </p:txBody>
      </p:sp>
      <p:sp>
        <p:nvSpPr>
          <p:cNvPr id="10" name="Text 8"/>
          <p:cNvSpPr/>
          <p:nvPr/>
        </p:nvSpPr>
        <p:spPr>
          <a:xfrm>
            <a:off x="777240" y="2688336"/>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Statistical validity</a:t>
            </a:r>
            <a:endParaRPr lang="en-US" sz="1000" dirty="0"/>
          </a:p>
        </p:txBody>
      </p:sp>
      <p:sp>
        <p:nvSpPr>
          <p:cNvPr id="11" name="Text 9"/>
          <p:cNvSpPr/>
          <p:nvPr/>
        </p:nvSpPr>
        <p:spPr>
          <a:xfrm>
            <a:off x="777240" y="2999232"/>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Limitations acknowledgement</a:t>
            </a:r>
            <a:endParaRPr lang="en-US" sz="1000" dirty="0"/>
          </a:p>
        </p:txBody>
      </p:sp>
      <p:sp>
        <p:nvSpPr>
          <p:cNvPr id="12" name="Text 10"/>
          <p:cNvSpPr/>
          <p:nvPr/>
        </p:nvSpPr>
        <p:spPr>
          <a:xfrm>
            <a:off x="777240" y="3310128"/>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Generalizability assessment</a:t>
            </a:r>
            <a:endParaRPr lang="en-US" sz="1000" dirty="0"/>
          </a:p>
        </p:txBody>
      </p:sp>
      <p:sp>
        <p:nvSpPr>
          <p:cNvPr id="13" name="Shape 11"/>
          <p:cNvSpPr/>
          <p:nvPr/>
        </p:nvSpPr>
        <p:spPr>
          <a:xfrm>
            <a:off x="4709160" y="1280160"/>
            <a:ext cx="3886200" cy="3200400"/>
          </a:xfrm>
          <a:prstGeom prst="rect">
            <a:avLst/>
          </a:prstGeom>
          <a:solidFill>
            <a:srgbClr val="F7FAFC"/>
          </a:solidFill>
          <a:ln w="25400">
            <a:solidFill>
              <a:srgbClr val="ED8936"/>
            </a:solidFill>
            <a:prstDash val="solid"/>
          </a:ln>
        </p:spPr>
      </p:sp>
      <p:sp>
        <p:nvSpPr>
          <p:cNvPr id="14" name="Text 12"/>
          <p:cNvSpPr/>
          <p:nvPr/>
        </p:nvSpPr>
        <p:spPr>
          <a:xfrm>
            <a:off x="4846320" y="1417320"/>
            <a:ext cx="3474720" cy="228600"/>
          </a:xfrm>
          <a:prstGeom prst="rect">
            <a:avLst/>
          </a:prstGeom>
          <a:noFill/>
        </p:spPr>
        <p:txBody>
          <a:bodyPr wrap="square" rtlCol="0" anchor="ctr"/>
          <a:lstStyle/>
          <a:p>
            <a:pPr marL="0" indent="0">
              <a:buNone/>
            </a:pPr>
            <a:r>
              <a:rPr lang="en-US" sz="1100" b="1" dirty="0">
                <a:solidFill>
                  <a:srgbClr val="ED8936"/>
                </a:solidFill>
                <a:latin typeface="Calibri" pitchFamily="34" charset="0"/>
                <a:ea typeface="Calibri" pitchFamily="34" charset="-122"/>
                <a:cs typeface="Calibri" pitchFamily="34" charset="-120"/>
              </a:rPr>
              <a:t>Assessment Tools</a:t>
            </a:r>
            <a:endParaRPr lang="en-US" sz="1100" dirty="0"/>
          </a:p>
        </p:txBody>
      </p:sp>
      <p:sp>
        <p:nvSpPr>
          <p:cNvPr id="15" name="Text 13"/>
          <p:cNvSpPr/>
          <p:nvPr/>
        </p:nvSpPr>
        <p:spPr>
          <a:xfrm>
            <a:off x="4846320" y="1755648"/>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Quality assessment scales</a:t>
            </a:r>
            <a:endParaRPr lang="en-US" sz="1000" dirty="0"/>
          </a:p>
        </p:txBody>
      </p:sp>
      <p:sp>
        <p:nvSpPr>
          <p:cNvPr id="16" name="Text 14"/>
          <p:cNvSpPr/>
          <p:nvPr/>
        </p:nvSpPr>
        <p:spPr>
          <a:xfrm>
            <a:off x="4846320" y="2066544"/>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Bias evaluation frameworks</a:t>
            </a:r>
            <a:endParaRPr lang="en-US" sz="1000" dirty="0"/>
          </a:p>
        </p:txBody>
      </p:sp>
      <p:sp>
        <p:nvSpPr>
          <p:cNvPr id="17" name="Text 15"/>
          <p:cNvSpPr/>
          <p:nvPr/>
        </p:nvSpPr>
        <p:spPr>
          <a:xfrm>
            <a:off x="4846320" y="2377440"/>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Evidence grading systems</a:t>
            </a:r>
            <a:endParaRPr lang="en-US" sz="1000" dirty="0"/>
          </a:p>
        </p:txBody>
      </p:sp>
      <p:sp>
        <p:nvSpPr>
          <p:cNvPr id="18" name="Text 16"/>
          <p:cNvSpPr/>
          <p:nvPr/>
        </p:nvSpPr>
        <p:spPr>
          <a:xfrm>
            <a:off x="4846320" y="2688336"/>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Strength of evidence tables</a:t>
            </a:r>
            <a:endParaRPr lang="en-US" sz="1000" dirty="0"/>
          </a:p>
        </p:txBody>
      </p:sp>
      <p:sp>
        <p:nvSpPr>
          <p:cNvPr id="19" name="Text 17"/>
          <p:cNvSpPr/>
          <p:nvPr/>
        </p:nvSpPr>
        <p:spPr>
          <a:xfrm>
            <a:off x="4846320" y="2999232"/>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Critical appraisal checklists</a:t>
            </a:r>
            <a:endParaRPr lang="en-US" sz="1000" dirty="0"/>
          </a:p>
        </p:txBody>
      </p:sp>
      <p:sp>
        <p:nvSpPr>
          <p:cNvPr id="20" name="Text 18"/>
          <p:cNvSpPr/>
          <p:nvPr/>
        </p:nvSpPr>
        <p:spPr>
          <a:xfrm>
            <a:off x="4846320" y="3310128"/>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Risk of bias assessment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48BB78"/>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Model 12: Literature Mapping</a:t>
            </a:r>
            <a:endParaRPr lang="en-US" sz="40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48BB78"/>
                </a:solidFill>
                <a:latin typeface="Calibri" pitchFamily="34" charset="0"/>
                <a:ea typeface="Calibri" pitchFamily="34" charset="-122"/>
                <a:cs typeface="Calibri" pitchFamily="34" charset="-120"/>
              </a:rPr>
              <a:t>Visual analysis of research landscape | Uses network visualization tools</a:t>
            </a:r>
            <a:endParaRPr lang="en-US" sz="1100" dirty="0"/>
          </a:p>
        </p:txBody>
      </p:sp>
      <p:sp>
        <p:nvSpPr>
          <p:cNvPr id="5" name="Shape 3"/>
          <p:cNvSpPr/>
          <p:nvPr/>
        </p:nvSpPr>
        <p:spPr>
          <a:xfrm>
            <a:off x="548640" y="1280160"/>
            <a:ext cx="3886200" cy="3200400"/>
          </a:xfrm>
          <a:prstGeom prst="rect">
            <a:avLst/>
          </a:prstGeom>
          <a:solidFill>
            <a:srgbClr val="F7FAFC"/>
          </a:solidFill>
          <a:ln w="25400">
            <a:solidFill>
              <a:srgbClr val="48BB78"/>
            </a:solidFill>
            <a:prstDash val="solid"/>
          </a:ln>
        </p:spPr>
      </p:sp>
      <p:sp>
        <p:nvSpPr>
          <p:cNvPr id="6" name="Text 4"/>
          <p:cNvSpPr/>
          <p:nvPr/>
        </p:nvSpPr>
        <p:spPr>
          <a:xfrm>
            <a:off x="685800" y="1417320"/>
            <a:ext cx="3611880" cy="228600"/>
          </a:xfrm>
          <a:prstGeom prst="rect">
            <a:avLst/>
          </a:prstGeom>
          <a:noFill/>
        </p:spPr>
        <p:txBody>
          <a:bodyPr wrap="square" rtlCol="0" anchor="ctr"/>
          <a:lstStyle/>
          <a:p>
            <a:pPr marL="0" indent="0">
              <a:buNone/>
            </a:pPr>
            <a:r>
              <a:rPr lang="en-US" sz="1100" b="1" dirty="0">
                <a:solidFill>
                  <a:srgbClr val="48BB78"/>
                </a:solidFill>
                <a:latin typeface="Calibri" pitchFamily="34" charset="0"/>
                <a:ea typeface="Calibri" pitchFamily="34" charset="-122"/>
                <a:cs typeface="Calibri" pitchFamily="34" charset="-120"/>
              </a:rPr>
              <a:t>Output &amp; Visualizations</a:t>
            </a:r>
            <a:endParaRPr lang="en-US" sz="1100" dirty="0"/>
          </a:p>
        </p:txBody>
      </p:sp>
      <p:sp>
        <p:nvSpPr>
          <p:cNvPr id="7" name="Text 5"/>
          <p:cNvSpPr/>
          <p:nvPr/>
        </p:nvSpPr>
        <p:spPr>
          <a:xfrm>
            <a:off x="777240" y="1755648"/>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Citation networks &amp; graphs</a:t>
            </a:r>
            <a:endParaRPr lang="en-US" sz="1000" dirty="0"/>
          </a:p>
        </p:txBody>
      </p:sp>
      <p:sp>
        <p:nvSpPr>
          <p:cNvPr id="8" name="Text 6"/>
          <p:cNvSpPr/>
          <p:nvPr/>
        </p:nvSpPr>
        <p:spPr>
          <a:xfrm>
            <a:off x="777240" y="2066544"/>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Co-authorship maps</a:t>
            </a:r>
            <a:endParaRPr lang="en-US" sz="1000" dirty="0"/>
          </a:p>
        </p:txBody>
      </p:sp>
      <p:sp>
        <p:nvSpPr>
          <p:cNvPr id="9" name="Text 7"/>
          <p:cNvSpPr/>
          <p:nvPr/>
        </p:nvSpPr>
        <p:spPr>
          <a:xfrm>
            <a:off x="777240" y="2377440"/>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Concept clusters</a:t>
            </a:r>
            <a:endParaRPr lang="en-US" sz="1000" dirty="0"/>
          </a:p>
        </p:txBody>
      </p:sp>
      <p:sp>
        <p:nvSpPr>
          <p:cNvPr id="10" name="Text 8"/>
          <p:cNvSpPr/>
          <p:nvPr/>
        </p:nvSpPr>
        <p:spPr>
          <a:xfrm>
            <a:off x="777240" y="2688336"/>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Keyword networks</a:t>
            </a:r>
            <a:endParaRPr lang="en-US" sz="1000" dirty="0"/>
          </a:p>
        </p:txBody>
      </p:sp>
      <p:sp>
        <p:nvSpPr>
          <p:cNvPr id="11" name="Text 9"/>
          <p:cNvSpPr/>
          <p:nvPr/>
        </p:nvSpPr>
        <p:spPr>
          <a:xfrm>
            <a:off x="777240" y="2999232"/>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Thematic landscapes</a:t>
            </a:r>
            <a:endParaRPr lang="en-US" sz="1000" dirty="0"/>
          </a:p>
        </p:txBody>
      </p:sp>
      <p:sp>
        <p:nvSpPr>
          <p:cNvPr id="12" name="Text 10"/>
          <p:cNvSpPr/>
          <p:nvPr/>
        </p:nvSpPr>
        <p:spPr>
          <a:xfrm>
            <a:off x="777240" y="3310128"/>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Research evolution timelines</a:t>
            </a:r>
            <a:endParaRPr lang="en-US" sz="1000" dirty="0"/>
          </a:p>
        </p:txBody>
      </p:sp>
      <p:sp>
        <p:nvSpPr>
          <p:cNvPr id="13" name="Shape 11"/>
          <p:cNvSpPr/>
          <p:nvPr/>
        </p:nvSpPr>
        <p:spPr>
          <a:xfrm>
            <a:off x="4709160" y="1280160"/>
            <a:ext cx="3886200" cy="3200400"/>
          </a:xfrm>
          <a:prstGeom prst="rect">
            <a:avLst/>
          </a:prstGeom>
          <a:solidFill>
            <a:srgbClr val="F7FAFC"/>
          </a:solidFill>
          <a:ln w="25400">
            <a:solidFill>
              <a:srgbClr val="48BB78"/>
            </a:solidFill>
            <a:prstDash val="solid"/>
          </a:ln>
        </p:spPr>
      </p:sp>
      <p:sp>
        <p:nvSpPr>
          <p:cNvPr id="14" name="Text 12"/>
          <p:cNvSpPr/>
          <p:nvPr/>
        </p:nvSpPr>
        <p:spPr>
          <a:xfrm>
            <a:off x="4846320" y="1417320"/>
            <a:ext cx="3474720" cy="228600"/>
          </a:xfrm>
          <a:prstGeom prst="rect">
            <a:avLst/>
          </a:prstGeom>
          <a:noFill/>
        </p:spPr>
        <p:txBody>
          <a:bodyPr wrap="square" rtlCol="0" anchor="ctr"/>
          <a:lstStyle/>
          <a:p>
            <a:pPr marL="0" indent="0">
              <a:buNone/>
            </a:pPr>
            <a:r>
              <a:rPr lang="en-US" sz="1100" b="1" dirty="0">
                <a:solidFill>
                  <a:srgbClr val="48BB78"/>
                </a:solidFill>
                <a:latin typeface="Calibri" pitchFamily="34" charset="0"/>
                <a:ea typeface="Calibri" pitchFamily="34" charset="-122"/>
                <a:cs typeface="Calibri" pitchFamily="34" charset="-120"/>
              </a:rPr>
              <a:t>Tools &amp; Software</a:t>
            </a:r>
            <a:endParaRPr lang="en-US" sz="1100" dirty="0"/>
          </a:p>
        </p:txBody>
      </p:sp>
      <p:sp>
        <p:nvSpPr>
          <p:cNvPr id="15" name="Text 13"/>
          <p:cNvSpPr/>
          <p:nvPr/>
        </p:nvSpPr>
        <p:spPr>
          <a:xfrm>
            <a:off x="4846320" y="1755648"/>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VOSviewer (visualization)</a:t>
            </a:r>
            <a:endParaRPr lang="en-US" sz="1000" dirty="0"/>
          </a:p>
        </p:txBody>
      </p:sp>
      <p:sp>
        <p:nvSpPr>
          <p:cNvPr id="16" name="Text 14"/>
          <p:cNvSpPr/>
          <p:nvPr/>
        </p:nvSpPr>
        <p:spPr>
          <a:xfrm>
            <a:off x="4846320" y="2066544"/>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Gephi (network analysis)</a:t>
            </a:r>
            <a:endParaRPr lang="en-US" sz="1000" dirty="0"/>
          </a:p>
        </p:txBody>
      </p:sp>
      <p:sp>
        <p:nvSpPr>
          <p:cNvPr id="17" name="Text 15"/>
          <p:cNvSpPr/>
          <p:nvPr/>
        </p:nvSpPr>
        <p:spPr>
          <a:xfrm>
            <a:off x="4846320" y="2377440"/>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CiteSpace (evolution)</a:t>
            </a:r>
            <a:endParaRPr lang="en-US" sz="1000" dirty="0"/>
          </a:p>
        </p:txBody>
      </p:sp>
      <p:sp>
        <p:nvSpPr>
          <p:cNvPr id="18" name="Text 16"/>
          <p:cNvSpPr/>
          <p:nvPr/>
        </p:nvSpPr>
        <p:spPr>
          <a:xfrm>
            <a:off x="4846320" y="2688336"/>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Bibliometrix (R package)</a:t>
            </a:r>
            <a:endParaRPr lang="en-US" sz="1000" dirty="0"/>
          </a:p>
        </p:txBody>
      </p:sp>
      <p:sp>
        <p:nvSpPr>
          <p:cNvPr id="19" name="Text 17"/>
          <p:cNvSpPr/>
          <p:nvPr/>
        </p:nvSpPr>
        <p:spPr>
          <a:xfrm>
            <a:off x="4846320" y="2999232"/>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Citespace &amp; ScientometRix</a:t>
            </a:r>
            <a:endParaRPr lang="en-US" sz="1000" dirty="0"/>
          </a:p>
        </p:txBody>
      </p:sp>
      <p:sp>
        <p:nvSpPr>
          <p:cNvPr id="20" name="Text 18"/>
          <p:cNvSpPr/>
          <p:nvPr/>
        </p:nvSpPr>
        <p:spPr>
          <a:xfrm>
            <a:off x="4846320" y="3310128"/>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Pajek (network analysis)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38B2AC"/>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Critical Synthesis Principles</a:t>
            </a:r>
            <a:endParaRPr lang="en-US" sz="40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38B2AC"/>
                </a:solidFill>
                <a:latin typeface="Calibri" pitchFamily="34" charset="0"/>
                <a:ea typeface="Calibri" pitchFamily="34" charset="-122"/>
                <a:cs typeface="Calibri" pitchFamily="34" charset="-120"/>
              </a:rPr>
              <a:t>Transform summaries into integrated understanding</a:t>
            </a:r>
            <a:endParaRPr lang="en-US" sz="1100" dirty="0"/>
          </a:p>
        </p:txBody>
      </p:sp>
      <p:sp>
        <p:nvSpPr>
          <p:cNvPr id="5" name="Shape 3"/>
          <p:cNvSpPr/>
          <p:nvPr/>
        </p:nvSpPr>
        <p:spPr>
          <a:xfrm>
            <a:off x="548640" y="1280160"/>
            <a:ext cx="3886200" cy="3200400"/>
          </a:xfrm>
          <a:prstGeom prst="rect">
            <a:avLst/>
          </a:prstGeom>
          <a:solidFill>
            <a:srgbClr val="FFFFFF"/>
          </a:solidFill>
          <a:ln w="25400">
            <a:solidFill>
              <a:srgbClr val="38B2AC"/>
            </a:solidFill>
            <a:prstDash val="solid"/>
          </a:ln>
        </p:spPr>
      </p:sp>
      <p:sp>
        <p:nvSpPr>
          <p:cNvPr id="6" name="Text 4"/>
          <p:cNvSpPr/>
          <p:nvPr/>
        </p:nvSpPr>
        <p:spPr>
          <a:xfrm>
            <a:off x="685800" y="1417320"/>
            <a:ext cx="3611880" cy="228600"/>
          </a:xfrm>
          <a:prstGeom prst="rect">
            <a:avLst/>
          </a:prstGeom>
          <a:noFill/>
        </p:spPr>
        <p:txBody>
          <a:bodyPr wrap="square" rtlCol="0" anchor="ctr"/>
          <a:lstStyle/>
          <a:p>
            <a:pPr marL="0" indent="0">
              <a:buNone/>
            </a:pPr>
            <a:r>
              <a:rPr lang="en-US" sz="1100" b="1" dirty="0">
                <a:solidFill>
                  <a:srgbClr val="38B2AC"/>
                </a:solidFill>
                <a:latin typeface="Calibri" pitchFamily="34" charset="0"/>
                <a:ea typeface="Calibri" pitchFamily="34" charset="-122"/>
                <a:cs typeface="Calibri" pitchFamily="34" charset="-120"/>
              </a:rPr>
              <a:t>Synthesis Techniques</a:t>
            </a:r>
            <a:endParaRPr lang="en-US" sz="1100" dirty="0"/>
          </a:p>
        </p:txBody>
      </p:sp>
      <p:sp>
        <p:nvSpPr>
          <p:cNvPr id="7" name="Text 5"/>
          <p:cNvSpPr/>
          <p:nvPr/>
        </p:nvSpPr>
        <p:spPr>
          <a:xfrm>
            <a:off x="777240" y="1755648"/>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Find patterns across studies</a:t>
            </a:r>
            <a:endParaRPr lang="en-US" sz="1000" dirty="0"/>
          </a:p>
        </p:txBody>
      </p:sp>
      <p:sp>
        <p:nvSpPr>
          <p:cNvPr id="8" name="Text 6"/>
          <p:cNvSpPr/>
          <p:nvPr/>
        </p:nvSpPr>
        <p:spPr>
          <a:xfrm>
            <a:off x="777240" y="2066544"/>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Identify agreements/conflicts</a:t>
            </a:r>
            <a:endParaRPr lang="en-US" sz="1000" dirty="0"/>
          </a:p>
        </p:txBody>
      </p:sp>
      <p:sp>
        <p:nvSpPr>
          <p:cNvPr id="9" name="Text 7"/>
          <p:cNvSpPr/>
          <p:nvPr/>
        </p:nvSpPr>
        <p:spPr>
          <a:xfrm>
            <a:off x="777240" y="2377440"/>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Compare methodologies</a:t>
            </a:r>
            <a:endParaRPr lang="en-US" sz="1000" dirty="0"/>
          </a:p>
        </p:txBody>
      </p:sp>
      <p:sp>
        <p:nvSpPr>
          <p:cNvPr id="10" name="Text 8"/>
          <p:cNvSpPr/>
          <p:nvPr/>
        </p:nvSpPr>
        <p:spPr>
          <a:xfrm>
            <a:off x="777240" y="2688336"/>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Highlight contradictions</a:t>
            </a:r>
            <a:endParaRPr lang="en-US" sz="1000" dirty="0"/>
          </a:p>
        </p:txBody>
      </p:sp>
      <p:sp>
        <p:nvSpPr>
          <p:cNvPr id="11" name="Text 9"/>
          <p:cNvSpPr/>
          <p:nvPr/>
        </p:nvSpPr>
        <p:spPr>
          <a:xfrm>
            <a:off x="777240" y="2999232"/>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Show concept relationships</a:t>
            </a:r>
            <a:endParaRPr lang="en-US" sz="1000" dirty="0"/>
          </a:p>
        </p:txBody>
      </p:sp>
      <p:sp>
        <p:nvSpPr>
          <p:cNvPr id="12" name="Text 10"/>
          <p:cNvSpPr/>
          <p:nvPr/>
        </p:nvSpPr>
        <p:spPr>
          <a:xfrm>
            <a:off x="777240" y="3310128"/>
            <a:ext cx="352044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Draw integrated conclusions</a:t>
            </a:r>
            <a:endParaRPr lang="en-US" sz="1000" dirty="0"/>
          </a:p>
        </p:txBody>
      </p:sp>
      <p:sp>
        <p:nvSpPr>
          <p:cNvPr id="13" name="Shape 11"/>
          <p:cNvSpPr/>
          <p:nvPr/>
        </p:nvSpPr>
        <p:spPr>
          <a:xfrm>
            <a:off x="4709160" y="1280160"/>
            <a:ext cx="3886200" cy="3200400"/>
          </a:xfrm>
          <a:prstGeom prst="rect">
            <a:avLst/>
          </a:prstGeom>
          <a:solidFill>
            <a:srgbClr val="FFFFFF"/>
          </a:solidFill>
          <a:ln w="25400">
            <a:solidFill>
              <a:srgbClr val="38B2AC"/>
            </a:solidFill>
            <a:prstDash val="solid"/>
          </a:ln>
        </p:spPr>
      </p:sp>
      <p:sp>
        <p:nvSpPr>
          <p:cNvPr id="14" name="Text 12"/>
          <p:cNvSpPr/>
          <p:nvPr/>
        </p:nvSpPr>
        <p:spPr>
          <a:xfrm>
            <a:off x="4846320" y="1417320"/>
            <a:ext cx="3474720" cy="228600"/>
          </a:xfrm>
          <a:prstGeom prst="rect">
            <a:avLst/>
          </a:prstGeom>
          <a:noFill/>
        </p:spPr>
        <p:txBody>
          <a:bodyPr wrap="square" rtlCol="0" anchor="ctr"/>
          <a:lstStyle/>
          <a:p>
            <a:pPr marL="0" indent="0">
              <a:buNone/>
            </a:pPr>
            <a:r>
              <a:rPr lang="en-US" sz="1100" b="1" dirty="0">
                <a:solidFill>
                  <a:srgbClr val="38B2AC"/>
                </a:solidFill>
                <a:latin typeface="Calibri" pitchFamily="34" charset="0"/>
                <a:ea typeface="Calibri" pitchFamily="34" charset="-122"/>
                <a:cs typeface="Calibri" pitchFamily="34" charset="-120"/>
              </a:rPr>
              <a:t>Analysis Depth</a:t>
            </a:r>
            <a:endParaRPr lang="en-US" sz="1100" dirty="0"/>
          </a:p>
        </p:txBody>
      </p:sp>
      <p:sp>
        <p:nvSpPr>
          <p:cNvPr id="15" name="Text 13"/>
          <p:cNvSpPr/>
          <p:nvPr/>
        </p:nvSpPr>
        <p:spPr>
          <a:xfrm>
            <a:off x="4846320" y="1755648"/>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Evaluate research quality</a:t>
            </a:r>
            <a:endParaRPr lang="en-US" sz="1000" dirty="0"/>
          </a:p>
        </p:txBody>
      </p:sp>
      <p:sp>
        <p:nvSpPr>
          <p:cNvPr id="16" name="Text 14"/>
          <p:cNvSpPr/>
          <p:nvPr/>
        </p:nvSpPr>
        <p:spPr>
          <a:xfrm>
            <a:off x="4846320" y="2066544"/>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Assess methodological rigor</a:t>
            </a:r>
            <a:endParaRPr lang="en-US" sz="1000" dirty="0"/>
          </a:p>
        </p:txBody>
      </p:sp>
      <p:sp>
        <p:nvSpPr>
          <p:cNvPr id="17" name="Text 15"/>
          <p:cNvSpPr/>
          <p:nvPr/>
        </p:nvSpPr>
        <p:spPr>
          <a:xfrm>
            <a:off x="4846320" y="2377440"/>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Identify biases &amp; limitations</a:t>
            </a:r>
            <a:endParaRPr lang="en-US" sz="1000" dirty="0"/>
          </a:p>
        </p:txBody>
      </p:sp>
      <p:sp>
        <p:nvSpPr>
          <p:cNvPr id="18" name="Text 16"/>
          <p:cNvSpPr/>
          <p:nvPr/>
        </p:nvSpPr>
        <p:spPr>
          <a:xfrm>
            <a:off x="4846320" y="2688336"/>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Grade strength of evidence</a:t>
            </a:r>
            <a:endParaRPr lang="en-US" sz="1000" dirty="0"/>
          </a:p>
        </p:txBody>
      </p:sp>
      <p:sp>
        <p:nvSpPr>
          <p:cNvPr id="19" name="Text 17"/>
          <p:cNvSpPr/>
          <p:nvPr/>
        </p:nvSpPr>
        <p:spPr>
          <a:xfrm>
            <a:off x="4846320" y="2999232"/>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Critique theoretical bases</a:t>
            </a:r>
            <a:endParaRPr lang="en-US" sz="1000" dirty="0"/>
          </a:p>
        </p:txBody>
      </p:sp>
      <p:sp>
        <p:nvSpPr>
          <p:cNvPr id="20" name="Text 18"/>
          <p:cNvSpPr/>
          <p:nvPr/>
        </p:nvSpPr>
        <p:spPr>
          <a:xfrm>
            <a:off x="4846320" y="3310128"/>
            <a:ext cx="3474720" cy="256032"/>
          </a:xfrm>
          <a:prstGeom prst="rect">
            <a:avLst/>
          </a:prstGeom>
          <a:noFill/>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Propose improvements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D3748"/>
          </a:solidFill>
        </p:spPr>
      </p:sp>
      <p:sp>
        <p:nvSpPr>
          <p:cNvPr id="3" name="Text 1"/>
          <p:cNvSpPr/>
          <p:nvPr/>
        </p:nvSpPr>
        <p:spPr>
          <a:xfrm>
            <a:off x="659765" y="210185"/>
            <a:ext cx="9665335" cy="457200"/>
          </a:xfrm>
          <a:prstGeom prst="rect">
            <a:avLst/>
          </a:prstGeom>
          <a:noFill/>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Decision Framework: Choosing Your Model</a:t>
            </a:r>
            <a:endParaRPr lang="en-US" sz="3200" dirty="0"/>
          </a:p>
        </p:txBody>
      </p:sp>
      <p:sp>
        <p:nvSpPr>
          <p:cNvPr id="4" name="Text 2"/>
          <p:cNvSpPr/>
          <p:nvPr/>
        </p:nvSpPr>
        <p:spPr>
          <a:xfrm>
            <a:off x="548640" y="914400"/>
            <a:ext cx="8046720" cy="256032"/>
          </a:xfrm>
          <a:prstGeom prst="rect">
            <a:avLst/>
          </a:prstGeom>
          <a:noFill/>
        </p:spPr>
        <p:txBody>
          <a:bodyPr wrap="square" rtlCol="0" anchor="ctr"/>
          <a:lstStyle/>
          <a:p>
            <a:pPr marL="0" indent="0">
              <a:buNone/>
            </a:pPr>
            <a:r>
              <a:rPr lang="en-US" sz="1100" b="1" dirty="0">
                <a:solidFill>
                  <a:srgbClr val="2D3748"/>
                </a:solidFill>
                <a:latin typeface="Calibri" pitchFamily="34" charset="0"/>
                <a:ea typeface="Calibri" pitchFamily="34" charset="-122"/>
                <a:cs typeface="Calibri" pitchFamily="34" charset="-120"/>
              </a:rPr>
              <a:t>Match your approach to your research goals and constraints</a:t>
            </a:r>
            <a:endParaRPr lang="en-US" sz="1100" dirty="0"/>
          </a:p>
        </p:txBody>
      </p:sp>
      <p:sp>
        <p:nvSpPr>
          <p:cNvPr id="5" name="Shape 3"/>
          <p:cNvSpPr/>
          <p:nvPr/>
        </p:nvSpPr>
        <p:spPr>
          <a:xfrm>
            <a:off x="548640" y="1280160"/>
            <a:ext cx="8046720" cy="3200400"/>
          </a:xfrm>
          <a:prstGeom prst="rect">
            <a:avLst/>
          </a:prstGeom>
          <a:solidFill>
            <a:srgbClr val="F7FAFC"/>
          </a:solidFill>
          <a:ln w="25400">
            <a:solidFill>
              <a:srgbClr val="2D3748"/>
            </a:solidFill>
            <a:prstDash val="solid"/>
          </a:ln>
        </p:spPr>
      </p:sp>
      <p:sp>
        <p:nvSpPr>
          <p:cNvPr id="6" name="Text 4"/>
          <p:cNvSpPr/>
          <p:nvPr/>
        </p:nvSpPr>
        <p:spPr>
          <a:xfrm>
            <a:off x="731520" y="1417320"/>
            <a:ext cx="7680960" cy="228600"/>
          </a:xfrm>
          <a:prstGeom prst="rect">
            <a:avLst/>
          </a:prstGeom>
          <a:noFill/>
        </p:spPr>
        <p:txBody>
          <a:bodyPr wrap="square" rtlCol="0" anchor="ctr"/>
          <a:lstStyle/>
          <a:p>
            <a:pPr marL="0" indent="0">
              <a:buNone/>
            </a:pPr>
            <a:r>
              <a:rPr lang="en-US" sz="1200" b="1" dirty="0">
                <a:solidFill>
                  <a:srgbClr val="2D3748"/>
                </a:solidFill>
                <a:latin typeface="Calibri" pitchFamily="34" charset="0"/>
                <a:ea typeface="Calibri" pitchFamily="34" charset="-122"/>
                <a:cs typeface="Calibri" pitchFamily="34" charset="-120"/>
              </a:rPr>
              <a:t>Key Decision Questions</a:t>
            </a:r>
            <a:endParaRPr lang="en-US" sz="1200" dirty="0"/>
          </a:p>
        </p:txBody>
      </p:sp>
      <p:sp>
        <p:nvSpPr>
          <p:cNvPr id="7" name="Text 5"/>
          <p:cNvSpPr/>
          <p:nvPr/>
        </p:nvSpPr>
        <p:spPr>
          <a:xfrm>
            <a:off x="822960" y="1755648"/>
            <a:ext cx="7498080" cy="301752"/>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What is your research question? (Determines focus: synthesis, comparison, evaluation, or visualization)</a:t>
            </a:r>
            <a:endParaRPr lang="en-US" sz="950" dirty="0"/>
          </a:p>
        </p:txBody>
      </p:sp>
      <p:sp>
        <p:nvSpPr>
          <p:cNvPr id="8" name="Text 6"/>
          <p:cNvSpPr/>
          <p:nvPr/>
        </p:nvSpPr>
        <p:spPr>
          <a:xfrm>
            <a:off x="822960" y="2103120"/>
            <a:ext cx="7498080" cy="301752"/>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How much time do you have? (Rapid 1-3mo vs Systematic 12+ months vs Scoping 3-6mo)</a:t>
            </a:r>
            <a:endParaRPr lang="en-US" sz="950" dirty="0"/>
          </a:p>
        </p:txBody>
      </p:sp>
      <p:sp>
        <p:nvSpPr>
          <p:cNvPr id="9" name="Text 7"/>
          <p:cNvSpPr/>
          <p:nvPr/>
        </p:nvSpPr>
        <p:spPr>
          <a:xfrm>
            <a:off x="822960" y="2450592"/>
            <a:ext cx="7498080" cy="301752"/>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What rigor level is needed? (Basic narrative/thematic vs Systematic/PRISMA vs Critical review)</a:t>
            </a:r>
            <a:endParaRPr lang="en-US" sz="950" dirty="0"/>
          </a:p>
        </p:txBody>
      </p:sp>
      <p:sp>
        <p:nvSpPr>
          <p:cNvPr id="10" name="Text 8"/>
          <p:cNvSpPr/>
          <p:nvPr/>
        </p:nvSpPr>
        <p:spPr>
          <a:xfrm>
            <a:off x="822960" y="2798064"/>
            <a:ext cx="7498080" cy="301752"/>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Do you need meta-analysis? (Yes → Systematic Review; No → Other models)</a:t>
            </a:r>
            <a:endParaRPr lang="en-US" sz="950" dirty="0"/>
          </a:p>
        </p:txBody>
      </p:sp>
      <p:sp>
        <p:nvSpPr>
          <p:cNvPr id="11" name="Text 9"/>
          <p:cNvSpPr/>
          <p:nvPr/>
        </p:nvSpPr>
        <p:spPr>
          <a:xfrm>
            <a:off x="822960" y="3145536"/>
            <a:ext cx="7498080" cy="301752"/>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What does your field prefer? (Medicine/healthcare → PRISMA standard; Business/Education → More flexibility)</a:t>
            </a:r>
            <a:endParaRPr lang="en-US" sz="950" dirty="0"/>
          </a:p>
        </p:txBody>
      </p:sp>
      <p:sp>
        <p:nvSpPr>
          <p:cNvPr id="12" name="Text 10"/>
          <p:cNvSpPr/>
          <p:nvPr/>
        </p:nvSpPr>
        <p:spPr>
          <a:xfrm>
            <a:off x="822960" y="3493008"/>
            <a:ext cx="7498080" cy="301752"/>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Do you have team or working alone? (Systematic requires multiple independent reviewers)</a:t>
            </a:r>
            <a:endParaRPr lang="en-US" sz="950" dirty="0"/>
          </a:p>
        </p:txBody>
      </p:sp>
      <p:sp>
        <p:nvSpPr>
          <p:cNvPr id="13" name="Text 11"/>
          <p:cNvSpPr/>
          <p:nvPr/>
        </p:nvSpPr>
        <p:spPr>
          <a:xfrm>
            <a:off x="822960" y="3840480"/>
            <a:ext cx="7498080" cy="301752"/>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Will you include grey literature? (Systematic/Rapid → Yes; Thematic/Chronological → Optional)</a:t>
            </a:r>
            <a:endParaRPr lang="en-US" sz="950" dirty="0"/>
          </a:p>
        </p:txBody>
      </p:sp>
      <p:sp>
        <p:nvSpPr>
          <p:cNvPr id="14" name="Text 12"/>
          <p:cNvSpPr/>
          <p:nvPr/>
        </p:nvSpPr>
        <p:spPr>
          <a:xfrm>
            <a:off x="822960" y="4187952"/>
            <a:ext cx="7498080" cy="301752"/>
          </a:xfrm>
          <a:prstGeom prst="rect">
            <a:avLst/>
          </a:prstGeom>
          <a:noFill/>
        </p:spPr>
        <p:txBody>
          <a:bodyPr wrap="square" rtlCol="0" anchor="ctr"/>
          <a:lstStyle/>
          <a:p>
            <a:pPr marL="0" indent="0">
              <a:buNone/>
            </a:pPr>
            <a:r>
              <a:rPr lang="en-US" sz="950" dirty="0">
                <a:solidFill>
                  <a:srgbClr val="2D3748"/>
                </a:solidFill>
                <a:latin typeface="Calibri" pitchFamily="34" charset="0"/>
                <a:ea typeface="Calibri" pitchFamily="34" charset="-122"/>
                <a:cs typeface="Calibri" pitchFamily="34" charset="-120"/>
              </a:rPr>
              <a:t>▸  Is visualization important? (Yes → Literature Mapping; No → Text-based models)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56565"/>
          </a:solidFill>
        </p:spPr>
      </p:sp>
      <p:sp>
        <p:nvSpPr>
          <p:cNvPr id="3" name="Text 1"/>
          <p:cNvSpPr/>
          <p:nvPr/>
        </p:nvSpPr>
        <p:spPr>
          <a:xfrm>
            <a:off x="548640" y="164592"/>
            <a:ext cx="8046720" cy="457200"/>
          </a:xfrm>
          <a:prstGeom prst="rect">
            <a:avLst/>
          </a:prstGeom>
          <a:noFill/>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Common Mistakes to Avoid</a:t>
            </a:r>
            <a:endParaRPr lang="en-US" sz="4000" dirty="0"/>
          </a:p>
        </p:txBody>
      </p:sp>
      <p:sp>
        <p:nvSpPr>
          <p:cNvPr id="4" name="Shape 2"/>
          <p:cNvSpPr/>
          <p:nvPr/>
        </p:nvSpPr>
        <p:spPr>
          <a:xfrm>
            <a:off x="548640" y="914400"/>
            <a:ext cx="3886200" cy="320040"/>
          </a:xfrm>
          <a:prstGeom prst="rect">
            <a:avLst/>
          </a:prstGeom>
          <a:solidFill>
            <a:srgbClr val="F56565"/>
          </a:solidFill>
        </p:spPr>
      </p:sp>
      <p:sp>
        <p:nvSpPr>
          <p:cNvPr id="5" name="Text 3"/>
          <p:cNvSpPr/>
          <p:nvPr/>
        </p:nvSpPr>
        <p:spPr>
          <a:xfrm>
            <a:off x="640080" y="960120"/>
            <a:ext cx="3749040" cy="228600"/>
          </a:xfrm>
          <a:prstGeom prst="rect">
            <a:avLst/>
          </a:prstGeom>
          <a:noFill/>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MISTAKES</a:t>
            </a:r>
            <a:endParaRPr lang="en-US" sz="1100" dirty="0"/>
          </a:p>
        </p:txBody>
      </p:sp>
      <p:sp>
        <p:nvSpPr>
          <p:cNvPr id="6" name="Shape 4"/>
          <p:cNvSpPr/>
          <p:nvPr/>
        </p:nvSpPr>
        <p:spPr>
          <a:xfrm>
            <a:off x="4709160" y="914400"/>
            <a:ext cx="3886200" cy="320040"/>
          </a:xfrm>
          <a:prstGeom prst="rect">
            <a:avLst/>
          </a:prstGeom>
          <a:solidFill>
            <a:srgbClr val="48BB78"/>
          </a:solidFill>
        </p:spPr>
      </p:sp>
      <p:sp>
        <p:nvSpPr>
          <p:cNvPr id="7" name="Text 5"/>
          <p:cNvSpPr/>
          <p:nvPr/>
        </p:nvSpPr>
        <p:spPr>
          <a:xfrm>
            <a:off x="4846320" y="960120"/>
            <a:ext cx="3749040" cy="228600"/>
          </a:xfrm>
          <a:prstGeom prst="rect">
            <a:avLst/>
          </a:prstGeom>
          <a:noFill/>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BEST PRACTICES</a:t>
            </a:r>
            <a:endParaRPr lang="en-US" sz="1100" dirty="0"/>
          </a:p>
        </p:txBody>
      </p:sp>
      <p:sp>
        <p:nvSpPr>
          <p:cNvPr id="8" name="Shape 6"/>
          <p:cNvSpPr/>
          <p:nvPr/>
        </p:nvSpPr>
        <p:spPr>
          <a:xfrm>
            <a:off x="548640" y="1325880"/>
            <a:ext cx="3886200" cy="2788920"/>
          </a:xfrm>
          <a:prstGeom prst="rect">
            <a:avLst/>
          </a:prstGeom>
          <a:solidFill>
            <a:srgbClr val="F7FAFC"/>
          </a:solidFill>
        </p:spPr>
      </p:sp>
      <p:sp>
        <p:nvSpPr>
          <p:cNvPr id="9" name="Text 7"/>
          <p:cNvSpPr/>
          <p:nvPr/>
        </p:nvSpPr>
        <p:spPr>
          <a:xfrm>
            <a:off x="685800" y="1508760"/>
            <a:ext cx="3611880" cy="292608"/>
          </a:xfrm>
          <a:prstGeom prst="rect">
            <a:avLst/>
          </a:prstGeom>
          <a:noFill/>
        </p:spPr>
        <p:txBody>
          <a:bodyPr wrap="square" rtlCol="0" anchor="ctr"/>
          <a:lstStyle/>
          <a:p>
            <a:pPr marL="0" indent="0">
              <a:buNone/>
            </a:pPr>
            <a:r>
              <a:rPr lang="en-US" sz="1000" b="1" dirty="0">
                <a:solidFill>
                  <a:srgbClr val="F56565"/>
                </a:solidFill>
                <a:latin typeface="Calibri" pitchFamily="34" charset="0"/>
                <a:ea typeface="Calibri" pitchFamily="34" charset="-122"/>
                <a:cs typeface="Calibri" pitchFamily="34" charset="-120"/>
              </a:rPr>
              <a:t>✗  Just summarizing sources without analysis</a:t>
            </a:r>
            <a:endParaRPr lang="en-US" sz="1000" dirty="0"/>
          </a:p>
        </p:txBody>
      </p:sp>
      <p:sp>
        <p:nvSpPr>
          <p:cNvPr id="10" name="Text 8"/>
          <p:cNvSpPr/>
          <p:nvPr/>
        </p:nvSpPr>
        <p:spPr>
          <a:xfrm>
            <a:off x="685800" y="1874520"/>
            <a:ext cx="3611880" cy="292608"/>
          </a:xfrm>
          <a:prstGeom prst="rect">
            <a:avLst/>
          </a:prstGeom>
          <a:noFill/>
        </p:spPr>
        <p:txBody>
          <a:bodyPr wrap="square" rtlCol="0" anchor="ctr"/>
          <a:lstStyle/>
          <a:p>
            <a:pPr marL="0" indent="0">
              <a:buNone/>
            </a:pPr>
            <a:r>
              <a:rPr lang="en-US" sz="1000" b="1" dirty="0">
                <a:solidFill>
                  <a:srgbClr val="F56565"/>
                </a:solidFill>
                <a:latin typeface="Calibri" pitchFamily="34" charset="0"/>
                <a:ea typeface="Calibri" pitchFamily="34" charset="-122"/>
                <a:cs typeface="Calibri" pitchFamily="34" charset="-120"/>
              </a:rPr>
              <a:t>✗  Poor or missing organization/structure</a:t>
            </a:r>
            <a:endParaRPr lang="en-US" sz="1000" dirty="0"/>
          </a:p>
        </p:txBody>
      </p:sp>
      <p:sp>
        <p:nvSpPr>
          <p:cNvPr id="11" name="Text 9"/>
          <p:cNvSpPr/>
          <p:nvPr/>
        </p:nvSpPr>
        <p:spPr>
          <a:xfrm>
            <a:off x="685800" y="2240280"/>
            <a:ext cx="3611880" cy="292608"/>
          </a:xfrm>
          <a:prstGeom prst="rect">
            <a:avLst/>
          </a:prstGeom>
          <a:noFill/>
        </p:spPr>
        <p:txBody>
          <a:bodyPr wrap="square" rtlCol="0" anchor="ctr"/>
          <a:lstStyle/>
          <a:p>
            <a:pPr marL="0" indent="0">
              <a:buNone/>
            </a:pPr>
            <a:r>
              <a:rPr lang="en-US" sz="1000" b="1" dirty="0">
                <a:solidFill>
                  <a:srgbClr val="F56565"/>
                </a:solidFill>
                <a:latin typeface="Calibri" pitchFamily="34" charset="0"/>
                <a:ea typeface="Calibri" pitchFamily="34" charset="-122"/>
                <a:cs typeface="Calibri" pitchFamily="34" charset="-120"/>
              </a:rPr>
              <a:t>✗  Lack of critical evaluation</a:t>
            </a:r>
            <a:endParaRPr lang="en-US" sz="1000" dirty="0"/>
          </a:p>
        </p:txBody>
      </p:sp>
      <p:sp>
        <p:nvSpPr>
          <p:cNvPr id="12" name="Text 10"/>
          <p:cNvSpPr/>
          <p:nvPr/>
        </p:nvSpPr>
        <p:spPr>
          <a:xfrm>
            <a:off x="685800" y="2606040"/>
            <a:ext cx="3611880" cy="292608"/>
          </a:xfrm>
          <a:prstGeom prst="rect">
            <a:avLst/>
          </a:prstGeom>
          <a:noFill/>
        </p:spPr>
        <p:txBody>
          <a:bodyPr wrap="square" rtlCol="0" anchor="ctr"/>
          <a:lstStyle/>
          <a:p>
            <a:pPr marL="0" indent="0">
              <a:buNone/>
            </a:pPr>
            <a:r>
              <a:rPr lang="en-US" sz="1000" b="1" dirty="0">
                <a:solidFill>
                  <a:srgbClr val="F56565"/>
                </a:solidFill>
                <a:latin typeface="Calibri" pitchFamily="34" charset="0"/>
                <a:ea typeface="Calibri" pitchFamily="34" charset="-122"/>
                <a:cs typeface="Calibri" pitchFamily="34" charset="-120"/>
              </a:rPr>
              <a:t>✗  Too many citations or too few</a:t>
            </a:r>
            <a:endParaRPr lang="en-US" sz="1000" dirty="0"/>
          </a:p>
        </p:txBody>
      </p:sp>
      <p:sp>
        <p:nvSpPr>
          <p:cNvPr id="13" name="Text 11"/>
          <p:cNvSpPr/>
          <p:nvPr/>
        </p:nvSpPr>
        <p:spPr>
          <a:xfrm>
            <a:off x="685800" y="2971800"/>
            <a:ext cx="3611880" cy="292608"/>
          </a:xfrm>
          <a:prstGeom prst="rect">
            <a:avLst/>
          </a:prstGeom>
          <a:noFill/>
        </p:spPr>
        <p:txBody>
          <a:bodyPr wrap="square" rtlCol="0" anchor="ctr"/>
          <a:lstStyle/>
          <a:p>
            <a:pPr marL="0" indent="0">
              <a:buNone/>
            </a:pPr>
            <a:r>
              <a:rPr lang="en-US" sz="1000" b="1" dirty="0">
                <a:solidFill>
                  <a:srgbClr val="F56565"/>
                </a:solidFill>
                <a:latin typeface="Calibri" pitchFamily="34" charset="0"/>
                <a:ea typeface="Calibri" pitchFamily="34" charset="-122"/>
                <a:cs typeface="Calibri" pitchFamily="34" charset="-120"/>
              </a:rPr>
              <a:t>✗  Including irrelevant sources</a:t>
            </a:r>
            <a:endParaRPr lang="en-US" sz="1000" dirty="0"/>
          </a:p>
        </p:txBody>
      </p:sp>
      <p:sp>
        <p:nvSpPr>
          <p:cNvPr id="14" name="Text 12"/>
          <p:cNvSpPr/>
          <p:nvPr/>
        </p:nvSpPr>
        <p:spPr>
          <a:xfrm>
            <a:off x="685800" y="3337560"/>
            <a:ext cx="3611880" cy="292608"/>
          </a:xfrm>
          <a:prstGeom prst="rect">
            <a:avLst/>
          </a:prstGeom>
          <a:noFill/>
        </p:spPr>
        <p:txBody>
          <a:bodyPr wrap="square" rtlCol="0" anchor="ctr"/>
          <a:lstStyle/>
          <a:p>
            <a:pPr marL="0" indent="0">
              <a:buNone/>
            </a:pPr>
            <a:r>
              <a:rPr lang="en-US" sz="1000" b="1" dirty="0">
                <a:solidFill>
                  <a:srgbClr val="F56565"/>
                </a:solidFill>
                <a:latin typeface="Calibri" pitchFamily="34" charset="0"/>
                <a:ea typeface="Calibri" pitchFamily="34" charset="-122"/>
                <a:cs typeface="Calibri" pitchFamily="34" charset="-120"/>
              </a:rPr>
              <a:t>✗  Not identifying research gaps</a:t>
            </a:r>
            <a:endParaRPr lang="en-US" sz="1000" dirty="0"/>
          </a:p>
        </p:txBody>
      </p:sp>
      <p:sp>
        <p:nvSpPr>
          <p:cNvPr id="15" name="Shape 13"/>
          <p:cNvSpPr/>
          <p:nvPr/>
        </p:nvSpPr>
        <p:spPr>
          <a:xfrm>
            <a:off x="4709160" y="1325880"/>
            <a:ext cx="3886200" cy="2788920"/>
          </a:xfrm>
          <a:prstGeom prst="rect">
            <a:avLst/>
          </a:prstGeom>
          <a:solidFill>
            <a:srgbClr val="F7FAFC"/>
          </a:solidFill>
        </p:spPr>
      </p:sp>
      <p:sp>
        <p:nvSpPr>
          <p:cNvPr id="16" name="Text 14"/>
          <p:cNvSpPr/>
          <p:nvPr/>
        </p:nvSpPr>
        <p:spPr>
          <a:xfrm>
            <a:off x="4846320" y="1508760"/>
            <a:ext cx="3611880" cy="292608"/>
          </a:xfrm>
          <a:prstGeom prst="rect">
            <a:avLst/>
          </a:prstGeom>
          <a:noFill/>
        </p:spPr>
        <p:txBody>
          <a:bodyPr wrap="square" rtlCol="0" anchor="ctr"/>
          <a:lstStyle/>
          <a:p>
            <a:pPr marL="0" indent="0">
              <a:buNone/>
            </a:pPr>
            <a:r>
              <a:rPr lang="en-US" sz="1000" b="1" dirty="0">
                <a:solidFill>
                  <a:srgbClr val="48BB78"/>
                </a:solidFill>
                <a:latin typeface="Calibri" pitchFamily="34" charset="0"/>
                <a:ea typeface="Calibri" pitchFamily="34" charset="-122"/>
                <a:cs typeface="Calibri" pitchFamily="34" charset="-120"/>
              </a:rPr>
              <a:t>✓  Synthesize across sources, don't just list</a:t>
            </a:r>
            <a:endParaRPr lang="en-US" sz="1000" dirty="0"/>
          </a:p>
        </p:txBody>
      </p:sp>
      <p:sp>
        <p:nvSpPr>
          <p:cNvPr id="17" name="Text 15"/>
          <p:cNvSpPr/>
          <p:nvPr/>
        </p:nvSpPr>
        <p:spPr>
          <a:xfrm>
            <a:off x="4846320" y="1874520"/>
            <a:ext cx="3611880" cy="292608"/>
          </a:xfrm>
          <a:prstGeom prst="rect">
            <a:avLst/>
          </a:prstGeom>
          <a:noFill/>
        </p:spPr>
        <p:txBody>
          <a:bodyPr wrap="square" rtlCol="0" anchor="ctr"/>
          <a:lstStyle/>
          <a:p>
            <a:pPr marL="0" indent="0">
              <a:buNone/>
            </a:pPr>
            <a:r>
              <a:rPr lang="en-US" sz="1000" b="1" dirty="0">
                <a:solidFill>
                  <a:srgbClr val="48BB78"/>
                </a:solidFill>
                <a:latin typeface="Calibri" pitchFamily="34" charset="0"/>
                <a:ea typeface="Calibri" pitchFamily="34" charset="-122"/>
                <a:cs typeface="Calibri" pitchFamily="34" charset="-120"/>
              </a:rPr>
              <a:t>✓  Use clear, logical organization</a:t>
            </a:r>
            <a:endParaRPr lang="en-US" sz="1000" dirty="0"/>
          </a:p>
        </p:txBody>
      </p:sp>
      <p:sp>
        <p:nvSpPr>
          <p:cNvPr id="18" name="Text 16"/>
          <p:cNvSpPr/>
          <p:nvPr/>
        </p:nvSpPr>
        <p:spPr>
          <a:xfrm>
            <a:off x="4846320" y="2240280"/>
            <a:ext cx="3611880" cy="292608"/>
          </a:xfrm>
          <a:prstGeom prst="rect">
            <a:avLst/>
          </a:prstGeom>
          <a:noFill/>
        </p:spPr>
        <p:txBody>
          <a:bodyPr wrap="square" rtlCol="0" anchor="ctr"/>
          <a:lstStyle/>
          <a:p>
            <a:pPr marL="0" indent="0">
              <a:buNone/>
            </a:pPr>
            <a:r>
              <a:rPr lang="en-US" sz="1000" b="1" dirty="0">
                <a:solidFill>
                  <a:srgbClr val="48BB78"/>
                </a:solidFill>
                <a:latin typeface="Calibri" pitchFamily="34" charset="0"/>
                <a:ea typeface="Calibri" pitchFamily="34" charset="-122"/>
                <a:cs typeface="Calibri" pitchFamily="34" charset="-120"/>
              </a:rPr>
              <a:t>✓  Analyze quality &amp; credibility</a:t>
            </a:r>
            <a:endParaRPr lang="en-US" sz="1000" dirty="0"/>
          </a:p>
        </p:txBody>
      </p:sp>
      <p:sp>
        <p:nvSpPr>
          <p:cNvPr id="19" name="Text 17"/>
          <p:cNvSpPr/>
          <p:nvPr/>
        </p:nvSpPr>
        <p:spPr>
          <a:xfrm>
            <a:off x="4846320" y="2606040"/>
            <a:ext cx="3611880" cy="292608"/>
          </a:xfrm>
          <a:prstGeom prst="rect">
            <a:avLst/>
          </a:prstGeom>
          <a:noFill/>
        </p:spPr>
        <p:txBody>
          <a:bodyPr wrap="square" rtlCol="0" anchor="ctr"/>
          <a:lstStyle/>
          <a:p>
            <a:pPr marL="0" indent="0">
              <a:buNone/>
            </a:pPr>
            <a:r>
              <a:rPr lang="en-US" sz="1000" b="1" dirty="0">
                <a:solidFill>
                  <a:srgbClr val="48BB78"/>
                </a:solidFill>
                <a:latin typeface="Calibri" pitchFamily="34" charset="0"/>
                <a:ea typeface="Calibri" pitchFamily="34" charset="-122"/>
                <a:cs typeface="Calibri" pitchFamily="34" charset="-120"/>
              </a:rPr>
              <a:t>✓  Balance citations appropriately</a:t>
            </a:r>
            <a:endParaRPr lang="en-US" sz="1000" dirty="0"/>
          </a:p>
        </p:txBody>
      </p:sp>
      <p:sp>
        <p:nvSpPr>
          <p:cNvPr id="20" name="Text 18"/>
          <p:cNvSpPr/>
          <p:nvPr/>
        </p:nvSpPr>
        <p:spPr>
          <a:xfrm>
            <a:off x="4846320" y="2971800"/>
            <a:ext cx="3611880" cy="292608"/>
          </a:xfrm>
          <a:prstGeom prst="rect">
            <a:avLst/>
          </a:prstGeom>
          <a:noFill/>
        </p:spPr>
        <p:txBody>
          <a:bodyPr wrap="square" rtlCol="0" anchor="ctr"/>
          <a:lstStyle/>
          <a:p>
            <a:pPr marL="0" indent="0">
              <a:buNone/>
            </a:pPr>
            <a:r>
              <a:rPr lang="en-US" sz="1000" b="1" dirty="0">
                <a:solidFill>
                  <a:srgbClr val="48BB78"/>
                </a:solidFill>
                <a:latin typeface="Calibri" pitchFamily="34" charset="0"/>
                <a:ea typeface="Calibri" pitchFamily="34" charset="-122"/>
                <a:cs typeface="Calibri" pitchFamily="34" charset="-120"/>
              </a:rPr>
              <a:t>✓  Choose relevant, current sources</a:t>
            </a:r>
            <a:endParaRPr lang="en-US" sz="1000" dirty="0"/>
          </a:p>
        </p:txBody>
      </p:sp>
      <p:sp>
        <p:nvSpPr>
          <p:cNvPr id="21" name="Text 19"/>
          <p:cNvSpPr/>
          <p:nvPr/>
        </p:nvSpPr>
        <p:spPr>
          <a:xfrm>
            <a:off x="4846320" y="3337560"/>
            <a:ext cx="3611880" cy="292608"/>
          </a:xfrm>
          <a:prstGeom prst="rect">
            <a:avLst/>
          </a:prstGeom>
          <a:noFill/>
        </p:spPr>
        <p:txBody>
          <a:bodyPr wrap="square" rtlCol="0" anchor="ctr"/>
          <a:lstStyle/>
          <a:p>
            <a:pPr marL="0" indent="0">
              <a:buNone/>
            </a:pPr>
            <a:r>
              <a:rPr lang="en-US" sz="1000" b="1" dirty="0">
                <a:solidFill>
                  <a:srgbClr val="48BB78"/>
                </a:solidFill>
                <a:latin typeface="Calibri" pitchFamily="34" charset="0"/>
                <a:ea typeface="Calibri" pitchFamily="34" charset="-122"/>
                <a:cs typeface="Calibri" pitchFamily="34" charset="-120"/>
              </a:rPr>
              <a:t>✓  End with clear research gaps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D3748"/>
        </a:solidFill>
        <a:effectLst/>
      </p:bgPr>
    </p:bg>
    <p:spTree>
      <p:nvGrpSpPr>
        <p:cNvPr id="1" name=""/>
        <p:cNvGrpSpPr/>
        <p:nvPr/>
      </p:nvGrpSpPr>
      <p:grpSpPr>
        <a:xfrm>
          <a:off x="0" y="0"/>
          <a:ext cx="0" cy="0"/>
          <a:chOff x="0" y="0"/>
          <a:chExt cx="0" cy="0"/>
        </a:xfrm>
      </p:grpSpPr>
      <p:sp>
        <p:nvSpPr>
          <p:cNvPr id="2" name="Text 0"/>
          <p:cNvSpPr/>
          <p:nvPr/>
        </p:nvSpPr>
        <p:spPr>
          <a:xfrm>
            <a:off x="548640" y="1371600"/>
            <a:ext cx="8046720" cy="640080"/>
          </a:xfrm>
          <a:prstGeom prst="rect">
            <a:avLst/>
          </a:prstGeom>
          <a:noFill/>
        </p:spPr>
        <p:txBody>
          <a:bodyPr wrap="square" rtlCol="0" anchor="ctr"/>
          <a:lstStyle/>
          <a:p>
            <a:pPr marL="0" indent="0" algn="ctr">
              <a:buNone/>
            </a:pPr>
            <a:r>
              <a:rPr lang="en-US" sz="5000" b="1" dirty="0">
                <a:solidFill>
                  <a:srgbClr val="FFFFFF"/>
                </a:solidFill>
                <a:latin typeface="Calibri" pitchFamily="34" charset="0"/>
                <a:ea typeface="Calibri" pitchFamily="34" charset="-122"/>
                <a:cs typeface="Calibri" pitchFamily="34" charset="-120"/>
              </a:rPr>
              <a:t>Master All 12 Models</a:t>
            </a:r>
            <a:endParaRPr lang="en-US" sz="5000" dirty="0"/>
          </a:p>
        </p:txBody>
      </p:sp>
      <p:sp>
        <p:nvSpPr>
          <p:cNvPr id="3" name="Shape 1"/>
          <p:cNvSpPr/>
          <p:nvPr/>
        </p:nvSpPr>
        <p:spPr>
          <a:xfrm>
            <a:off x="3200400" y="2194560"/>
            <a:ext cx="2743200" cy="73152"/>
          </a:xfrm>
          <a:prstGeom prst="rect">
            <a:avLst/>
          </a:prstGeom>
          <a:solidFill>
            <a:srgbClr val="ED8936"/>
          </a:solidFill>
        </p:spPr>
      </p:sp>
      <p:sp>
        <p:nvSpPr>
          <p:cNvPr id="4" name="Text 2"/>
          <p:cNvSpPr/>
          <p:nvPr/>
        </p:nvSpPr>
        <p:spPr>
          <a:xfrm>
            <a:off x="548640" y="2377440"/>
            <a:ext cx="8046720" cy="320040"/>
          </a:xfrm>
          <a:prstGeom prst="rect">
            <a:avLst/>
          </a:prstGeom>
          <a:noFill/>
        </p:spPr>
        <p:txBody>
          <a:bodyPr wrap="square" rtlCol="0" anchor="ctr"/>
          <a:lstStyle/>
          <a:p>
            <a:pPr marL="0" indent="0" algn="ctr">
              <a:buNone/>
            </a:pPr>
            <a:r>
              <a:rPr lang="en-US" sz="1600" b="1" dirty="0">
                <a:solidFill>
                  <a:srgbClr val="ED8936"/>
                </a:solidFill>
                <a:latin typeface="Calibri" pitchFamily="34" charset="0"/>
                <a:ea typeface="Calibri" pitchFamily="34" charset="-122"/>
                <a:cs typeface="Calibri" pitchFamily="34" charset="-120"/>
              </a:rPr>
              <a:t>Each model serves a distinct research purpose</a:t>
            </a:r>
            <a:endParaRPr lang="en-US" sz="1600" dirty="0"/>
          </a:p>
        </p:txBody>
      </p:sp>
      <p:sp>
        <p:nvSpPr>
          <p:cNvPr id="5" name="Text 3"/>
          <p:cNvSpPr/>
          <p:nvPr/>
        </p:nvSpPr>
        <p:spPr>
          <a:xfrm>
            <a:off x="548640" y="2834640"/>
            <a:ext cx="8046720" cy="1325880"/>
          </a:xfrm>
          <a:prstGeom prst="rect">
            <a:avLst/>
          </a:prstGeom>
          <a:noFill/>
        </p:spPr>
        <p:txBody>
          <a:bodyPr wrap="square"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Your literature review is the intellectual foundation of your research. Whether you choose a simple narrative approach, organize thematically, or conduct a rigorous PRISMA systematic review, the key is to: (1) Select the model matching your research question, (2) Execute with transparency and rigor, (3) Synthesize thoughtfully across sources, (4) Critically evaluate quality, and (5) Clearly identify gaps. When you master these 12 approaches, you can tackle any research topic with confidence.</a:t>
            </a:r>
            <a:endParaRPr lang="en-US" sz="1100" dirty="0"/>
          </a:p>
        </p:txBody>
      </p:sp>
      <p:sp>
        <p:nvSpPr>
          <p:cNvPr id="6" name="Text 4"/>
          <p:cNvSpPr/>
          <p:nvPr/>
        </p:nvSpPr>
        <p:spPr>
          <a:xfrm>
            <a:off x="548640" y="4297680"/>
            <a:ext cx="8046720" cy="320040"/>
          </a:xfrm>
          <a:prstGeom prst="rect">
            <a:avLst/>
          </a:prstGeom>
          <a:noFill/>
        </p:spPr>
        <p:txBody>
          <a:bodyPr wrap="square" rtlCol="0" anchor="ctr"/>
          <a:lstStyle/>
          <a:p>
            <a:pPr marL="0" indent="0" algn="ctr">
              <a:buNone/>
            </a:pPr>
            <a:r>
              <a:rPr lang="en-US" sz="1600" b="1" dirty="0">
                <a:solidFill>
                  <a:srgbClr val="ED8936"/>
                </a:solidFill>
                <a:latin typeface="Calibri" pitchFamily="34" charset="0"/>
                <a:ea typeface="Calibri" pitchFamily="34" charset="-122"/>
                <a:cs typeface="Calibri" pitchFamily="34" charset="-120"/>
              </a:rPr>
              <a:t>Dr. Shailesh Sivan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10713</Words>
  <Application>WPS Presentation</Application>
  <PresentationFormat>On-screen Show (16:9)</PresentationFormat>
  <Paragraphs>498</Paragraphs>
  <Slides>18</Slides>
  <Notes>18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18</vt:i4>
      </vt:variant>
    </vt:vector>
  </HeadingPairs>
  <TitlesOfParts>
    <vt:vector size="31" baseType="lpstr">
      <vt:lpstr>Arial</vt:lpstr>
      <vt:lpstr>SimSun</vt:lpstr>
      <vt:lpstr>Wingdings</vt:lpstr>
      <vt:lpstr>Calibri</vt:lpstr>
      <vt:lpstr>Helvetica Neue</vt:lpstr>
      <vt:lpstr>Calibri</vt:lpstr>
      <vt:lpstr>Calibri</vt:lpstr>
      <vt:lpstr>Microsoft YaHei</vt:lpstr>
      <vt:lpstr>汉仪旗黑</vt:lpstr>
      <vt:lpstr>Arial Unicode MS</vt:lpstr>
      <vt:lpstr>宋体-简</vt:lpstr>
      <vt:lpstr>Apple Color Emoji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Write a Literature Review - Elaborate Edition</dc:title>
  <dc:creator>Dr. Shailesh Sivan</dc:creator>
  <dc:subject>PptxGenJS Presentation</dc:subject>
  <cp:lastModifiedBy>Shailesh S</cp:lastModifiedBy>
  <cp:revision>4</cp:revision>
  <dcterms:created xsi:type="dcterms:W3CDTF">2026-06-30T03:29:39Z</dcterms:created>
  <dcterms:modified xsi:type="dcterms:W3CDTF">2026-06-30T03:29:39Z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1033-12.1.26015.26015</vt:lpwstr>
  </property>
  <property fmtid="{D5CDD505-2E9C-101B-9397-08002B2CF9AE}" pid="3" name="ICV">
    <vt:lpwstr>B2F930517EE72BC06003416A76A40CFE_42</vt:lpwstr>
  </property>
</Properties>
</file>